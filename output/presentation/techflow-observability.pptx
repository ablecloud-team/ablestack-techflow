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3f8b922714868" /><Relationship Type="http://schemas.openxmlformats.org/officeDocument/2006/relationships/extended-properties" Target="/docProps/app.xml" Id="R8a11dcccb66f4da8" /><Relationship Type="http://schemas.openxmlformats.org/officeDocument/2006/relationships/officeDocument" Target="/ppt/presentation.xml" Id="R1e7f86ce815c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cb87767ed94d3d"/>
  </p:sldMasterIdLst>
  <p:notesMasterIdLst>
    <p:notesMasterId xmlns:r="http://schemas.openxmlformats.org/officeDocument/2006/relationships" r:id="Rfcebf50c3ff94524"/>
  </p:notesMasterIdLst>
  <p:sldIdLst>
    <p:sldId xmlns:r="http://schemas.openxmlformats.org/officeDocument/2006/relationships" id="256" r:id="R979f529f5f86459b"/>
    <p:sldId xmlns:r="http://schemas.openxmlformats.org/officeDocument/2006/relationships" id="257" r:id="Re9260533e884486d"/>
    <p:sldId xmlns:r="http://schemas.openxmlformats.org/officeDocument/2006/relationships" id="258" r:id="Rf327125f3258455d"/>
    <p:sldId xmlns:r="http://schemas.openxmlformats.org/officeDocument/2006/relationships" id="259" r:id="R308044410db241b8"/>
    <p:sldId xmlns:r="http://schemas.openxmlformats.org/officeDocument/2006/relationships" id="260" r:id="R3719d213924e499e"/>
    <p:sldId xmlns:r="http://schemas.openxmlformats.org/officeDocument/2006/relationships" id="261" r:id="Re9e6b87201eb4534"/>
    <p:sldId xmlns:r="http://schemas.openxmlformats.org/officeDocument/2006/relationships" id="262" r:id="Rb14d5d651047496a"/>
    <p:sldId xmlns:r="http://schemas.openxmlformats.org/officeDocument/2006/relationships" id="263" r:id="Rb43579ba6cf647e0"/>
    <p:sldId xmlns:r="http://schemas.openxmlformats.org/officeDocument/2006/relationships" id="264" r:id="R84234f3d7417444a"/>
    <p:sldId xmlns:r="http://schemas.openxmlformats.org/officeDocument/2006/relationships" id="265" r:id="R0814a1d7ef4f47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4a00caa714764" /><Relationship Type="http://schemas.openxmlformats.org/officeDocument/2006/relationships/slideMaster" Target="/ppt/slideMasters/slideMaster1.xml" Id="R7bcb87767ed94d3d" /><Relationship Type="http://schemas.openxmlformats.org/officeDocument/2006/relationships/notesMaster" Target="/ppt/notesMasters/notesMaster1.xml" Id="Rfcebf50c3ff94524" /><Relationship Type="http://schemas.openxmlformats.org/officeDocument/2006/relationships/presProps" Target="/ppt/presProps.xml" Id="R3986a600bfce4c10" /><Relationship Type="http://schemas.openxmlformats.org/officeDocument/2006/relationships/tableStyles" Target="/ppt/tableStyles.xml" Id="Rfd1dac4a73dd4966" /><Relationship Type="http://schemas.openxmlformats.org/officeDocument/2006/relationships/slide" Target="/ppt/slides/slide1.xml" Id="R979f529f5f86459b" /><Relationship Type="http://schemas.openxmlformats.org/officeDocument/2006/relationships/slide" Target="/ppt/slides/slide2.xml" Id="Re9260533e884486d" /><Relationship Type="http://schemas.openxmlformats.org/officeDocument/2006/relationships/slide" Target="/ppt/slides/slide3.xml" Id="Rf327125f3258455d" /><Relationship Type="http://schemas.openxmlformats.org/officeDocument/2006/relationships/slide" Target="/ppt/slides/slide4.xml" Id="R308044410db241b8" /><Relationship Type="http://schemas.openxmlformats.org/officeDocument/2006/relationships/slide" Target="/ppt/slides/slide5.xml" Id="R3719d213924e499e" /><Relationship Type="http://schemas.openxmlformats.org/officeDocument/2006/relationships/slide" Target="/ppt/slides/slide6.xml" Id="Re9e6b87201eb4534" /><Relationship Type="http://schemas.openxmlformats.org/officeDocument/2006/relationships/slide" Target="/ppt/slides/slide7.xml" Id="Rb14d5d651047496a" /><Relationship Type="http://schemas.openxmlformats.org/officeDocument/2006/relationships/slide" Target="/ppt/slides/slide8.xml" Id="Rb43579ba6cf647e0" /><Relationship Type="http://schemas.openxmlformats.org/officeDocument/2006/relationships/slide" Target="/ppt/slides/slide9.xml" Id="R84234f3d7417444a" /><Relationship Type="http://schemas.openxmlformats.org/officeDocument/2006/relationships/slide" Target="/ppt/slides/slide10.xml" Id="R0814a1d7ef4f47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76380023fe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df1d92de1a4544" /><Relationship Type="http://schemas.openxmlformats.org/officeDocument/2006/relationships/notesMaster" Target="/ppt/notesMasters/notesMaster1.xml" Id="R2ffe25275ca14f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e66d4cedc24dc2" /><Relationship Type="http://schemas.openxmlformats.org/officeDocument/2006/relationships/notesMaster" Target="/ppt/notesMasters/notesMaster1.xml" Id="R1cbffc77729949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51abc99e974680" /><Relationship Type="http://schemas.openxmlformats.org/officeDocument/2006/relationships/notesMaster" Target="/ppt/notesMasters/notesMaster1.xml" Id="Rdc51a5a8e4da46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77dd8cc704235" /><Relationship Type="http://schemas.openxmlformats.org/officeDocument/2006/relationships/notesMaster" Target="/ppt/notesMasters/notesMaster1.xml" Id="Rfa761ef08dcb45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c5776d9f7347ef" /><Relationship Type="http://schemas.openxmlformats.org/officeDocument/2006/relationships/notesMaster" Target="/ppt/notesMasters/notesMaster1.xml" Id="R53c866cdd69042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9da096d7a64a28" /><Relationship Type="http://schemas.openxmlformats.org/officeDocument/2006/relationships/notesMaster" Target="/ppt/notesMasters/notesMaster1.xml" Id="R77ebc8729a2646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a783eebf454cf0" /><Relationship Type="http://schemas.openxmlformats.org/officeDocument/2006/relationships/notesMaster" Target="/ppt/notesMasters/notesMaster1.xml" Id="R10c6774f9f7042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960588d0aa4e1a" /><Relationship Type="http://schemas.openxmlformats.org/officeDocument/2006/relationships/notesMaster" Target="/ppt/notesMasters/notesMaster1.xml" Id="R21c2a3c225a244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e2f48d36f34a93" /><Relationship Type="http://schemas.openxmlformats.org/officeDocument/2006/relationships/notesMaster" Target="/ppt/notesMasters/notesMaster1.xml" Id="Re9efca6b9ea447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d75ea0c6584b25" /><Relationship Type="http://schemas.openxmlformats.org/officeDocument/2006/relationships/notesMaster" Target="/ppt/notesMasters/notesMaster1.xml" Id="R3ba2d999e86840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#17은 Activepieces 기반 TechFlow의 실행 상태를 1분마다 수집하고 장애의 발생, 원인, 복구를 추적하는 기반을 만든 작업입니다.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상태에서 6개 서비스와 3개 Endpoint가 정상이며 Gateway 중단 시 Critical 2건을 감지하고 복구 후 해제했습니다.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Observer는 읽기 전용 수집과 판정만 수행하며 systemd가 주기 실행과 로컬 실패 통지를 담당합니다.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경보 임계값은 고정 정책으로 관리하고 Flow Payload와 원문 로그를 저장하지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수집, 감지, 원인 식별, 통지, 복구, 해제를 하나의 반복 가능한 Runbook으로 구성했습니다.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 파일은 허용된 집계만 포함하며 0640 권한과 원자적 교체를 적용합니다.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단위 테스트, Timer, Health, 메트릭, 장애 훈련, 복구, 로그 한도와 Secret Scan을 포함한 12개 검증을 통과했습니다.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코드, systemd, ADR, Runbook, 구조화 JSON, PDF, PPTX와 Manifest를 일관된 자산으로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다음은 Issue #18 버전 고정과 Issue #19 GitHub PR Merge Flow이며 실제 Flow 실행 데이터로 p95를 검증합니다.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#17은 장애를 감지하고 원인과 복구를 추적하는 운영 기반이 검증된 상태로 종료됩니다.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docs/adr/0004-techflow-observability.md</a:t>
            </a:r>
          </a:p>
          <a:p xmlns:a="http://schemas.openxmlformats.org/drawingml/2006/main">
            <a:r>
              <a:t>- docs/decisions/techflow-observability.json</a:t>
            </a:r>
          </a:p>
          <a:p xmlns:a="http://schemas.openxmlformats.org/drawingml/2006/main">
            <a:r>
              <a:t>- docs/reports/issue-17-observability-validation.md</a:t>
            </a:r>
          </a:p>
          <a:p xmlns:a="http://schemas.openxmlformats.org/drawingml/2006/main">
            <a:r>
              <a:t>- docs/runbooks/observability.md</a:t>
            </a:r>
          </a:p>
          <a:p xmlns:a="http://schemas.openxmlformats.org/drawingml/2006/main">
            <a:r>
              <a:t>- https://github.com/ablecloud-team/ablestack-techflow/issues/17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668369df4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53a3f4519d4712" /><Relationship Type="http://schemas.openxmlformats.org/officeDocument/2006/relationships/slideLayout" Target="/ppt/slideLayouts/slideLayout1.xml" Id="Ra1d55f330cfd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d55f330cfd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5b10af16e4952" /><Relationship Type="http://schemas.openxmlformats.org/officeDocument/2006/relationships/notesSlide" Target="/ppt/notesSlides/notesSlide1.xml" Id="R7d3768304b87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f213ad1b5490e" /><Relationship Type="http://schemas.openxmlformats.org/officeDocument/2006/relationships/notesSlide" Target="/ppt/notesSlides/notesSlide2.xml" Id="R414974b49ab748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2db8de52749ff" /><Relationship Type="http://schemas.openxmlformats.org/officeDocument/2006/relationships/notesSlide" Target="/ppt/notesSlides/notesSlide3.xml" Id="Re1363cd466fd4f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a984b5abe41c3" /><Relationship Type="http://schemas.openxmlformats.org/officeDocument/2006/relationships/notesSlide" Target="/ppt/notesSlides/notesSlide4.xml" Id="Raf5ddb682ac344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31c6b26734000" /><Relationship Type="http://schemas.openxmlformats.org/officeDocument/2006/relationships/notesSlide" Target="/ppt/notesSlides/notesSlide5.xml" Id="R033293d4994442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c393094f744e1" /><Relationship Type="http://schemas.openxmlformats.org/officeDocument/2006/relationships/notesSlide" Target="/ppt/notesSlides/notesSlide6.xml" Id="R853ea11722b8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513784f5040f2" /><Relationship Type="http://schemas.openxmlformats.org/officeDocument/2006/relationships/notesSlide" Target="/ppt/notesSlides/notesSlide7.xml" Id="R4f5d7276ccbf4b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d571598cb423b" /><Relationship Type="http://schemas.openxmlformats.org/officeDocument/2006/relationships/notesSlide" Target="/ppt/notesSlides/notesSlide8.xml" Id="R210f3f4272044e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d7e194786498a" /><Relationship Type="http://schemas.openxmlformats.org/officeDocument/2006/relationships/notesSlide" Target="/ppt/notesSlides/notesSlide9.xml" Id="R57681e73166941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841168bff4951" /><Relationship Type="http://schemas.openxmlformats.org/officeDocument/2006/relationships/notesSlide" Target="/ppt/notesSlides/notesSlide10.xml" Id="Reae0befa407a45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로그·메트릭·상태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점검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장애의 발생·원인·복구를 1분 주기로 추적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0.86.3 · 2026-07-31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Gateway 장애를 감지하고 복구까지 추적했습니다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서비스·엔드포인트·데이터 계층·백업을 한 번에 수집하고 경보 발생과 해제를 같은 키로 연결했습니다.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정상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6/6 Services Healthy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 Endpoints HTTP 200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Critical 0 · Warning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장애 실증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Stop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Critical Exit 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원인 2건 식별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43 Metric Series  |  12 Controls PASS  |  Secret Leaks 0  |  HTTPS 200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수집·판정·통지를 서로 다른 책임으로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Observer는 허용된 상태와 집계값만 만들고 systemd는 주기 실행과 로컬 실패 통지를 담당합니다.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Docker · HTTP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PostgreSQL · Redis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 · Safe Log Counts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Evaluate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Warning · Critical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Stable Alert Keys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Strict Exit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status · metrics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Current Alerts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Transitions · Journal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경계  |  Observer는 Flow·가상자원 상태를 변경하지 않음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장애 판정은 고정 임계값과 안전한 집계로 재현됩니다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서비스·Endpoint·DB·Redis·Backup·Flow·Webhook을 공통 정책으로 판정하고 원문 로그와 Payload는 저장하지 않습니다.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대상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경보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심각도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Missing · Unhealthy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HTTP != 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H3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HTTP != 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Warning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Disk 85% / 95%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 / C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R2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Memory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Available 15% / 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 / C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DB · Redis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Unreachable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Backup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Failed · &gt; 26h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Critical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Failures 1 /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 / 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현재 Flow 실행 이력이 없어 상태별 실행 수와 p95 지연은 빈 시계열입니다.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감지부터 해제까지 하나의 Runbook으로 반복합니다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운영자는 고정 경보 키를 따라 컴포넌트를 확인하고 복구 후 같은 키의 Resolved 전이를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1분 Timer · Strict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Alert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Critical Exit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Identify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Cause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Service ·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Notify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Journal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systemd OnFailure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Health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Gateway Start · 6/6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Resolve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Transition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Opened → Resolved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관측 데이터는 운영 원문과 만나지 않도록 최소화했습니다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정해진 상태·집계만 0640 파일에 원자적으로 저장하고 Flow ID, Payload, 사용자 정보와 원문 로그는 복제하지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Runtime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Docker · HTTP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DB · Redis · Backup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Safe Aggregation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Health · Counts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Duration ·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JSON · Prometheus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Stable Alert Keys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Operator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Status · Journal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Runbook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Allowlist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No Raw Payload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수집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운영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관측성과 보안 12개 검증을 모두 통과했습니다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V1–4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수집 기반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Unit Tests 7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Timer Active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Health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Endpoints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V5–8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메트릭·장애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DB · Redis · Backup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Prometheus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Failure Detected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Transitions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V9–12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알림·보안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OnFailure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Recovery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Logs Bounded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Scan 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수집·Timer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장애·복구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보안·로그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코드·운영 절차·완료 증적을 하나의 자산 체계로 관리합니다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운영자가 동일한 설치·점검·훈련·복구를 재현하도록 실행 코드와 판단 기준을 함께 제공합니다.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observer.py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install · verify · drill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Systemd Service · Timer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ADR-0004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Observability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장애·경보 정책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롤백 절차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보고서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시각·Overflow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기준  |  Secret·Payload·원문 로그 제외 · 0640 · 허용된 Label만 사용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이제 관측 기반 위에서 첫 사내 업무 Flow로 이동합니다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Issue #17로 실행 기반의 상태를 볼 수 있게 됐습니다. 다음은 버전을 고정하고 GitHub PR Merge Flow에서 실제 실행 데이터를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#17 로그·메트릭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경보·복구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#18 이미지 Digest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업그레이드 정책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First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#19 GitHub PR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Merge Webhook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Extend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p95 검증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중앙 수집·알림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#17 완료 기준 = 1분 수집 + 원인 식별 + OnFailure + Resolved + Secret 누출 0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64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장애를 발견하는 수준을 넘어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원인과 복구를 추적하는 기반을 확정했습니다.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6/6 HEALTHY · 43 METRIC SERIES · 12 CONTROLS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Observability 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#17 · 2026-07-31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2026-07-31T09:45:11.1500000Z</dcterms:created>
  <dcterms:modified xsi:type="dcterms:W3CDTF">2026-07-31T09:45:11.1500000Z</dcterms:modified>
</coreProperties>
</file>