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5542e7d384344110" /><Relationship Type="http://schemas.openxmlformats.org/officeDocument/2006/relationships/extended-properties" Target="/docProps/app.xml" Id="R0570d3fdab454e40" /><Relationship Type="http://schemas.openxmlformats.org/officeDocument/2006/relationships/officeDocument" Target="/ppt/presentation.xml" Id="Rb607cf0862014a1c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78e8af48d82496e"/>
  </p:sldMasterIdLst>
  <p:notesMasterIdLst>
    <p:notesMasterId xmlns:r="http://schemas.openxmlformats.org/officeDocument/2006/relationships" r:id="R2e4d0efb0f124e19"/>
  </p:notesMasterIdLst>
  <p:sldIdLst>
    <p:sldId xmlns:r="http://schemas.openxmlformats.org/officeDocument/2006/relationships" id="256" r:id="R586d8f44807b4cd6"/>
    <p:sldId xmlns:r="http://schemas.openxmlformats.org/officeDocument/2006/relationships" id="257" r:id="Re6143a2aec974c4e"/>
    <p:sldId xmlns:r="http://schemas.openxmlformats.org/officeDocument/2006/relationships" id="258" r:id="Rfb435698e4554495"/>
    <p:sldId xmlns:r="http://schemas.openxmlformats.org/officeDocument/2006/relationships" id="259" r:id="R6c6030d32ddd425b"/>
    <p:sldId xmlns:r="http://schemas.openxmlformats.org/officeDocument/2006/relationships" id="260" r:id="R9171fab713664173"/>
    <p:sldId xmlns:r="http://schemas.openxmlformats.org/officeDocument/2006/relationships" id="261" r:id="Rd66f3738420a4757"/>
    <p:sldId xmlns:r="http://schemas.openxmlformats.org/officeDocument/2006/relationships" id="262" r:id="R66728f70f92e4210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7c08d4fb26a43e0" /><Relationship Type="http://schemas.openxmlformats.org/officeDocument/2006/relationships/slideMaster" Target="/ppt/slideMasters/slideMaster1.xml" Id="Rb78e8af48d82496e" /><Relationship Type="http://schemas.openxmlformats.org/officeDocument/2006/relationships/notesMaster" Target="/ppt/notesMasters/notesMaster1.xml" Id="R2e4d0efb0f124e19" /><Relationship Type="http://schemas.openxmlformats.org/officeDocument/2006/relationships/presProps" Target="/ppt/presProps.xml" Id="R2fa9f20e64384fd7" /><Relationship Type="http://schemas.openxmlformats.org/officeDocument/2006/relationships/tableStyles" Target="/ppt/tableStyles.xml" Id="R0113d347a33642eb" /><Relationship Type="http://schemas.openxmlformats.org/officeDocument/2006/relationships/slide" Target="/ppt/slides/slide1.xml" Id="R586d8f44807b4cd6" /><Relationship Type="http://schemas.openxmlformats.org/officeDocument/2006/relationships/slide" Target="/ppt/slides/slide2.xml" Id="Re6143a2aec974c4e" /><Relationship Type="http://schemas.openxmlformats.org/officeDocument/2006/relationships/slide" Target="/ppt/slides/slide3.xml" Id="Rfb435698e4554495" /><Relationship Type="http://schemas.openxmlformats.org/officeDocument/2006/relationships/slide" Target="/ppt/slides/slide4.xml" Id="R6c6030d32ddd425b" /><Relationship Type="http://schemas.openxmlformats.org/officeDocument/2006/relationships/slide" Target="/ppt/slides/slide5.xml" Id="R9171fab713664173" /><Relationship Type="http://schemas.openxmlformats.org/officeDocument/2006/relationships/slide" Target="/ppt/slides/slide6.xml" Id="Rd66f3738420a4757" /><Relationship Type="http://schemas.openxmlformats.org/officeDocument/2006/relationships/slide" Target="/ppt/slides/slide7.xml" Id="R66728f70f92e4210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ce9d76a6b18f42c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c58de21f885490f" /><Relationship Type="http://schemas.openxmlformats.org/officeDocument/2006/relationships/notesMaster" Target="/ppt/notesMasters/notesMaster1.xml" Id="R8babe4d8e9964240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b29c1275fd049dc" /><Relationship Type="http://schemas.openxmlformats.org/officeDocument/2006/relationships/notesMaster" Target="/ppt/notesMasters/notesMaster1.xml" Id="R2bb9830221dd4f4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e05395ad8e694e32" /><Relationship Type="http://schemas.openxmlformats.org/officeDocument/2006/relationships/notesMaster" Target="/ppt/notesMasters/notesMaster1.xml" Id="R7f8c95b913f84ebb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e07ad96805324a89" /><Relationship Type="http://schemas.openxmlformats.org/officeDocument/2006/relationships/notesMaster" Target="/ppt/notesMasters/notesMaster1.xml" Id="R7fa6aaca6e824a0b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97177630bb8b4acd" /><Relationship Type="http://schemas.openxmlformats.org/officeDocument/2006/relationships/notesMaster" Target="/ppt/notesMasters/notesMaster1.xml" Id="Rfa2de86a6ca64c53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bf3550e3d67b4f5e" /><Relationship Type="http://schemas.openxmlformats.org/officeDocument/2006/relationships/notesMaster" Target="/ppt/notesMasters/notesMaster1.xml" Id="Rb7b61e7d0a134de9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f9891807d4a64f6f" /><Relationship Type="http://schemas.openxmlformats.org/officeDocument/2006/relationships/notesMaster" Target="/ppt/notesMasters/notesMaster1.xml" Id="R9a7da8aff6f24cd8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docs/reports/issue-73-community-ui-validation.md</a:t>
            </a:r>
          </a:p>
          <a:p xmlns:a="http://schemas.openxmlformats.org/drawingml/2006/main">
            <a:r>
              <a:t>- docs/evidence/issue-73/community-theme-validation.json</a:t>
            </a:r>
          </a:p>
          <a:p xmlns:a="http://schemas.openxmlformats.org/drawingml/2006/main">
            <a:r>
              <a:t>- docs/plans/issue-73-community-ui-modernization.md</a:t>
            </a:r>
          </a:p>
          <a:p xmlns:a="http://schemas.openxmlformats.org/drawingml/2006/main">
            <a:r>
              <a:t>- docs/runbooks/community-theme-rollout-rollback.md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docs/reports/issue-73-community-ui-validation.md</a:t>
            </a:r>
          </a:p>
          <a:p xmlns:a="http://schemas.openxmlformats.org/drawingml/2006/main">
            <a:r>
              <a:t>- docs/evidence/issue-73/community-theme-validation.json</a:t>
            </a:r>
          </a:p>
          <a:p xmlns:a="http://schemas.openxmlformats.org/drawingml/2006/main">
            <a:r>
              <a:t>- docs/plans/issue-73-community-ui-modernization.md</a:t>
            </a:r>
          </a:p>
          <a:p xmlns:a="http://schemas.openxmlformats.org/drawingml/2006/main">
            <a:r>
              <a:t>- docs/runbooks/community-theme-rollout-rollback.md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docs/reports/issue-73-community-ui-validation.md</a:t>
            </a:r>
          </a:p>
          <a:p xmlns:a="http://schemas.openxmlformats.org/drawingml/2006/main">
            <a:r>
              <a:t>- docs/evidence/issue-73/community-theme-validation.json</a:t>
            </a:r>
          </a:p>
          <a:p xmlns:a="http://schemas.openxmlformats.org/drawingml/2006/main">
            <a:r>
              <a:t>- docs/plans/issue-73-community-ui-modernization.md</a:t>
            </a:r>
          </a:p>
          <a:p xmlns:a="http://schemas.openxmlformats.org/drawingml/2006/main">
            <a:r>
              <a:t>- docs/runbooks/community-theme-rollout-rollback.md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docs/reports/issue-73-community-ui-validation.md</a:t>
            </a:r>
          </a:p>
          <a:p xmlns:a="http://schemas.openxmlformats.org/drawingml/2006/main">
            <a:r>
              <a:t>- docs/evidence/issue-73/community-theme-validation.json</a:t>
            </a:r>
          </a:p>
          <a:p xmlns:a="http://schemas.openxmlformats.org/drawingml/2006/main">
            <a:r>
              <a:t>- docs/plans/issue-73-community-ui-modernization.md</a:t>
            </a:r>
          </a:p>
          <a:p xmlns:a="http://schemas.openxmlformats.org/drawingml/2006/main">
            <a:r>
              <a:t>- docs/runbooks/community-theme-rollout-rollback.md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docs/reports/issue-73-community-ui-validation.md</a:t>
            </a:r>
          </a:p>
          <a:p xmlns:a="http://schemas.openxmlformats.org/drawingml/2006/main">
            <a:r>
              <a:t>- docs/evidence/issue-73/community-theme-validation.json</a:t>
            </a:r>
          </a:p>
          <a:p xmlns:a="http://schemas.openxmlformats.org/drawingml/2006/main">
            <a:r>
              <a:t>- docs/plans/issue-73-community-ui-modernization.md</a:t>
            </a:r>
          </a:p>
          <a:p xmlns:a="http://schemas.openxmlformats.org/drawingml/2006/main">
            <a:r>
              <a:t>- docs/runbooks/community-theme-rollout-rollback.md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docs/reports/issue-73-community-ui-validation.md</a:t>
            </a:r>
          </a:p>
          <a:p xmlns:a="http://schemas.openxmlformats.org/drawingml/2006/main">
            <a:r>
              <a:t>- docs/evidence/issue-73/community-theme-validation.json</a:t>
            </a:r>
          </a:p>
          <a:p xmlns:a="http://schemas.openxmlformats.org/drawingml/2006/main">
            <a:r>
              <a:t>- docs/plans/issue-73-community-ui-modernization.md</a:t>
            </a:r>
          </a:p>
          <a:p xmlns:a="http://schemas.openxmlformats.org/drawingml/2006/main">
            <a:r>
              <a:t>- docs/runbooks/community-theme-rollout-rollback.md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docs/reports/issue-73-community-ui-validation.md</a:t>
            </a:r>
          </a:p>
          <a:p xmlns:a="http://schemas.openxmlformats.org/drawingml/2006/main">
            <a:r>
              <a:t>- docs/evidence/issue-73/community-theme-validation.json</a:t>
            </a:r>
          </a:p>
          <a:p xmlns:a="http://schemas.openxmlformats.org/drawingml/2006/main">
            <a:r>
              <a:t>- docs/plans/issue-73-community-ui-modernization.md</a:t>
            </a:r>
          </a:p>
          <a:p xmlns:a="http://schemas.openxmlformats.org/drawingml/2006/main">
            <a:r>
              <a:t>- docs/runbooks/community-theme-rollout-rollback.md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ccac2d009b14a85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3caf9b804dd043fd" /><Relationship Type="http://schemas.openxmlformats.org/officeDocument/2006/relationships/slideLayout" Target="/ppt/slideLayouts/slideLayout1.xml" Id="R8b30979858c54e14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b30979858c54e14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596db535c424a7a" /><Relationship Type="http://schemas.openxmlformats.org/officeDocument/2006/relationships/image" Target="/ppt/media/image.png" Id="Rded17299b08d48e8" /><Relationship Type="http://schemas.openxmlformats.org/officeDocument/2006/relationships/notesSlide" Target="/ppt/notesSlides/notesSlide1.xml" Id="R2278b022a90f4f3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a7d7a964fc14b88" /><Relationship Type="http://schemas.openxmlformats.org/officeDocument/2006/relationships/image" Target="/ppt/media/image.jpeg" Id="R2c89418c9b4d401e" /><Relationship Type="http://schemas.openxmlformats.org/officeDocument/2006/relationships/image" Target="/ppt/media/image2.png" Id="R183eb4a8455540e0" /><Relationship Type="http://schemas.openxmlformats.org/officeDocument/2006/relationships/notesSlide" Target="/ppt/notesSlides/notesSlide2.xml" Id="R82a6d46a0ba14623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06a83f280a24fb8" /><Relationship Type="http://schemas.openxmlformats.org/officeDocument/2006/relationships/notesSlide" Target="/ppt/notesSlides/notesSlide3.xml" Id="R11b5f10906ba430e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ab3f8bd74d1421d" /><Relationship Type="http://schemas.openxmlformats.org/officeDocument/2006/relationships/image" Target="/ppt/media/image3.png" Id="R161bd5b70dac460f" /><Relationship Type="http://schemas.openxmlformats.org/officeDocument/2006/relationships/notesSlide" Target="/ppt/notesSlides/notesSlide4.xml" Id="R8fe701cce49943d5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e704f71942f4e01" /><Relationship Type="http://schemas.openxmlformats.org/officeDocument/2006/relationships/notesSlide" Target="/ppt/notesSlides/notesSlide5.xml" Id="R2de74d09ac1b43f9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accca1d30a84543" /><Relationship Type="http://schemas.openxmlformats.org/officeDocument/2006/relationships/notesSlide" Target="/ppt/notesSlides/notesSlide6.xml" Id="R0beb3515034349e3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9023780bacc4292" /><Relationship Type="http://schemas.openxmlformats.org/officeDocument/2006/relationships/notesSlide" Target="/ppt/notesSlides/notesSlide7.xml" Id="R10e9eb06c4784c7d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cover-kicker">
            <a:extLst xmlns:a="http://schemas.openxmlformats.org/drawingml/2006/main">
              <a:ext uri="{FF2B5EF4-FFF2-40B4-BE49-F238E27FC236}">
                <a16:creationId xmlns:a16="http://schemas.microsoft.com/office/drawing/2014/main" id="{64A8B3D6-56A8-4B21-BB86-E37AAA284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00050"/>
            <a:ext cx="5334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ABLESTACK TECHFLOW · ISSUE #73</a:t>
            </a:r>
          </a:p>
        </p:txBody>
      </p:sp>
      <p:sp>
        <p:nvSpPr>
          <p:cNvPr id="2" name="cover-title">
            <a:extLst xmlns:a="http://schemas.openxmlformats.org/drawingml/2006/main">
              <a:ext uri="{FF2B5EF4-FFF2-40B4-BE49-F238E27FC236}">
                <a16:creationId xmlns:a16="http://schemas.microsoft.com/office/drawing/2014/main" id="{ED45A480-310E-4EC2-86CA-4D1D3E155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600200"/>
            <a:ext cx="51435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465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465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Community</a:t>
            </a:r>
          </a:p>
          <a:p xmlns:a="http://schemas.openxmlformats.org/drawingml/2006/main">
            <a:pPr algn="l">
              <a:defRPr sz="465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465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인터페이스 현대화</a:t>
            </a:r>
          </a:p>
        </p:txBody>
      </p:sp>
      <p:sp>
        <p:nvSpPr>
          <p:cNvPr id="3" name="cover-subtitle">
            <a:extLst xmlns:a="http://schemas.openxmlformats.org/drawingml/2006/main">
              <a:ext uri="{FF2B5EF4-FFF2-40B4-BE49-F238E27FC236}">
                <a16:creationId xmlns:a16="http://schemas.microsoft.com/office/drawing/2014/main" id="{903A914A-4ED6-4771-9CED-00ADB0697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714750"/>
            <a:ext cx="5143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브랜드 테마 · 한글 UX · 반응형 · 안전한 롤백</a:t>
            </a:r>
          </a:p>
        </p:txBody>
      </p:sp>
      <p:sp>
        <p:nvSpPr>
          <p:cNvPr id="4" name="cover-image-frame">
            <a:extLst xmlns:a="http://schemas.openxmlformats.org/drawingml/2006/main">
              <a:ext uri="{FF2B5EF4-FFF2-40B4-BE49-F238E27FC236}">
                <a16:creationId xmlns:a16="http://schemas.microsoft.com/office/drawing/2014/main" id="{3B0254DF-3B69-468E-9FD4-62C6A66D0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00050"/>
            <a:ext cx="5543550" cy="5619750"/>
          </a:xfrm>
          <a:prstGeom xmlns:a="http://schemas.openxmlformats.org/drawingml/2006/main" prst="roundRect">
            <a:avLst>
              <a:gd name="adj" fmla="val 1375"/>
            </a:avLst>
          </a:prstGeom>
          <a:solidFill xmlns:a="http://schemas.openxmlformats.org/drawingml/2006/main">
            <a:srgbClr val="F3F7FC"/>
          </a:solidFill>
          <a:ln xmlns:a="http://schemas.openxmlformats.org/drawingml/2006/main" w="9525">
            <a:solidFill>
              <a:srgbClr val="D5E1F1"/>
            </a:solidFill>
            <a:prstDash val="solid"/>
          </a:ln>
        </p:spPr>
      </p:sp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ed17299b08d48e8"/>
          <a:stretch xmlns:a="http://schemas.openxmlformats.org/drawingml/2006/main"/>
        </p:blipFill>
        <p:spPr>
          <a:xfrm xmlns:a="http://schemas.openxmlformats.org/drawingml/2006/main">
            <a:off x="6438900" y="1632347"/>
            <a:ext cx="5048250" cy="3155156"/>
          </a:xfrm>
          <a:prstGeom xmlns:a="http://schemas.openxmlformats.org/drawingml/2006/main" prst="roundRect">
            <a:avLst>
              <a:gd name="adj" fmla="val 2281"/>
            </a:avLst>
          </a:prstGeom>
        </p:spPr>
      </p:pic>
      <p:sp>
        <p:nvSpPr>
          <p:cNvPr id="6" name="cover-status">
            <a:extLst xmlns:a="http://schemas.openxmlformats.org/drawingml/2006/main">
              <a:ext uri="{FF2B5EF4-FFF2-40B4-BE49-F238E27FC236}">
                <a16:creationId xmlns:a16="http://schemas.microsoft.com/office/drawing/2014/main" id="{26357597-2A02-4C01-A36D-33AFC97A8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14950"/>
            <a:ext cx="342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rPr>
              <a:t>CONDITIONAL GO</a:t>
            </a:r>
          </a:p>
        </p:txBody>
      </p:sp>
    </p:spTree>
    <p:extLst>
      <p:ext uri="{BB962C8B-B14F-4D97-AF65-F5344CB8AC3E}">
        <p14:creationId xmlns:p14="http://schemas.microsoft.com/office/powerpoint/2010/main" val="178063716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title-2">
            <a:extLst xmlns:a="http://schemas.openxmlformats.org/drawingml/2006/main">
              <a:ext uri="{FF2B5EF4-FFF2-40B4-BE49-F238E27FC236}">
                <a16:creationId xmlns:a16="http://schemas.microsoft.com/office/drawing/2014/main" id="{2ED890D1-9E91-4F2D-836A-B448CCE89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4290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기능은 그대로, 읽기 계층은 더 분명해졌습니다</a:t>
            </a:r>
          </a:p>
        </p:txBody>
      </p:sp>
      <p:sp>
        <p:nvSpPr>
          <p:cNvPr id="2" name="page-2">
            <a:extLst xmlns:a="http://schemas.openxmlformats.org/drawingml/2006/main">
              <a:ext uri="{FF2B5EF4-FFF2-40B4-BE49-F238E27FC236}">
                <a16:creationId xmlns:a16="http://schemas.microsoft.com/office/drawing/2014/main" id="{FADC1203-3BA2-4020-95D4-BD268B7D3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28650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02</a:t>
            </a:r>
          </a:p>
        </p:txBody>
      </p:sp>
      <p:sp>
        <p:nvSpPr>
          <p:cNvPr id="3" name="before-label">
            <a:extLst xmlns:a="http://schemas.openxmlformats.org/drawingml/2006/main">
              <a:ext uri="{FF2B5EF4-FFF2-40B4-BE49-F238E27FC236}">
                <a16:creationId xmlns:a16="http://schemas.microsoft.com/office/drawing/2014/main" id="{AABD7FF3-0411-49D0-B44B-62E24993E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162050"/>
            <a:ext cx="5143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BEFORE</a:t>
            </a:r>
          </a:p>
        </p:txBody>
      </p:sp>
      <p:sp>
        <p:nvSpPr>
          <p:cNvPr id="4" name="after-label">
            <a:extLst xmlns:a="http://schemas.openxmlformats.org/drawingml/2006/main">
              <a:ext uri="{FF2B5EF4-FFF2-40B4-BE49-F238E27FC236}">
                <a16:creationId xmlns:a16="http://schemas.microsoft.com/office/drawing/2014/main" id="{1B8EA5CA-A506-4FAC-87C6-576712A27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1162050"/>
            <a:ext cx="5143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rPr>
              <a:t>AFTER</a:t>
            </a:r>
          </a:p>
        </p:txBody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c89418c9b4d401e"/>
          <a:stretch xmlns:a="http://schemas.openxmlformats.org/drawingml/2006/main"/>
        </p:blipFill>
        <p:spPr>
          <a:xfrm xmlns:a="http://schemas.openxmlformats.org/drawingml/2006/main">
            <a:off x="457200" y="1582854"/>
            <a:ext cx="5143500" cy="3216041"/>
          </a:xfrm>
          <a:prstGeom xmlns:a="http://schemas.openxmlformats.org/drawingml/2006/main" prst="roundRect">
            <a:avLst>
              <a:gd name="adj" fmla="val 3550"/>
            </a:avLst>
          </a:prstGeom>
        </p:spPr>
      </p:pic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83eb4a8455540e0"/>
          <a:stretch xmlns:a="http://schemas.openxmlformats.org/drawingml/2006/main"/>
        </p:blipFill>
        <p:spPr>
          <a:xfrm xmlns:a="http://schemas.openxmlformats.org/drawingml/2006/main">
            <a:off x="6362700" y="1583531"/>
            <a:ext cx="5143500" cy="3214688"/>
          </a:xfrm>
          <a:prstGeom xmlns:a="http://schemas.openxmlformats.org/drawingml/2006/main" prst="roundRect">
            <a:avLst>
              <a:gd name="adj" fmla="val 3550"/>
            </a:avLst>
          </a:prstGeom>
        </p:spPr>
      </p:pic>
      <p:sp>
        <p:nvSpPr>
          <p:cNvPr id="7" name="before-copy">
            <a:extLst xmlns:a="http://schemas.openxmlformats.org/drawingml/2006/main">
              <a:ext uri="{FF2B5EF4-FFF2-40B4-BE49-F238E27FC236}">
                <a16:creationId xmlns:a16="http://schemas.microsoft.com/office/drawing/2014/main" id="{6B82ABC1-E485-487E-A1A2-DA204ED33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067300"/>
            <a:ext cx="5143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좁은 행 간격 · 약한 상태 구분 · 모바일 겹침</a:t>
            </a:r>
          </a:p>
        </p:txBody>
      </p:sp>
      <p:sp>
        <p:nvSpPr>
          <p:cNvPr id="8" name="after-copy">
            <a:extLst xmlns:a="http://schemas.openxmlformats.org/drawingml/2006/main">
              <a:ext uri="{FF2B5EF4-FFF2-40B4-BE49-F238E27FC236}">
                <a16:creationId xmlns:a16="http://schemas.microsoft.com/office/drawing/2014/main" id="{96ED2411-529F-4FD5-8EB8-9431CAEB4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5067300"/>
            <a:ext cx="5143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62px 단일 행 · 제목·태그·댓글 수 한 줄 · 240px 탐색</a:t>
            </a:r>
          </a:p>
        </p:txBody>
      </p:sp>
    </p:spTree>
    <p:extLst>
      <p:ext uri="{BB962C8B-B14F-4D97-AF65-F5344CB8AC3E}">
        <p14:creationId xmlns:p14="http://schemas.microsoft.com/office/powerpoint/2010/main" val="174919252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title-3">
            <a:extLst xmlns:a="http://schemas.openxmlformats.org/drawingml/2006/main">
              <a:ext uri="{FF2B5EF4-FFF2-40B4-BE49-F238E27FC236}">
                <a16:creationId xmlns:a16="http://schemas.microsoft.com/office/drawing/2014/main" id="{D67AB2C1-0C42-48DD-B48C-05B537B5B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4290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진행 답변과 선택된 해결 답변을 간결하게 구분합니다</a:t>
            </a:r>
          </a:p>
        </p:txBody>
      </p:sp>
      <p:sp>
        <p:nvSpPr>
          <p:cNvPr id="2" name="page-3">
            <a:extLst xmlns:a="http://schemas.openxmlformats.org/drawingml/2006/main">
              <a:ext uri="{FF2B5EF4-FFF2-40B4-BE49-F238E27FC236}">
                <a16:creationId xmlns:a16="http://schemas.microsoft.com/office/drawing/2014/main" id="{13B6FE40-ADFE-48C6-8306-0B2C0FC66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28650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03</a:t>
            </a:r>
          </a:p>
        </p:txBody>
      </p:sp>
      <p:sp>
        <p:nvSpPr>
          <p:cNvPr id="3" name="state-0">
            <a:extLst xmlns:a="http://schemas.openxmlformats.org/drawingml/2006/main">
              <a:ext uri="{FF2B5EF4-FFF2-40B4-BE49-F238E27FC236}">
                <a16:creationId xmlns:a16="http://schemas.microsoft.com/office/drawing/2014/main" id="{43E71CFB-B1C0-41EA-A70B-458E65FA6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504950"/>
            <a:ext cx="10401300" cy="819150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5E1F1"/>
            </a:solidFill>
            <a:prstDash val="solid"/>
          </a:ln>
        </p:spPr>
      </p:sp>
      <p:sp>
        <p:nvSpPr>
          <p:cNvPr id="4" name="state-label-0">
            <a:extLst xmlns:a="http://schemas.openxmlformats.org/drawingml/2006/main">
              <a:ext uri="{FF2B5EF4-FFF2-40B4-BE49-F238E27FC236}">
                <a16:creationId xmlns:a16="http://schemas.microsoft.com/office/drawing/2014/main" id="{D22F51B7-2440-4578-94B8-871C72941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1685925"/>
            <a:ext cx="3048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사용자 질문</a:t>
            </a:r>
          </a:p>
        </p:txBody>
      </p:sp>
      <p:sp>
        <p:nvSpPr>
          <p:cNvPr id="5" name="state-detail-0">
            <a:extLst xmlns:a="http://schemas.openxmlformats.org/drawingml/2006/main">
              <a:ext uri="{FF2B5EF4-FFF2-40B4-BE49-F238E27FC236}">
                <a16:creationId xmlns:a16="http://schemas.microsoft.com/office/drawing/2014/main" id="{7DD4558B-7FC7-4218-9893-F3240433F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1704975"/>
            <a:ext cx="6191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증상과 첨부파일</a:t>
            </a:r>
          </a:p>
        </p:txBody>
      </p:sp>
      <p:sp>
        <p:nvSpPr>
          <p:cNvPr id="6" name="state-1">
            <a:extLst xmlns:a="http://schemas.openxmlformats.org/drawingml/2006/main">
              <a:ext uri="{FF2B5EF4-FFF2-40B4-BE49-F238E27FC236}">
                <a16:creationId xmlns:a16="http://schemas.microsoft.com/office/drawing/2014/main" id="{023F7870-19BB-4303-A5DE-008DD00F5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571750"/>
            <a:ext cx="10401300" cy="819150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9525">
            <a:solidFill>
              <a:srgbClr val="A8C5F2"/>
            </a:solidFill>
            <a:prstDash val="solid"/>
          </a:ln>
        </p:spPr>
      </p:sp>
      <p:sp>
        <p:nvSpPr>
          <p:cNvPr id="7" name="state-label-1">
            <a:extLst xmlns:a="http://schemas.openxmlformats.org/drawingml/2006/main">
              <a:ext uri="{FF2B5EF4-FFF2-40B4-BE49-F238E27FC236}">
                <a16:creationId xmlns:a16="http://schemas.microsoft.com/office/drawing/2014/main" id="{665B9FDB-D343-4FA7-AF80-B99FA0945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752725"/>
            <a:ext cx="3048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rPr>
              <a:t>AI 기술지원</a:t>
            </a:r>
          </a:p>
        </p:txBody>
      </p:sp>
      <p:sp>
        <p:nvSpPr>
          <p:cNvPr id="8" name="state-detail-1">
            <a:extLst xmlns:a="http://schemas.openxmlformats.org/drawingml/2006/main">
              <a:ext uri="{FF2B5EF4-FFF2-40B4-BE49-F238E27FC236}">
                <a16:creationId xmlns:a16="http://schemas.microsoft.com/office/drawing/2014/main" id="{7E4DF82C-CA0F-4499-8571-DFC864DA6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2771775"/>
            <a:ext cx="6191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진행 중인 전문 엔지니어 답변</a:t>
            </a:r>
          </a:p>
        </p:txBody>
      </p:sp>
      <p:sp>
        <p:nvSpPr>
          <p:cNvPr id="9" name="state-2">
            <a:extLst xmlns:a="http://schemas.openxmlformats.org/drawingml/2006/main">
              <a:ext uri="{FF2B5EF4-FFF2-40B4-BE49-F238E27FC236}">
                <a16:creationId xmlns:a16="http://schemas.microsoft.com/office/drawing/2014/main" id="{39319E1F-ACFB-403B-B63D-ED60135B2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638550"/>
            <a:ext cx="10401300" cy="819150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FFF6DF"/>
          </a:solidFill>
          <a:ln xmlns:a="http://schemas.openxmlformats.org/drawingml/2006/main" w="9525">
            <a:solidFill>
              <a:srgbClr val="E4B955"/>
            </a:solidFill>
            <a:prstDash val="solid"/>
          </a:ln>
        </p:spPr>
      </p:sp>
      <p:sp>
        <p:nvSpPr>
          <p:cNvPr id="10" name="state-label-2">
            <a:extLst xmlns:a="http://schemas.openxmlformats.org/drawingml/2006/main">
              <a:ext uri="{FF2B5EF4-FFF2-40B4-BE49-F238E27FC236}">
                <a16:creationId xmlns:a16="http://schemas.microsoft.com/office/drawing/2014/main" id="{A3C9F546-443A-465F-9563-9EF193C86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819525"/>
            <a:ext cx="3048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9A6700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9A6700"/>
                </a:solidFill>
                <a:latin typeface="Malgun Gothic"/>
                <a:ea typeface="Malgun Gothic"/>
                <a:cs typeface="Malgun Gothic"/>
              </a:rPr>
              <a:t>추가 확인 필요</a:t>
            </a:r>
          </a:p>
        </p:txBody>
      </p:sp>
      <p:sp>
        <p:nvSpPr>
          <p:cNvPr id="11" name="state-detail-2">
            <a:extLst xmlns:a="http://schemas.openxmlformats.org/drawingml/2006/main">
              <a:ext uri="{FF2B5EF4-FFF2-40B4-BE49-F238E27FC236}">
                <a16:creationId xmlns:a16="http://schemas.microsoft.com/office/drawing/2014/main" id="{35D54D01-639C-4876-AB4F-A284BC4D6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3838575"/>
            <a:ext cx="6191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로그·화면·환경 정보 요청</a:t>
            </a:r>
          </a:p>
        </p:txBody>
      </p:sp>
      <p:sp>
        <p:nvSpPr>
          <p:cNvPr id="12" name="state-3">
            <a:extLst xmlns:a="http://schemas.openxmlformats.org/drawingml/2006/main">
              <a:ext uri="{FF2B5EF4-FFF2-40B4-BE49-F238E27FC236}">
                <a16:creationId xmlns:a16="http://schemas.microsoft.com/office/drawing/2014/main" id="{38245A61-FA4E-43C8-9349-D4A51EE49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705350"/>
            <a:ext cx="10401300" cy="819150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EAFAF2"/>
          </a:solidFill>
          <a:ln xmlns:a="http://schemas.openxmlformats.org/drawingml/2006/main" w="9525">
            <a:solidFill>
              <a:srgbClr val="86D2AA"/>
            </a:solidFill>
            <a:prstDash val="solid"/>
          </a:ln>
        </p:spPr>
      </p:sp>
      <p:sp>
        <p:nvSpPr>
          <p:cNvPr id="13" name="state-label-3">
            <a:extLst xmlns:a="http://schemas.openxmlformats.org/drawingml/2006/main">
              <a:ext uri="{FF2B5EF4-FFF2-40B4-BE49-F238E27FC236}">
                <a16:creationId xmlns:a16="http://schemas.microsoft.com/office/drawing/2014/main" id="{AF2CC4F5-17AB-4688-9BDF-FC94505BA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886325"/>
            <a:ext cx="3048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078248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078248"/>
                </a:solidFill>
                <a:latin typeface="Malgun Gothic"/>
                <a:ea typeface="Malgun Gothic"/>
                <a:cs typeface="Malgun Gothic"/>
              </a:rPr>
              <a:t>해결된 답변</a:t>
            </a:r>
          </a:p>
        </p:txBody>
      </p:sp>
      <p:sp>
        <p:nvSpPr>
          <p:cNvPr id="14" name="state-detail-3">
            <a:extLst xmlns:a="http://schemas.openxmlformats.org/drawingml/2006/main">
              <a:ext uri="{FF2B5EF4-FFF2-40B4-BE49-F238E27FC236}">
                <a16:creationId xmlns:a16="http://schemas.microsoft.com/office/drawing/2014/main" id="{0582A4AC-E331-4488-9C3F-EB98A8C6A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4905375"/>
            <a:ext cx="6191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작은 배지 · 녹색 강조선 · 중복 작성자 정보 제거</a:t>
            </a:r>
          </a:p>
        </p:txBody>
      </p:sp>
    </p:spTree>
    <p:extLst>
      <p:ext uri="{BB962C8B-B14F-4D97-AF65-F5344CB8AC3E}">
        <p14:creationId xmlns:p14="http://schemas.microsoft.com/office/powerpoint/2010/main" val="89728215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title-4">
            <a:extLst xmlns:a="http://schemas.openxmlformats.org/drawingml/2006/main">
              <a:ext uri="{FF2B5EF4-FFF2-40B4-BE49-F238E27FC236}">
                <a16:creationId xmlns:a16="http://schemas.microsoft.com/office/drawing/2014/main" id="{D7F2A7EE-C2B0-4F95-8F62-78CAF893D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4290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390px 모바일과 한글 화면을 검증했습니다</a:t>
            </a:r>
          </a:p>
        </p:txBody>
      </p:sp>
      <p:sp>
        <p:nvSpPr>
          <p:cNvPr id="2" name="page-4">
            <a:extLst xmlns:a="http://schemas.openxmlformats.org/drawingml/2006/main">
              <a:ext uri="{FF2B5EF4-FFF2-40B4-BE49-F238E27FC236}">
                <a16:creationId xmlns:a16="http://schemas.microsoft.com/office/drawing/2014/main" id="{1F20B655-F3AE-407B-8BFA-F2EF3741D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28650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04</a:t>
            </a:r>
          </a:p>
        </p:txBody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61bd5b70dac460f"/>
          <a:stretch xmlns:a="http://schemas.openxmlformats.org/drawingml/2006/main"/>
        </p:blipFill>
        <p:spPr>
          <a:xfrm xmlns:a="http://schemas.openxmlformats.org/drawingml/2006/main">
            <a:off x="1151171" y="1295400"/>
            <a:ext cx="2288709" cy="4953000"/>
          </a:xfrm>
          <a:prstGeom xmlns:a="http://schemas.openxmlformats.org/drawingml/2006/main" prst="roundRect">
            <a:avLst>
              <a:gd name="adj" fmla="val 3636"/>
            </a:avLst>
          </a:prstGeom>
        </p:spPr>
      </p:pic>
      <p:sp>
        <p:nvSpPr>
          <p:cNvPr id="4" name="mobile-fact-1">
            <a:extLst xmlns:a="http://schemas.openxmlformats.org/drawingml/2006/main">
              <a:ext uri="{FF2B5EF4-FFF2-40B4-BE49-F238E27FC236}">
                <a16:creationId xmlns:a16="http://schemas.microsoft.com/office/drawing/2014/main" id="{F9993767-D5E7-45F3-B8C2-65F7E3613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1695450"/>
            <a:ext cx="2000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900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defRPr>
            </a:pPr>
            <a:r>
              <a:rPr sz="3900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rPr>
              <a:t>2줄</a:t>
            </a:r>
          </a:p>
        </p:txBody>
      </p:sp>
      <p:sp>
        <p:nvSpPr>
          <p:cNvPr id="5" name="mobile-desc-1">
            <a:extLst xmlns:a="http://schemas.openxmlformats.org/drawingml/2006/main">
              <a:ext uri="{FF2B5EF4-FFF2-40B4-BE49-F238E27FC236}">
                <a16:creationId xmlns:a16="http://schemas.microsoft.com/office/drawing/2014/main" id="{C4017E73-C77E-4179-89B3-7B4264BD3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1847850"/>
            <a:ext cx="3238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토의 제목</a:t>
            </a:r>
          </a:p>
        </p:txBody>
      </p:sp>
      <p:sp>
        <p:nvSpPr>
          <p:cNvPr id="6" name="mobile-fact-2">
            <a:extLst xmlns:a="http://schemas.openxmlformats.org/drawingml/2006/main">
              <a:ext uri="{FF2B5EF4-FFF2-40B4-BE49-F238E27FC236}">
                <a16:creationId xmlns:a16="http://schemas.microsoft.com/office/drawing/2014/main" id="{2CAEF345-CB70-47E8-B0C2-8801C03A4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857500"/>
            <a:ext cx="2000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900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defRPr>
            </a:pPr>
            <a:r>
              <a:rPr sz="3900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rPr>
              <a:t>44px</a:t>
            </a:r>
          </a:p>
        </p:txBody>
      </p:sp>
      <p:sp>
        <p:nvSpPr>
          <p:cNvPr id="7" name="mobile-desc-2">
            <a:extLst xmlns:a="http://schemas.openxmlformats.org/drawingml/2006/main">
              <a:ext uri="{FF2B5EF4-FFF2-40B4-BE49-F238E27FC236}">
                <a16:creationId xmlns:a16="http://schemas.microsoft.com/office/drawing/2014/main" id="{E1A8B56F-9A9F-4AA0-B8E7-15B051973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3009900"/>
            <a:ext cx="3238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주요 조작 영역</a:t>
            </a:r>
          </a:p>
        </p:txBody>
      </p:sp>
      <p:sp>
        <p:nvSpPr>
          <p:cNvPr id="8" name="mobile-fact-3">
            <a:extLst xmlns:a="http://schemas.openxmlformats.org/drawingml/2006/main">
              <a:ext uri="{FF2B5EF4-FFF2-40B4-BE49-F238E27FC236}">
                <a16:creationId xmlns:a16="http://schemas.microsoft.com/office/drawing/2014/main" id="{9704A82C-C2A4-49A7-AEED-4554A524F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4019550"/>
            <a:ext cx="2000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900" b="1">
                <a:solidFill>
                  <a:srgbClr val="078248"/>
                </a:solidFill>
                <a:latin typeface="Malgun Gothic"/>
                <a:ea typeface="Malgun Gothic"/>
                <a:cs typeface="Malgun Gothic"/>
              </a:defRPr>
            </a:pPr>
            <a:r>
              <a:rPr sz="3900" b="1">
                <a:solidFill>
                  <a:srgbClr val="078248"/>
                </a:solidFill>
                <a:latin typeface="Malgun Gothic"/>
                <a:ea typeface="Malgun Gothic"/>
                <a:cs typeface="Malgun Gothic"/>
              </a:rPr>
              <a:t>0건</a:t>
            </a:r>
          </a:p>
        </p:txBody>
      </p:sp>
      <p:sp>
        <p:nvSpPr>
          <p:cNvPr id="9" name="mobile-desc-3">
            <a:extLst xmlns:a="http://schemas.openxmlformats.org/drawingml/2006/main">
              <a:ext uri="{FF2B5EF4-FFF2-40B4-BE49-F238E27FC236}">
                <a16:creationId xmlns:a16="http://schemas.microsoft.com/office/drawing/2014/main" id="{E1F35D93-E274-4481-9D41-08E8E7214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4171950"/>
            <a:ext cx="3714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원문 core.* 키 노출</a:t>
            </a:r>
          </a:p>
        </p:txBody>
      </p:sp>
      <p:sp>
        <p:nvSpPr>
          <p:cNvPr id="10" name="mobile-foot">
            <a:extLst xmlns:a="http://schemas.openxmlformats.org/drawingml/2006/main">
              <a:ext uri="{FF2B5EF4-FFF2-40B4-BE49-F238E27FC236}">
                <a16:creationId xmlns:a16="http://schemas.microsoft.com/office/drawing/2014/main" id="{9CA7FCF4-021C-4706-BB1D-F5BFF3533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5391150"/>
            <a:ext cx="5810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검색 · 로그인 · 홈 · 목록 실제 브라우저 Smoke 통과</a:t>
            </a:r>
          </a:p>
        </p:txBody>
      </p:sp>
    </p:spTree>
    <p:extLst>
      <p:ext uri="{BB962C8B-B14F-4D97-AF65-F5344CB8AC3E}">
        <p14:creationId xmlns:p14="http://schemas.microsoft.com/office/powerpoint/2010/main" val="113227833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title-5">
            <a:extLst xmlns:a="http://schemas.openxmlformats.org/drawingml/2006/main">
              <a:ext uri="{FF2B5EF4-FFF2-40B4-BE49-F238E27FC236}">
                <a16:creationId xmlns:a16="http://schemas.microsoft.com/office/drawing/2014/main" id="{C929FA20-84E2-41AD-843B-9850742CD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4290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활성화와 롤백에도 콘텐츠는 그대로였습니다</a:t>
            </a:r>
          </a:p>
        </p:txBody>
      </p:sp>
      <p:sp>
        <p:nvSpPr>
          <p:cNvPr id="2" name="page-5">
            <a:extLst xmlns:a="http://schemas.openxmlformats.org/drawingml/2006/main">
              <a:ext uri="{FF2B5EF4-FFF2-40B4-BE49-F238E27FC236}">
                <a16:creationId xmlns:a16="http://schemas.microsoft.com/office/drawing/2014/main" id="{773A7A95-750E-4060-9B94-9A3F83088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28650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05</a:t>
            </a:r>
          </a:p>
        </p:txBody>
      </p:sp>
      <p:sp>
        <p:nvSpPr>
          <p:cNvPr id="3" name="arrow-0">
            <a:extLst xmlns:a="http://schemas.openxmlformats.org/drawingml/2006/main">
              <a:ext uri="{FF2B5EF4-FFF2-40B4-BE49-F238E27FC236}">
                <a16:creationId xmlns:a16="http://schemas.microsoft.com/office/drawing/2014/main" id="{860F500C-B677-4290-86C7-D0A696071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2809875"/>
            <a:ext cx="5524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→</a:t>
            </a:r>
          </a:p>
        </p:txBody>
      </p:sp>
      <p:sp>
        <p:nvSpPr>
          <p:cNvPr id="4" name="phase-0">
            <a:extLst xmlns:a="http://schemas.openxmlformats.org/drawingml/2006/main">
              <a:ext uri="{FF2B5EF4-FFF2-40B4-BE49-F238E27FC236}">
                <a16:creationId xmlns:a16="http://schemas.microsoft.com/office/drawing/2014/main" id="{BC94B2AF-36E1-4783-B4C6-BD316D3B3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247900"/>
            <a:ext cx="2171700" cy="1562100"/>
          </a:xfrm>
          <a:prstGeom xmlns:a="http://schemas.openxmlformats.org/drawingml/2006/main" prst="roundRect">
            <a:avLst>
              <a:gd name="adj" fmla="val 4878"/>
            </a:avLst>
          </a:prstGeom>
          <a:solidFill xmlns:a="http://schemas.openxmlformats.org/drawingml/2006/main">
            <a:srgbClr val="F3F7FC"/>
          </a:solidFill>
          <a:ln xmlns:a="http://schemas.openxmlformats.org/drawingml/2006/main" w="9525">
            <a:solidFill>
              <a:srgbClr val="D5E1F1"/>
            </a:solidFill>
            <a:prstDash val="solid"/>
          </a:ln>
        </p:spPr>
      </p:sp>
      <p:sp>
        <p:nvSpPr>
          <p:cNvPr id="5" name="phase-label-0">
            <a:extLst xmlns:a="http://schemas.openxmlformats.org/drawingml/2006/main">
              <a:ext uri="{FF2B5EF4-FFF2-40B4-BE49-F238E27FC236}">
                <a16:creationId xmlns:a16="http://schemas.microsoft.com/office/drawing/2014/main" id="{39C5A6F7-03C9-4D6D-B141-A6E5D81E1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552700"/>
            <a:ext cx="17907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기준선</a:t>
            </a:r>
          </a:p>
          <a:p xmlns:a="http://schemas.openxmlformats.org/drawingml/2006/main">
            <a:pPr algn="ctr">
              <a:defRPr sz="195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Disabled</a:t>
            </a:r>
          </a:p>
        </p:txBody>
      </p:sp>
      <p:sp>
        <p:nvSpPr>
          <p:cNvPr id="6" name="phase-http-0">
            <a:extLst xmlns:a="http://schemas.openxmlformats.org/drawingml/2006/main">
              <a:ext uri="{FF2B5EF4-FFF2-40B4-BE49-F238E27FC236}">
                <a16:creationId xmlns:a16="http://schemas.microsoft.com/office/drawing/2014/main" id="{A3390EB5-0E0A-402E-96FF-DEB3E3909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333750"/>
            <a:ext cx="1790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HTTP 200</a:t>
            </a:r>
          </a:p>
        </p:txBody>
      </p:sp>
      <p:sp>
        <p:nvSpPr>
          <p:cNvPr id="7" name="arrow-1">
            <a:extLst xmlns:a="http://schemas.openxmlformats.org/drawingml/2006/main">
              <a:ext uri="{FF2B5EF4-FFF2-40B4-BE49-F238E27FC236}">
                <a16:creationId xmlns:a16="http://schemas.microsoft.com/office/drawing/2014/main" id="{B15E3F45-189B-4F0A-AFCA-A25B84067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86425" y="2809875"/>
            <a:ext cx="5524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→</a:t>
            </a:r>
          </a:p>
        </p:txBody>
      </p:sp>
      <p:sp>
        <p:nvSpPr>
          <p:cNvPr id="8" name="phase-1">
            <a:extLst xmlns:a="http://schemas.openxmlformats.org/drawingml/2006/main">
              <a:ext uri="{FF2B5EF4-FFF2-40B4-BE49-F238E27FC236}">
                <a16:creationId xmlns:a16="http://schemas.microsoft.com/office/drawing/2014/main" id="{732115CE-CF9E-4FB2-A163-BDD5AB7B6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2247900"/>
            <a:ext cx="2171700" cy="1562100"/>
          </a:xfrm>
          <a:prstGeom xmlns:a="http://schemas.openxmlformats.org/drawingml/2006/main" prst="roundRect">
            <a:avLst>
              <a:gd name="adj" fmla="val 4878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9525">
            <a:solidFill>
              <a:srgbClr val="155EEF"/>
            </a:solidFill>
            <a:prstDash val="solid"/>
          </a:ln>
        </p:spPr>
      </p:sp>
      <p:sp>
        <p:nvSpPr>
          <p:cNvPr id="9" name="phase-label-1">
            <a:extLst xmlns:a="http://schemas.openxmlformats.org/drawingml/2006/main">
              <a:ext uri="{FF2B5EF4-FFF2-40B4-BE49-F238E27FC236}">
                <a16:creationId xmlns:a16="http://schemas.microsoft.com/office/drawing/2014/main" id="{AE47776E-0448-4ECB-9D4D-0052212D7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2552700"/>
            <a:ext cx="17907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rPr>
              <a:t>활성화</a:t>
            </a:r>
          </a:p>
          <a:p xmlns:a="http://schemas.openxmlformats.org/drawingml/2006/main">
            <a:pPr algn="ctr">
              <a:defRPr sz="1950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rPr>
              <a:t>Enabled</a:t>
            </a:r>
          </a:p>
        </p:txBody>
      </p:sp>
      <p:sp>
        <p:nvSpPr>
          <p:cNvPr id="10" name="phase-http-1">
            <a:extLst xmlns:a="http://schemas.openxmlformats.org/drawingml/2006/main">
              <a:ext uri="{FF2B5EF4-FFF2-40B4-BE49-F238E27FC236}">
                <a16:creationId xmlns:a16="http://schemas.microsoft.com/office/drawing/2014/main" id="{7581C60E-ADCD-486E-8D61-FABF00363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3333750"/>
            <a:ext cx="1790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HTTP 200</a:t>
            </a:r>
          </a:p>
        </p:txBody>
      </p:sp>
      <p:sp>
        <p:nvSpPr>
          <p:cNvPr id="11" name="arrow-2">
            <a:extLst xmlns:a="http://schemas.openxmlformats.org/drawingml/2006/main">
              <a:ext uri="{FF2B5EF4-FFF2-40B4-BE49-F238E27FC236}">
                <a16:creationId xmlns:a16="http://schemas.microsoft.com/office/drawing/2014/main" id="{99B75DAD-D8E3-4AEE-B156-813951EA1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809875"/>
            <a:ext cx="5524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→</a:t>
            </a:r>
          </a:p>
        </p:txBody>
      </p:sp>
      <p:sp>
        <p:nvSpPr>
          <p:cNvPr id="12" name="phase-2">
            <a:extLst xmlns:a="http://schemas.openxmlformats.org/drawingml/2006/main">
              <a:ext uri="{FF2B5EF4-FFF2-40B4-BE49-F238E27FC236}">
                <a16:creationId xmlns:a16="http://schemas.microsoft.com/office/drawing/2014/main" id="{E67802A1-D4C6-4720-B27E-4C73683CB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247900"/>
            <a:ext cx="2171700" cy="1562100"/>
          </a:xfrm>
          <a:prstGeom xmlns:a="http://schemas.openxmlformats.org/drawingml/2006/main" prst="roundRect">
            <a:avLst>
              <a:gd name="adj" fmla="val 4878"/>
            </a:avLst>
          </a:prstGeom>
          <a:solidFill xmlns:a="http://schemas.openxmlformats.org/drawingml/2006/main">
            <a:srgbClr val="F3F7FC"/>
          </a:solidFill>
          <a:ln xmlns:a="http://schemas.openxmlformats.org/drawingml/2006/main" w="9525">
            <a:solidFill>
              <a:srgbClr val="D5E1F1"/>
            </a:solidFill>
            <a:prstDash val="solid"/>
          </a:ln>
        </p:spPr>
      </p:sp>
      <p:sp>
        <p:nvSpPr>
          <p:cNvPr id="13" name="phase-label-2">
            <a:extLst xmlns:a="http://schemas.openxmlformats.org/drawingml/2006/main">
              <a:ext uri="{FF2B5EF4-FFF2-40B4-BE49-F238E27FC236}">
                <a16:creationId xmlns:a16="http://schemas.microsoft.com/office/drawing/2014/main" id="{57737DEE-F66F-4387-95AD-92710C1C9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552700"/>
            <a:ext cx="17907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롤백</a:t>
            </a:r>
          </a:p>
          <a:p xmlns:a="http://schemas.openxmlformats.org/drawingml/2006/main">
            <a:pPr algn="ctr">
              <a:defRPr sz="195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Disabled</a:t>
            </a:r>
          </a:p>
        </p:txBody>
      </p:sp>
      <p:sp>
        <p:nvSpPr>
          <p:cNvPr id="14" name="phase-http-2">
            <a:extLst xmlns:a="http://schemas.openxmlformats.org/drawingml/2006/main">
              <a:ext uri="{FF2B5EF4-FFF2-40B4-BE49-F238E27FC236}">
                <a16:creationId xmlns:a16="http://schemas.microsoft.com/office/drawing/2014/main" id="{43E67CDF-C4C3-48C9-828B-3CD1BA0D6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333750"/>
            <a:ext cx="1790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HTTP 200</a:t>
            </a:r>
          </a:p>
        </p:txBody>
      </p:sp>
      <p:sp>
        <p:nvSpPr>
          <p:cNvPr id="15" name="phase-3">
            <a:extLst xmlns:a="http://schemas.openxmlformats.org/drawingml/2006/main">
              <a:ext uri="{FF2B5EF4-FFF2-40B4-BE49-F238E27FC236}">
                <a16:creationId xmlns:a16="http://schemas.microsoft.com/office/drawing/2014/main" id="{45413C8F-73C1-444E-99DE-D5C2A77BD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6375" y="2247900"/>
            <a:ext cx="2171700" cy="1562100"/>
          </a:xfrm>
          <a:prstGeom xmlns:a="http://schemas.openxmlformats.org/drawingml/2006/main" prst="roundRect">
            <a:avLst>
              <a:gd name="adj" fmla="val 4878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9525">
            <a:solidFill>
              <a:srgbClr val="155EEF"/>
            </a:solidFill>
            <a:prstDash val="solid"/>
          </a:ln>
        </p:spPr>
      </p:sp>
      <p:sp>
        <p:nvSpPr>
          <p:cNvPr id="16" name="phase-label-3">
            <a:extLst xmlns:a="http://schemas.openxmlformats.org/drawingml/2006/main">
              <a:ext uri="{FF2B5EF4-FFF2-40B4-BE49-F238E27FC236}">
                <a16:creationId xmlns:a16="http://schemas.microsoft.com/office/drawing/2014/main" id="{D388AFCC-660D-4CC1-903B-0F8AD9E9D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75" y="2552700"/>
            <a:ext cx="17907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rPr>
              <a:t>최종</a:t>
            </a:r>
          </a:p>
          <a:p xmlns:a="http://schemas.openxmlformats.org/drawingml/2006/main">
            <a:pPr algn="ctr">
              <a:defRPr sz="1950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rPr>
              <a:t>Enabled</a:t>
            </a:r>
          </a:p>
        </p:txBody>
      </p:sp>
      <p:sp>
        <p:nvSpPr>
          <p:cNvPr id="17" name="phase-http-3">
            <a:extLst xmlns:a="http://schemas.openxmlformats.org/drawingml/2006/main">
              <a:ext uri="{FF2B5EF4-FFF2-40B4-BE49-F238E27FC236}">
                <a16:creationId xmlns:a16="http://schemas.microsoft.com/office/drawing/2014/main" id="{DFE92A0D-9599-475E-B252-D3AF6B707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75" y="3333750"/>
            <a:ext cx="1790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HTTP 200</a:t>
            </a:r>
          </a:p>
        </p:txBody>
      </p:sp>
      <p:sp>
        <p:nvSpPr>
          <p:cNvPr id="18" name="integrity-count">
            <a:extLst xmlns:a="http://schemas.openxmlformats.org/drawingml/2006/main">
              <a:ext uri="{FF2B5EF4-FFF2-40B4-BE49-F238E27FC236}">
                <a16:creationId xmlns:a16="http://schemas.microsoft.com/office/drawing/2014/main" id="{8DC938F6-DF81-4876-B6F3-530BA5210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552950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39 users · 117 discussions · 305 posts</a:t>
            </a:r>
          </a:p>
        </p:txBody>
      </p:sp>
      <p:sp>
        <p:nvSpPr>
          <p:cNvPr id="19" name="integrity-hash">
            <a:extLst xmlns:a="http://schemas.openxmlformats.org/drawingml/2006/main">
              <a:ext uri="{FF2B5EF4-FFF2-40B4-BE49-F238E27FC236}">
                <a16:creationId xmlns:a16="http://schemas.microsoft.com/office/drawing/2014/main" id="{AD94B953-C2EA-4B22-B43B-C5A97A47F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238750"/>
            <a:ext cx="1047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078248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078248"/>
                </a:solidFill>
                <a:latin typeface="Malgun Gothic"/>
                <a:ea typeface="Malgun Gothic"/>
                <a:cs typeface="Malgun Gothic"/>
              </a:rPr>
              <a:t>콘텐츠 SHA-256 동일 · 첨부 SHA-256 동일 · 정적 계약 8/8</a:t>
            </a:r>
          </a:p>
        </p:txBody>
      </p:sp>
    </p:spTree>
    <p:extLst>
      <p:ext uri="{BB962C8B-B14F-4D97-AF65-F5344CB8AC3E}">
        <p14:creationId xmlns:p14="http://schemas.microsoft.com/office/powerpoint/2010/main" val="1782787895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title-6">
            <a:extLst xmlns:a="http://schemas.openxmlformats.org/drawingml/2006/main">
              <a:ext uri="{FF2B5EF4-FFF2-40B4-BE49-F238E27FC236}">
                <a16:creationId xmlns:a16="http://schemas.microsoft.com/office/drawing/2014/main" id="{F6FDFB05-57FC-48AE-826C-DCB47E355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4290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Flarum Core를 건드리지 않아 롤백은 확장 하나로 끝납니다</a:t>
            </a:r>
          </a:p>
        </p:txBody>
      </p:sp>
      <p:sp>
        <p:nvSpPr>
          <p:cNvPr id="2" name="page-6">
            <a:extLst xmlns:a="http://schemas.openxmlformats.org/drawingml/2006/main">
              <a:ext uri="{FF2B5EF4-FFF2-40B4-BE49-F238E27FC236}">
                <a16:creationId xmlns:a16="http://schemas.microsoft.com/office/drawing/2014/main" id="{5C57E274-4D6C-4844-BB31-93CBAE013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28650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06</a:t>
            </a:r>
          </a:p>
        </p:txBody>
      </p:sp>
      <p:sp>
        <p:nvSpPr>
          <p:cNvPr id="3" name="flow-arrow-1">
            <a:extLst xmlns:a="http://schemas.openxmlformats.org/drawingml/2006/main">
              <a:ext uri="{FF2B5EF4-FFF2-40B4-BE49-F238E27FC236}">
                <a16:creationId xmlns:a16="http://schemas.microsoft.com/office/drawing/2014/main" id="{3E0F1BD3-91BC-4911-98D6-AB8A210E3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2724150"/>
            <a:ext cx="762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700" b="1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→</a:t>
            </a:r>
          </a:p>
        </p:txBody>
      </p:sp>
      <p:sp>
        <p:nvSpPr>
          <p:cNvPr id="4" name="flow-arrow-2">
            <a:extLst xmlns:a="http://schemas.openxmlformats.org/drawingml/2006/main">
              <a:ext uri="{FF2B5EF4-FFF2-40B4-BE49-F238E27FC236}">
                <a16:creationId xmlns:a16="http://schemas.microsoft.com/office/drawing/2014/main" id="{F8A5AD1C-734D-49D4-8FE5-7FA606305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2724150"/>
            <a:ext cx="762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700" b="1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→</a:t>
            </a:r>
          </a:p>
        </p:txBody>
      </p:sp>
      <p:sp>
        <p:nvSpPr>
          <p:cNvPr id="5" name="flarum-core">
            <a:extLst xmlns:a="http://schemas.openxmlformats.org/drawingml/2006/main">
              <a:ext uri="{FF2B5EF4-FFF2-40B4-BE49-F238E27FC236}">
                <a16:creationId xmlns:a16="http://schemas.microsoft.com/office/drawing/2014/main" id="{E9E250B1-3CB4-4B55-8456-D64E639AB4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76450"/>
            <a:ext cx="3143250" cy="18097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F3F7FC"/>
          </a:solidFill>
          <a:ln xmlns:a="http://schemas.openxmlformats.org/drawingml/2006/main" w="9525">
            <a:solidFill>
              <a:srgbClr val="D5E1F1"/>
            </a:solidFill>
            <a:prstDash val="solid"/>
          </a:ln>
        </p:spPr>
      </p:sp>
      <p:sp>
        <p:nvSpPr>
          <p:cNvPr id="6" name="theme-extension">
            <a:extLst xmlns:a="http://schemas.openxmlformats.org/drawingml/2006/main">
              <a:ext uri="{FF2B5EF4-FFF2-40B4-BE49-F238E27FC236}">
                <a16:creationId xmlns:a16="http://schemas.microsoft.com/office/drawing/2014/main" id="{4B1B960E-9F71-47F5-AB26-FD6C0C360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076450"/>
            <a:ext cx="2971800" cy="18097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9525">
            <a:solidFill>
              <a:srgbClr val="155EEF"/>
            </a:solidFill>
            <a:prstDash val="solid"/>
          </a:ln>
        </p:spPr>
      </p:sp>
      <p:sp>
        <p:nvSpPr>
          <p:cNvPr id="7" name="community-ui">
            <a:extLst xmlns:a="http://schemas.openxmlformats.org/drawingml/2006/main">
              <a:ext uri="{FF2B5EF4-FFF2-40B4-BE49-F238E27FC236}">
                <a16:creationId xmlns:a16="http://schemas.microsoft.com/office/drawing/2014/main" id="{F67E9A45-E075-48E2-A31C-DE312458A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076450"/>
            <a:ext cx="3143250" cy="18097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EAFAF2"/>
          </a:solidFill>
          <a:ln xmlns:a="http://schemas.openxmlformats.org/drawingml/2006/main" w="9525">
            <a:solidFill>
              <a:srgbClr val="86D2AA"/>
            </a:solidFill>
            <a:prstDash val="solid"/>
          </a:ln>
        </p:spPr>
      </p:sp>
      <p:sp>
        <p:nvSpPr>
          <p:cNvPr id="8" name="flarum-core-title">
            <a:extLst xmlns:a="http://schemas.openxmlformats.org/drawingml/2006/main">
              <a:ext uri="{FF2B5EF4-FFF2-40B4-BE49-F238E27FC236}">
                <a16:creationId xmlns:a16="http://schemas.microsoft.com/office/drawing/2014/main" id="{0C55306A-5C92-4B20-8E17-0BC97FFD8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533650"/>
            <a:ext cx="26098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Flarum 1.8.18</a:t>
            </a:r>
          </a:p>
        </p:txBody>
      </p:sp>
      <p:sp>
        <p:nvSpPr>
          <p:cNvPr id="9" name="flarum-core-copy">
            <a:extLst xmlns:a="http://schemas.openxmlformats.org/drawingml/2006/main">
              <a:ext uri="{FF2B5EF4-FFF2-40B4-BE49-F238E27FC236}">
                <a16:creationId xmlns:a16="http://schemas.microsoft.com/office/drawing/2014/main" id="{E042DB5B-3A2A-4A2A-9D87-24A54A9EC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105150"/>
            <a:ext cx="2609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라우팅 · 권한 · 검색 · 작성</a:t>
            </a:r>
          </a:p>
        </p:txBody>
      </p:sp>
      <p:sp>
        <p:nvSpPr>
          <p:cNvPr id="10" name="theme-title">
            <a:extLst xmlns:a="http://schemas.openxmlformats.org/drawingml/2006/main">
              <a:ext uri="{FF2B5EF4-FFF2-40B4-BE49-F238E27FC236}">
                <a16:creationId xmlns:a16="http://schemas.microsoft.com/office/drawing/2014/main" id="{DCDCC8F1-7323-4355-BC1E-F8193C753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2362200"/>
            <a:ext cx="2476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rPr>
              <a:t>ABLESTACK</a:t>
            </a:r>
          </a:p>
          <a:p xmlns:a="http://schemas.openxmlformats.org/drawingml/2006/main">
            <a:pPr algn="ctr">
              <a:defRPr sz="2175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rPr>
              <a:t>Theme</a:t>
            </a:r>
          </a:p>
        </p:txBody>
      </p:sp>
      <p:sp>
        <p:nvSpPr>
          <p:cNvPr id="11" name="theme-copy">
            <a:extLst xmlns:a="http://schemas.openxmlformats.org/drawingml/2006/main">
              <a:ext uri="{FF2B5EF4-FFF2-40B4-BE49-F238E27FC236}">
                <a16:creationId xmlns:a16="http://schemas.microsoft.com/office/drawing/2014/main" id="{729AB971-CC80-4D2E-824A-3C81287C6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32575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LESS · 한글 Cache · 상태 표시</a:t>
            </a:r>
          </a:p>
        </p:txBody>
      </p:sp>
      <p:sp>
        <p:nvSpPr>
          <p:cNvPr id="12" name="ui-title">
            <a:extLst xmlns:a="http://schemas.openxmlformats.org/drawingml/2006/main">
              <a:ext uri="{FF2B5EF4-FFF2-40B4-BE49-F238E27FC236}">
                <a16:creationId xmlns:a16="http://schemas.microsoft.com/office/drawing/2014/main" id="{95D36358-5041-46DF-BB6F-B4697C251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533650"/>
            <a:ext cx="26098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078248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78248"/>
                </a:solidFill>
                <a:latin typeface="Malgun Gothic"/>
                <a:ea typeface="Malgun Gothic"/>
                <a:cs typeface="Malgun Gothic"/>
              </a:rPr>
              <a:t>Community UI</a:t>
            </a:r>
          </a:p>
        </p:txBody>
      </p:sp>
      <p:sp>
        <p:nvSpPr>
          <p:cNvPr id="13" name="ui-copy">
            <a:extLst xmlns:a="http://schemas.openxmlformats.org/drawingml/2006/main">
              <a:ext uri="{FF2B5EF4-FFF2-40B4-BE49-F238E27FC236}">
                <a16:creationId xmlns:a16="http://schemas.microsoft.com/office/drawing/2014/main" id="{CC5A6B57-5BB5-4CAF-9539-A6150BD58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105150"/>
            <a:ext cx="2609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Desktop · Mobile · Accessibility</a:t>
            </a:r>
          </a:p>
        </p:txBody>
      </p:sp>
      <p:sp>
        <p:nvSpPr>
          <p:cNvPr id="14" name="rollback-strip">
            <a:extLst xmlns:a="http://schemas.openxmlformats.org/drawingml/2006/main">
              <a:ext uri="{FF2B5EF4-FFF2-40B4-BE49-F238E27FC236}">
                <a16:creationId xmlns:a16="http://schemas.microsoft.com/office/drawing/2014/main" id="{09DE0CC0-A299-4814-9D5C-844038B58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4781550"/>
            <a:ext cx="7429500" cy="8382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FFF6DF"/>
          </a:solidFill>
          <a:ln xmlns:a="http://schemas.openxmlformats.org/drawingml/2006/main" w="9525">
            <a:solidFill>
              <a:srgbClr val="E4B955"/>
            </a:solidFill>
            <a:prstDash val="solid"/>
          </a:ln>
        </p:spPr>
      </p:sp>
      <p:sp>
        <p:nvSpPr>
          <p:cNvPr id="15" name="rollback-copy">
            <a:extLst xmlns:a="http://schemas.openxmlformats.org/drawingml/2006/main">
              <a:ext uri="{FF2B5EF4-FFF2-40B4-BE49-F238E27FC236}">
                <a16:creationId xmlns:a16="http://schemas.microsoft.com/office/drawing/2014/main" id="{016CDBFE-B9C2-45C0-9CBD-18E9A6711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4991100"/>
            <a:ext cx="68199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9A6700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9A6700"/>
                </a:solidFill>
                <a:latin typeface="Malgun Gothic"/>
                <a:ea typeface="Malgun Gothic"/>
                <a:cs typeface="Malgun Gothic"/>
              </a:rPr>
              <a:t>장애 시 extension:disable → 기본 Flarum UI 복귀</a:t>
            </a:r>
          </a:p>
        </p:txBody>
      </p:sp>
    </p:spTree>
    <p:extLst>
      <p:ext uri="{BB962C8B-B14F-4D97-AF65-F5344CB8AC3E}">
        <p14:creationId xmlns:p14="http://schemas.microsoft.com/office/powerpoint/2010/main" val="155338186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close-kicker">
            <a:extLst xmlns:a="http://schemas.openxmlformats.org/drawingml/2006/main">
              <a:ext uri="{FF2B5EF4-FFF2-40B4-BE49-F238E27FC236}">
                <a16:creationId xmlns:a16="http://schemas.microsoft.com/office/drawing/2014/main" id="{EA8B258C-21B5-43C2-BC02-87C1BA29C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00050"/>
            <a:ext cx="6191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ISSUE #73 · IMPLEMENTATION COMPLETE</a:t>
            </a:r>
          </a:p>
        </p:txBody>
      </p:sp>
      <p:sp>
        <p:nvSpPr>
          <p:cNvPr id="2" name="close-title">
            <a:extLst xmlns:a="http://schemas.openxmlformats.org/drawingml/2006/main">
              <a:ext uri="{FF2B5EF4-FFF2-40B4-BE49-F238E27FC236}">
                <a16:creationId xmlns:a16="http://schemas.microsoft.com/office/drawing/2014/main" id="{2E902BC8-B852-40C5-ACEF-1D799A7C4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600200"/>
            <a:ext cx="66675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480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480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운영 적용만</a:t>
            </a:r>
          </a:p>
          <a:p xmlns:a="http://schemas.openxmlformats.org/drawingml/2006/main">
            <a:pPr algn="l">
              <a:defRPr sz="480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480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승인하면 됩니다</a:t>
            </a:r>
          </a:p>
        </p:txBody>
      </p:sp>
      <p:sp>
        <p:nvSpPr>
          <p:cNvPr id="3" name="close-detail">
            <a:extLst xmlns:a="http://schemas.openxmlformats.org/drawingml/2006/main">
              <a:ext uri="{FF2B5EF4-FFF2-40B4-BE49-F238E27FC236}">
                <a16:creationId xmlns:a16="http://schemas.microsoft.com/office/drawing/2014/main" id="{C9E59AFE-6F29-4A00-B806-74BFCA691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019550"/>
            <a:ext cx="7239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WSL 전체 주기 PASS · 한글 원문 키 0건</a:t>
            </a:r>
          </a:p>
          <a:p xmlns:a="http://schemas.openxmlformats.org/drawingml/2006/main">
            <a:pPr algn="l">
              <a:defRPr sz="210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Core·Vendor·DB·운영 Community 변경 없음</a:t>
            </a:r>
          </a:p>
        </p:txBody>
      </p:sp>
      <p:sp>
        <p:nvSpPr>
          <p:cNvPr id="4" name="close-status">
            <a:extLst xmlns:a="http://schemas.openxmlformats.org/drawingml/2006/main">
              <a:ext uri="{FF2B5EF4-FFF2-40B4-BE49-F238E27FC236}">
                <a16:creationId xmlns:a16="http://schemas.microsoft.com/office/drawing/2014/main" id="{B25A48F7-FCB1-4E07-8674-8BB7D0118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657350"/>
            <a:ext cx="2952750" cy="2952750"/>
          </a:xfrm>
          <a:prstGeom xmlns:a="http://schemas.openxmlformats.org/drawingml/2006/main" prst="roundRect">
            <a:avLst>
              <a:gd name="adj" fmla="val 2581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9525">
            <a:solidFill>
              <a:srgbClr val="155EEF"/>
            </a:solidFill>
            <a:prstDash val="solid"/>
          </a:ln>
        </p:spPr>
      </p:sp>
      <p:sp>
        <p:nvSpPr>
          <p:cNvPr id="5" name="close-go">
            <a:extLst xmlns:a="http://schemas.openxmlformats.org/drawingml/2006/main">
              <a:ext uri="{FF2B5EF4-FFF2-40B4-BE49-F238E27FC236}">
                <a16:creationId xmlns:a16="http://schemas.microsoft.com/office/drawing/2014/main" id="{979D0803-0056-4382-9DC6-47BEBD611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2305050"/>
            <a:ext cx="23050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5100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defRPr>
            </a:pPr>
            <a:r>
              <a:rPr sz="5100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rPr>
              <a:t>GO</a:t>
            </a:r>
          </a:p>
        </p:txBody>
      </p:sp>
      <p:sp>
        <p:nvSpPr>
          <p:cNvPr id="6" name="close-condition">
            <a:extLst xmlns:a="http://schemas.openxmlformats.org/drawingml/2006/main">
              <a:ext uri="{FF2B5EF4-FFF2-40B4-BE49-F238E27FC236}">
                <a16:creationId xmlns:a16="http://schemas.microsoft.com/office/drawing/2014/main" id="{AF090212-A666-4697-AEAF-031F4D98D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3390900"/>
            <a:ext cx="23431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운영 반영 승인 대기</a:t>
            </a:r>
          </a:p>
        </p:txBody>
      </p:sp>
      <p:sp>
        <p:nvSpPr>
          <p:cNvPr id="7" name="close-next">
            <a:extLst xmlns:a="http://schemas.openxmlformats.org/drawingml/2006/main">
              <a:ext uri="{FF2B5EF4-FFF2-40B4-BE49-F238E27FC236}">
                <a16:creationId xmlns:a16="http://schemas.microsoft.com/office/drawing/2014/main" id="{D2680D33-56AB-466A-B17D-FDDA9792D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5626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78248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078248"/>
                </a:solidFill>
                <a:latin typeface="Malgun Gothic"/>
                <a:ea typeface="Malgun Gothic"/>
                <a:cs typeface="Malgun Gothic"/>
              </a:rPr>
              <a:t>다음: 백업 → 테마 적용 → Desktop/Mobile Smoke → 해시 비교</a:t>
            </a:r>
          </a:p>
        </p:txBody>
      </p:sp>
    </p:spTree>
    <p:extLst>
      <p:ext uri="{BB962C8B-B14F-4D97-AF65-F5344CB8AC3E}">
        <p14:creationId xmlns:p14="http://schemas.microsoft.com/office/powerpoint/2010/main" val="83693339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2026-08-18T08:04:15.9120000Z</dcterms:created>
  <dcterms:modified xsi:type="dcterms:W3CDTF">2026-08-18T08:04:15.9120000Z</dcterms:modified>
</coreProperties>
</file>