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07bb495954400c" /><Relationship Type="http://schemas.openxmlformats.org/officeDocument/2006/relationships/extended-properties" Target="/docProps/app.xml" Id="R360b06eeb4ee4781" /><Relationship Type="http://schemas.openxmlformats.org/officeDocument/2006/relationships/officeDocument" Target="/ppt/presentation.xml" Id="R630d73f5705d4c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c0375924854994"/>
  </p:sldMasterIdLst>
  <p:notesMasterIdLst>
    <p:notesMasterId xmlns:r="http://schemas.openxmlformats.org/officeDocument/2006/relationships" r:id="R0fffcc0691b64a5c"/>
  </p:notesMasterIdLst>
  <p:sldIdLst>
    <p:sldId xmlns:r="http://schemas.openxmlformats.org/officeDocument/2006/relationships" id="256" r:id="R9e540e04d21d4913"/>
    <p:sldId xmlns:r="http://schemas.openxmlformats.org/officeDocument/2006/relationships" id="257" r:id="R0b6f4dd3b9884998"/>
    <p:sldId xmlns:r="http://schemas.openxmlformats.org/officeDocument/2006/relationships" id="258" r:id="R9bb15005476342ec"/>
    <p:sldId xmlns:r="http://schemas.openxmlformats.org/officeDocument/2006/relationships" id="259" r:id="R02700428819046a3"/>
    <p:sldId xmlns:r="http://schemas.openxmlformats.org/officeDocument/2006/relationships" id="260" r:id="R7e825ae95feb416c"/>
    <p:sldId xmlns:r="http://schemas.openxmlformats.org/officeDocument/2006/relationships" id="261" r:id="Rec9d358cca7b4d73"/>
    <p:sldId xmlns:r="http://schemas.openxmlformats.org/officeDocument/2006/relationships" id="262" r:id="Ra789c3ee7d604f79"/>
    <p:sldId xmlns:r="http://schemas.openxmlformats.org/officeDocument/2006/relationships" id="263" r:id="Rbdf2ae789eee44e0"/>
    <p:sldId xmlns:r="http://schemas.openxmlformats.org/officeDocument/2006/relationships" id="264" r:id="Rd5358b5ce1fc4c14"/>
    <p:sldId xmlns:r="http://schemas.openxmlformats.org/officeDocument/2006/relationships" id="265" r:id="R754c9374409d40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21408086b14d03" /><Relationship Type="http://schemas.openxmlformats.org/officeDocument/2006/relationships/slideMaster" Target="/ppt/slideMasters/slideMaster1.xml" Id="R07c0375924854994" /><Relationship Type="http://schemas.openxmlformats.org/officeDocument/2006/relationships/notesMaster" Target="/ppt/notesMasters/notesMaster1.xml" Id="R0fffcc0691b64a5c" /><Relationship Type="http://schemas.openxmlformats.org/officeDocument/2006/relationships/presProps" Target="/ppt/presProps.xml" Id="R0f7fcb815baf4189" /><Relationship Type="http://schemas.openxmlformats.org/officeDocument/2006/relationships/tableStyles" Target="/ppt/tableStyles.xml" Id="Raaff3c23ad514d46" /><Relationship Type="http://schemas.openxmlformats.org/officeDocument/2006/relationships/slide" Target="/ppt/slides/slide1.xml" Id="R9e540e04d21d4913" /><Relationship Type="http://schemas.openxmlformats.org/officeDocument/2006/relationships/slide" Target="/ppt/slides/slide2.xml" Id="R0b6f4dd3b9884998" /><Relationship Type="http://schemas.openxmlformats.org/officeDocument/2006/relationships/slide" Target="/ppt/slides/slide3.xml" Id="R9bb15005476342ec" /><Relationship Type="http://schemas.openxmlformats.org/officeDocument/2006/relationships/slide" Target="/ppt/slides/slide4.xml" Id="R02700428819046a3" /><Relationship Type="http://schemas.openxmlformats.org/officeDocument/2006/relationships/slide" Target="/ppt/slides/slide5.xml" Id="R7e825ae95feb416c" /><Relationship Type="http://schemas.openxmlformats.org/officeDocument/2006/relationships/slide" Target="/ppt/slides/slide6.xml" Id="Rec9d358cca7b4d73" /><Relationship Type="http://schemas.openxmlformats.org/officeDocument/2006/relationships/slide" Target="/ppt/slides/slide7.xml" Id="Ra789c3ee7d604f79" /><Relationship Type="http://schemas.openxmlformats.org/officeDocument/2006/relationships/slide" Target="/ppt/slides/slide8.xml" Id="Rbdf2ae789eee44e0" /><Relationship Type="http://schemas.openxmlformats.org/officeDocument/2006/relationships/slide" Target="/ppt/slides/slide9.xml" Id="Rd5358b5ce1fc4c14" /><Relationship Type="http://schemas.openxmlformats.org/officeDocument/2006/relationships/slide" Target="/ppt/slides/slide10.xml" Id="R754c9374409d40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d8b0fdf1534d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94dcf88e194ab1" /><Relationship Type="http://schemas.openxmlformats.org/officeDocument/2006/relationships/notesMaster" Target="/ppt/notesMasters/notesMaster1.xml" Id="Rcdc1953b3f1948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fe982020cf4007" /><Relationship Type="http://schemas.openxmlformats.org/officeDocument/2006/relationships/notesMaster" Target="/ppt/notesMasters/notesMaster1.xml" Id="R52d263a46f6f44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7f83135e5147ef" /><Relationship Type="http://schemas.openxmlformats.org/officeDocument/2006/relationships/notesMaster" Target="/ppt/notesMasters/notesMaster1.xml" Id="R9a318c60a69048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da333317374170" /><Relationship Type="http://schemas.openxmlformats.org/officeDocument/2006/relationships/notesMaster" Target="/ppt/notesMasters/notesMaster1.xml" Id="R82880cc49c5343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7af28df6f8428e" /><Relationship Type="http://schemas.openxmlformats.org/officeDocument/2006/relationships/notesMaster" Target="/ppt/notesMasters/notesMaster1.xml" Id="R42c7143b94444f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b4c81559204692" /><Relationship Type="http://schemas.openxmlformats.org/officeDocument/2006/relationships/notesMaster" Target="/ppt/notesMasters/notesMaster1.xml" Id="R0c9597564f8346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eafa2e89de4964" /><Relationship Type="http://schemas.openxmlformats.org/officeDocument/2006/relationships/notesMaster" Target="/ppt/notesMasters/notesMaster1.xml" Id="R43c14bc9917746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5aa2d7c2284b8e" /><Relationship Type="http://schemas.openxmlformats.org/officeDocument/2006/relationships/notesMaster" Target="/ppt/notesMasters/notesMaster1.xml" Id="R72ba202cb6074d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fe0b4bfd83472a" /><Relationship Type="http://schemas.openxmlformats.org/officeDocument/2006/relationships/notesMaster" Target="/ppt/notesMasters/notesMaster1.xml" Id="Rbe95939ab20c41c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c7210676564655" /><Relationship Type="http://schemas.openxmlformats.org/officeDocument/2006/relationships/notesMaster" Target="/ppt/notesMasters/notesMaster1.xml" Id="R7bd1023be8b94d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 #16은 PostgreSQL·Redis 상태를 무중단 백업하고 운영과 분리된 환경에 복원해 실제 복구 가능성을 검증한 작업입니다.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docs/adr/0003-techflow-state-backup-recovery.md</a:t>
            </a:r>
          </a:p>
          <a:p xmlns:a="http://schemas.openxmlformats.org/drawingml/2006/main">
            <a:r>
              <a:t>- docs/decisions/techflow-backup-recovery.json</a:t>
            </a:r>
          </a:p>
          <a:p xmlns:a="http://schemas.openxmlformats.org/drawingml/2006/main">
            <a:r>
              <a:t>- docs/reports/issue-16-backup-recovery-validation.md</a:t>
            </a:r>
          </a:p>
          <a:p xmlns:a="http://schemas.openxmlformats.org/drawingml/2006/main">
            <a:r>
              <a:t>- docs/runbooks/state-backup-recovery.md</a:t>
            </a:r>
          </a:p>
          <a:p xmlns:a="http://schemas.openxmlformats.org/drawingml/2006/main">
            <a:r>
              <a:t>- https://github.com/ablecloud-team/ablestack-techflow/issues/16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복구는 40초에 완료됐고 운영 컨테이너와 6개 서비스 Health가 유지됐습니다.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docs/adr/0003-techflow-state-backup-recovery.md</a:t>
            </a:r>
          </a:p>
          <a:p xmlns:a="http://schemas.openxmlformats.org/drawingml/2006/main">
            <a:r>
              <a:t>- docs/decisions/techflow-backup-recovery.json</a:t>
            </a:r>
          </a:p>
          <a:p xmlns:a="http://schemas.openxmlformats.org/drawingml/2006/main">
            <a:r>
              <a:t>- docs/reports/issue-16-backup-recovery-validation.md</a:t>
            </a:r>
          </a:p>
          <a:p xmlns:a="http://schemas.openxmlformats.org/drawingml/2006/main">
            <a:r>
              <a:t>- docs/runbooks/state-backup-recovery.md</a:t>
            </a:r>
          </a:p>
          <a:p xmlns:a="http://schemas.openxmlformats.org/drawingml/2006/main">
            <a:r>
              <a:t>- https://github.com/ablecloud-team/ablestack-techflow/issues/16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상태 Archive, 격리 복구 환경과 Secret Escrow를 서로 다른 보안 경계로 분리했습니다.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docs/adr/0003-techflow-state-backup-recovery.md</a:t>
            </a:r>
          </a:p>
          <a:p xmlns:a="http://schemas.openxmlformats.org/drawingml/2006/main">
            <a:r>
              <a:t>- docs/decisions/techflow-backup-recovery.json</a:t>
            </a:r>
          </a:p>
          <a:p xmlns:a="http://schemas.openxmlformats.org/drawingml/2006/main">
            <a:r>
              <a:t>- docs/reports/issue-16-backup-recovery-validation.md</a:t>
            </a:r>
          </a:p>
          <a:p xmlns:a="http://schemas.openxmlformats.org/drawingml/2006/main">
            <a:r>
              <a:t>- docs/runbooks/state-backup-recovery.md</a:t>
            </a:r>
          </a:p>
          <a:p xmlns:a="http://schemas.openxmlformats.org/drawingml/2006/main">
            <a:r>
              <a:t>- https://github.com/ablecloud-team/ablestack-techflow/issues/16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파일 생성만으로 성공을 인정하지 않고 Snapshot 무결성, Probe, 운영 Health와 정리까지 판정합니다.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docs/adr/0003-techflow-state-backup-recovery.md</a:t>
            </a:r>
          </a:p>
          <a:p xmlns:a="http://schemas.openxmlformats.org/drawingml/2006/main">
            <a:r>
              <a:t>- docs/decisions/techflow-backup-recovery.json</a:t>
            </a:r>
          </a:p>
          <a:p xmlns:a="http://schemas.openxmlformats.org/drawingml/2006/main">
            <a:r>
              <a:t>- docs/reports/issue-16-backup-recovery-validation.md</a:t>
            </a:r>
          </a:p>
          <a:p xmlns:a="http://schemas.openxmlformats.org/drawingml/2006/main">
            <a:r>
              <a:t>- docs/runbooks/state-backup-recovery.md</a:t>
            </a:r>
          </a:p>
          <a:p xmlns:a="http://schemas.openxmlformats.org/drawingml/2006/main">
            <a:r>
              <a:t>- https://github.com/ablecloud-team/ablestack-techflow/issues/16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Probe 기록부터 Backup, Restore, 성공 판정과 정리를 하나의 Runbook으로 반복합니다.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docs/adr/0003-techflow-state-backup-recovery.md</a:t>
            </a:r>
          </a:p>
          <a:p xmlns:a="http://schemas.openxmlformats.org/drawingml/2006/main">
            <a:r>
              <a:t>- docs/decisions/techflow-backup-recovery.json</a:t>
            </a:r>
          </a:p>
          <a:p xmlns:a="http://schemas.openxmlformats.org/drawingml/2006/main">
            <a:r>
              <a:t>- docs/reports/issue-16-backup-recovery-validation.md</a:t>
            </a:r>
          </a:p>
          <a:p xmlns:a="http://schemas.openxmlformats.org/drawingml/2006/main">
            <a:r>
              <a:t>- docs/runbooks/state-backup-recovery.md</a:t>
            </a:r>
          </a:p>
          <a:p xmlns:a="http://schemas.openxmlformats.org/drawingml/2006/main">
            <a:r>
              <a:t>- https://github.com/ablecloud-team/ablestack-techflow/issues/16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격리 복구는 내부 Network와 임시 Volume만 사용하며 운영 Volume이나 공개 Port를 사용하지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docs/adr/0003-techflow-state-backup-recovery.md</a:t>
            </a:r>
          </a:p>
          <a:p xmlns:a="http://schemas.openxmlformats.org/drawingml/2006/main">
            <a:r>
              <a:t>- docs/decisions/techflow-backup-recovery.json</a:t>
            </a:r>
          </a:p>
          <a:p xmlns:a="http://schemas.openxmlformats.org/drawingml/2006/main">
            <a:r>
              <a:t>- docs/reports/issue-16-backup-recovery-validation.md</a:t>
            </a:r>
          </a:p>
          <a:p xmlns:a="http://schemas.openxmlformats.org/drawingml/2006/main">
            <a:r>
              <a:t>- docs/runbooks/state-backup-recovery.md</a:t>
            </a:r>
          </a:p>
          <a:p xmlns:a="http://schemas.openxmlformats.org/drawingml/2006/main">
            <a:r>
              <a:t>- https://github.com/ablecloud-team/ablestack-techflow/issues/16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정기 실행, 양쪽 저장소 복원, 보안과 회귀를 포함한 15개 검증을 통과했습니다.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docs/adr/0003-techflow-state-backup-recovery.md</a:t>
            </a:r>
          </a:p>
          <a:p xmlns:a="http://schemas.openxmlformats.org/drawingml/2006/main">
            <a:r>
              <a:t>- docs/decisions/techflow-backup-recovery.json</a:t>
            </a:r>
          </a:p>
          <a:p xmlns:a="http://schemas.openxmlformats.org/drawingml/2006/main">
            <a:r>
              <a:t>- docs/reports/issue-16-backup-recovery-validation.md</a:t>
            </a:r>
          </a:p>
          <a:p xmlns:a="http://schemas.openxmlformats.org/drawingml/2006/main">
            <a:r>
              <a:t>- docs/runbooks/state-backup-recovery.md</a:t>
            </a:r>
          </a:p>
          <a:p xmlns:a="http://schemas.openxmlformats.org/drawingml/2006/main">
            <a:r>
              <a:t>- https://github.com/ablecloud-team/ablestack-techflow/issues/16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ADR, 코드, Systemd, Runbook, JSON, PDF, PPTX와 Manifest를 일관된 자산으로 관리합니다.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docs/adr/0003-techflow-state-backup-recovery.md</a:t>
            </a:r>
          </a:p>
          <a:p xmlns:a="http://schemas.openxmlformats.org/drawingml/2006/main">
            <a:r>
              <a:t>- docs/decisions/techflow-backup-recovery.json</a:t>
            </a:r>
          </a:p>
          <a:p xmlns:a="http://schemas.openxmlformats.org/drawingml/2006/main">
            <a:r>
              <a:t>- docs/reports/issue-16-backup-recovery-validation.md</a:t>
            </a:r>
          </a:p>
          <a:p xmlns:a="http://schemas.openxmlformats.org/drawingml/2006/main">
            <a:r>
              <a:t>- docs/runbooks/state-backup-recovery.md</a:t>
            </a:r>
          </a:p>
          <a:p xmlns:a="http://schemas.openxmlformats.org/drawingml/2006/main">
            <a:r>
              <a:t>- https://github.com/ablecloud-team/ablestack-techflow/issues/16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다음 단계는 Issue #17 관측 체계, Issue #18 버전 정책과 Issue #19 첫 업무 Flow입니다.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docs/adr/0003-techflow-state-backup-recovery.md</a:t>
            </a:r>
          </a:p>
          <a:p xmlns:a="http://schemas.openxmlformats.org/drawingml/2006/main">
            <a:r>
              <a:t>- docs/decisions/techflow-backup-recovery.json</a:t>
            </a:r>
          </a:p>
          <a:p xmlns:a="http://schemas.openxmlformats.org/drawingml/2006/main">
            <a:r>
              <a:t>- docs/reports/issue-16-backup-recovery-validation.md</a:t>
            </a:r>
          </a:p>
          <a:p xmlns:a="http://schemas.openxmlformats.org/drawingml/2006/main">
            <a:r>
              <a:t>- docs/runbooks/state-backup-recovery.md</a:t>
            </a:r>
          </a:p>
          <a:p xmlns:a="http://schemas.openxmlformats.org/drawingml/2006/main">
            <a:r>
              <a:t>- https://github.com/ablecloud-team/ablestack-techflow/issues/16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 #16은 상태 백업과 격리 복구를 운영 가능한 기준으로 확정한 상태로 종료합니다.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docs/adr/0003-techflow-state-backup-recovery.md</a:t>
            </a:r>
          </a:p>
          <a:p xmlns:a="http://schemas.openxmlformats.org/drawingml/2006/main">
            <a:r>
              <a:t>- docs/decisions/techflow-backup-recovery.json</a:t>
            </a:r>
          </a:p>
          <a:p xmlns:a="http://schemas.openxmlformats.org/drawingml/2006/main">
            <a:r>
              <a:t>- docs/reports/issue-16-backup-recovery-validation.md</a:t>
            </a:r>
          </a:p>
          <a:p xmlns:a="http://schemas.openxmlformats.org/drawingml/2006/main">
            <a:r>
              <a:t>- docs/runbooks/state-backup-recovery.md</a:t>
            </a:r>
          </a:p>
          <a:p xmlns:a="http://schemas.openxmlformats.org/drawingml/2006/main">
            <a:r>
              <a:t>- https://github.com/ablecloud-team/ablestack-techflow/issues/16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d97a7b931849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e2b972b1784e26" /><Relationship Type="http://schemas.openxmlformats.org/officeDocument/2006/relationships/slideLayout" Target="/ppt/slideLayouts/slideLayout1.xml" Id="R3a2ab2b23f9442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2ab2b23f9442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0e0028de3f44a8" /><Relationship Type="http://schemas.openxmlformats.org/officeDocument/2006/relationships/notesSlide" Target="/ppt/notesSlides/notesSlide1.xml" Id="R03d664ba644946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876218cd24da0" /><Relationship Type="http://schemas.openxmlformats.org/officeDocument/2006/relationships/notesSlide" Target="/ppt/notesSlides/notesSlide2.xml" Id="Rc57335b464a746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29ba41fd844b4" /><Relationship Type="http://schemas.openxmlformats.org/officeDocument/2006/relationships/notesSlide" Target="/ppt/notesSlides/notesSlide3.xml" Id="R941a564b1ad54d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24671965f4165" /><Relationship Type="http://schemas.openxmlformats.org/officeDocument/2006/relationships/notesSlide" Target="/ppt/notesSlides/notesSlide4.xml" Id="R19a746c487c040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917531a8847df" /><Relationship Type="http://schemas.openxmlformats.org/officeDocument/2006/relationships/notesSlide" Target="/ppt/notesSlides/notesSlide5.xml" Id="R90c9b788ada646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40c4c2425d432d" /><Relationship Type="http://schemas.openxmlformats.org/officeDocument/2006/relationships/notesSlide" Target="/ppt/notesSlides/notesSlide6.xml" Id="Rf256037fefb640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6cf9428d94985" /><Relationship Type="http://schemas.openxmlformats.org/officeDocument/2006/relationships/notesSlide" Target="/ppt/notesSlides/notesSlide7.xml" Id="R179ade50cb6744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39b384128483f" /><Relationship Type="http://schemas.openxmlformats.org/officeDocument/2006/relationships/notesSlide" Target="/ppt/notesSlides/notesSlide8.xml" Id="R7895db649d3a40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4c3867911d41d5" /><Relationship Type="http://schemas.openxmlformats.org/officeDocument/2006/relationships/notesSlide" Target="/ppt/notesSlides/notesSlide9.xml" Id="Rf78b36d6e4c04c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13a3fb2a3473b" /><Relationship Type="http://schemas.openxmlformats.org/officeDocument/2006/relationships/notesSlide" Target="/ppt/notesSlides/notesSlide10.xml" Id="R19d135748198452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EE9FD-B18E-4ED0-B668-360621E5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"/>
            <a:ext cx="666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ABLESTACK TECHFLOW · ISSUE #16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944CD-7DA2-491C-A6BF-B83C8FF9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99060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4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상태 백업·복구</a:t>
            </a:r>
          </a:p>
          <a:p xmlns:a="http://schemas.openxmlformats.org/drawingml/2006/main">
            <a:pPr algn="l">
              <a:buNone/>
              <a:defRPr sz="54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BFD25-2D6B-457D-B7B8-680BFD6C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95825"/>
            <a:ext cx="819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PostgreSQL·Redis 무중단 백업과 운영 비영향 격리 복구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C5CC3-4548-4957-A10A-8A1E025F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6CBF99-3C39-44A2-9B41-95CE9174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Ubuntu 24.04 · Activepieces 0.86.3 · 2026-07-31</a:t>
            </a:r>
          </a:p>
        </p:txBody>
      </p:sp>
    </p:spTree>
    <p:extLst>
      <p:ext uri="{BB962C8B-B14F-4D97-AF65-F5344CB8AC3E}">
        <p14:creationId xmlns:p14="http://schemas.microsoft.com/office/powerpoint/2010/main" val="65430769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26C80-8258-4D6A-82CF-63E00669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결과: 운영을 멈추지 않고 40초 안에 복구했습니다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6CBBAD-755E-4BED-88B4-8D1C8638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6698B-69EF-4F89-8B93-5BD14942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144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실제 PostgreSQL·Redis Snapshot을 별도 Network·Volume·Container에 복원하고 운영 상태가 유지되는지 확인했습니다.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58E16-608A-48ED-AA88-BFED3412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54483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A4724-CF48-4AB9-8D24-F541919E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48577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정기 백업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05CF1-33BC-448D-A972-4B67554B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4762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매일 02:30 UTC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정기 7일 보존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SHA-256 검증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BB472-D9B1-44A3-90D9-9B270D96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55435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E17DCE-2760-41ED-BF57-EED6E714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447925"/>
            <a:ext cx="4953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격리 복구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2CAA6-CDCD-4107-8E72-AA26C6A3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962275"/>
            <a:ext cx="4857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공개 Port 0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운영 Container 유지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임시 자원 자동 정리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C6B94D-D42E-45E0-B300-E7C9F40A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113919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9A8170-C91A-4450-9DEF-D6D05BC5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52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최종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8A07A-45E4-4C8B-A23B-70FF6612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7251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RTO 40초  |  15 Controls PASS  |  6 Services Healthy  |  HTTPS 200</a:t>
            </a:r>
          </a:p>
        </p:txBody>
      </p:sp>
    </p:spTree>
    <p:extLst>
      <p:ext uri="{BB962C8B-B14F-4D97-AF65-F5344CB8AC3E}">
        <p14:creationId xmlns:p14="http://schemas.microsoft.com/office/powerpoint/2010/main" val="1232201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CBC855-FE48-4C34-8587-52A8E0F4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백업·복구·Secret을 서로 다른 경계로 분리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664BC-95C4-4AB7-BBCC-AD1E3DFA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602DC-081D-40AE-B4AC-58723F83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상태 Archive는 데이터만 담고, 복구 환경은 운영과 분리하며, 암호화 Root는 별도 Escrow로 보호합니다.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1D7C6-C014-4F27-954B-3996BF5C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3429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7A265-89AE-490A-B266-99E6C75E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666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E9AD0-110D-416A-85B0-D4433B64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667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State Backup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A83EF-7A21-4345-86D8-C27B2C0A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7241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PostgreSQL Dump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Redis RDB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Manifest · SHA-256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Secret 원문 제외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26769-5142-496B-8B93-996B1968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28800"/>
            <a:ext cx="3429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CE8E6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6FA64C-AEC6-4716-8638-407E6760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76450"/>
            <a:ext cx="666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A52714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12F2A-6379-4C2C-9C66-3A746CE6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86050"/>
            <a:ext cx="2667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Recovery Drill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9C59BF-A641-421B-BA00-818D3CC6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19450"/>
            <a:ext cx="27241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Internal Network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Temporary Volumes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Probe Verification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Automatic Cleanup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2CF8CC-A0D1-497B-B167-65A37778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28800"/>
            <a:ext cx="3429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77852E-5627-43FE-9C74-E70CFC82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666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8A5A00"/>
                </a:solidFill>
                <a:latin typeface="Malgun Gothic"/>
                <a:ea typeface="Malgun Gothic"/>
                <a:cs typeface="Malgun Gothic"/>
              </a:defRPr>
            </a:pPr>
            <a: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9E73ED-3AB1-4358-94F8-0B27A955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86050"/>
            <a:ext cx="2667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Secret Escrow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1C6B0D-C121-4580-9D53-3FD2BAC5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19450"/>
            <a:ext cx="27241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OpenPGP AES-256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Passphrase 분리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격리 복호화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운영 원본 미변경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2DCD6-27F9-488B-9D11-2F581B7E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876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운영 자산  |  ADR-0003 · Backup Timer · Recovery Drill · Secret Escrow · Runbook</a:t>
            </a:r>
          </a:p>
        </p:txBody>
      </p:sp>
    </p:spTree>
    <p:extLst>
      <p:ext uri="{BB962C8B-B14F-4D97-AF65-F5344CB8AC3E}">
        <p14:creationId xmlns:p14="http://schemas.microsoft.com/office/powerpoint/2010/main" val="63913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BA5AF-24B4-4EE4-8654-5B8C2D7B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복구 성공은 파일 생성이 아니라 재사용 가능성으로 판정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4AA26-8423-42C4-BC3C-16269DD4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13D8B-234D-4223-A8D6-C9186B48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144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Snapshot 무결성, 격리 복원, Probe 일치, 운영 Health와 임시 자원 정리까지 모두 통과해야 합니다.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00050" y="1714500"/>
          <a:ext xmlns:a="http://schemas.openxmlformats.org/drawingml/2006/main" cx="11401425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2095500"/>
                <a:gridCol w="2095500"/>
                <a:gridCol w="4162425"/>
              </a:tblGrid>
              <a:tr h="449792">
                <a:tc>
                  <a:txBody>
                    <a:bodyPr/>
                    <a:lstStyle/>
                    <a:p>
                      <a:r>
                        <a:t>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대상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성공 기준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결과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B1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PostgreSQL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Dump · SHA-256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B2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Redis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RDB Load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B3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Archive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Secret 없음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R1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PG Restore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80 · Probe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R2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Redis Restore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RDB · Probe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R3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Isolation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Port 0 · ID 유지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S1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Escrow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AES256 · Hash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O1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Runtime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6 Health · 200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64AA2-FF16-42A9-BD86-FD450E49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628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80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PostgreSQL과 Redis는 각각 일관된 Snapshot이며 두 저장소의 분산 트랜잭션 시점은 보장하지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2112501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5721FF-CBD3-4FB9-8A80-F18837A1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Backup부터 운영 재확인까지 하나의 Runbook으로 반복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B0C49-F38A-4701-B999-C71EC515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95118E-F8F7-4005-ACD4-7B9BFB3E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자동화는 운영 Volume을 덮어쓰지 않고 단계별 실패 조건과 정리 정책을 명시합니다.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D74B3-6D4E-4D93-9054-CD4BB628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6E615-FC1C-45CF-BBA7-53C895FC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E9480-24BD-4E6D-A42C-144C2CBB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7167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Probe 기록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8A11F-4691-4309-8866-E7D42C0A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9072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D9D53-B09F-49A8-BEA8-FF308564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0030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DB · Redis 동일 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22FF2-130D-41DF-92AE-CFBB8D54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6212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60C40-1268-4A79-B569-92A671F6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7167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EC27C5-52E4-469A-9214-4722D8F3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7167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Snapshot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F00EE8-077A-416E-A45A-57170A7B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99072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Backup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D02B2C-B9D7-43A7-962A-089E5B55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pg_dump · Redis RDB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FFD58A-4EBC-4882-BF43-63AA0381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98087B-0CDF-41D7-A2A8-81BA2DC2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D807BD-D4CE-480C-88C9-E8DC6C70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52800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무결성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9996CB-AF8C-4ED5-8D4B-D500B902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71850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Verify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85FBCB-7087-44F0-90DA-7B8096E9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81425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Manifest · SHA-256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A26FF0-631A-4632-9B98-9EF52ACF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43250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39721A-2506-49B0-9ECF-7FFAC4AF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671A61-A324-4E03-B4E6-3E65FE98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52800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격리 복원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3263D7-2E15-4E36-9D67-3BBB3E1F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371850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Restore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13BD74-3239-4178-BE7E-65C3FC3E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81425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Internal Network · Volumes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0B9494-4048-41F4-BD88-733168E3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2437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350F23-693D-49D4-AC62-07D2BE0A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3392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4BEED3-5EB1-4A82-89ED-46F266C8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3392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성공 판정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B73802-9A68-40D9-AC88-9DF3EBA2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5297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Probe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84701E-DDC2-4FA9-88BE-B4F02663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6255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Table · RDB · Same ID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4E5CE8-458E-43EF-9496-8BBEFA15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2437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0CF8EB-742B-4543-9133-C7A746A8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3392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1245E4-F803-4DEF-9F07-509E1184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3392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정리·운영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C30563-09C0-48AA-8B63-2A539C37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75297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Cleanup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F9512A-0BA0-4AD7-80F1-0C115547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6255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0 Resources · Health</a:t>
            </a:r>
          </a:p>
        </p:txBody>
      </p:sp>
    </p:spTree>
    <p:extLst>
      <p:ext uri="{BB962C8B-B14F-4D97-AF65-F5344CB8AC3E}">
        <p14:creationId xmlns:p14="http://schemas.microsoft.com/office/powerpoint/2010/main" val="13665578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0D67D5-DF5D-4C54-A9DB-DB36EC76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복구 데이터는 운영과 만나는 지점이 없습니다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6BC46-26B6-46EB-900E-B07A8578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8F9CA-F2A9-4C4B-8C43-E307E88A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Archive 검증 후 내부 전용 Docker 환경에만 복원하고 공개 Port 없이 Probe·Health를 확인한 뒤 모두 제거합니다.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12F46-6B83-4CA2-B65A-C42B676D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971800"/>
            <a:ext cx="933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92168-0D3E-4A4A-81C6-50F01DEE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71800"/>
            <a:ext cx="933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7AFE3-78E6-4F1B-909C-60B967DB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71800"/>
            <a:ext cx="933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03CC4-EB2E-4AD5-84F6-5B0BD7C8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6240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8513D-1A21-4D46-AC8A-E06DF140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009775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819D05-A8AE-41A2-BA6B-24EF7267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62225"/>
            <a:ext cx="152400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운영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40DCE-952F-4D36-9539-9A4CFDCC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71800"/>
            <a:ext cx="1524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PostgreSQL · Redis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Container ID 유지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서비스 중단 없음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73FE3F-964B-47BF-BAF0-BD919A1E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133600"/>
            <a:ext cx="2486025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732925-205D-4C6B-B9F4-C056E9FD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00300"/>
            <a:ext cx="19716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Backup Archive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C72E7-69D4-4461-BB9C-F3F73121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43225"/>
            <a:ext cx="19716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Custom Dump · RDB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Checksum · Secret 제외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1A758D-F54E-4582-B39B-C63D8A19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24100"/>
            <a:ext cx="24574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3FAFE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4CE148-F724-41B0-B2C8-13F09CFB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62225"/>
            <a:ext cx="194310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Isolated Restore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419741-F93E-4D62-96B5-5E2622AC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48000"/>
            <a:ext cx="1943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Internal Network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Temporary Volumes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62E193-A908-4283-979F-BE84CCE9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324100"/>
            <a:ext cx="16383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73DF87-4D18-4EED-8126-34A160E3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562225"/>
            <a:ext cx="1200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Verification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1B645D-6E3D-4960-AD8F-0FA3ABBF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0"/>
            <a:ext cx="1200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95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Table · RDB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Cross-store Probe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7C9691-B7B3-41CD-93B5-D1F19F42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2838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CCBC8D-4988-4E14-91B7-D00BA373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76800"/>
            <a:ext cx="230505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Decision 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1F2154-C9C2-4C9D-B6C4-E3C593E0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19700"/>
            <a:ext cx="2305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RTO ≤ 15분 → Health PASS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0A97FF-BCB4-4EBE-8899-AE06B3A1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6720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운영 경계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D55353-EEE1-4B7C-AD47-E7D1FA61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6720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복구 경계</a:t>
            </a:r>
          </a:p>
        </p:txBody>
      </p:sp>
    </p:spTree>
    <p:extLst>
      <p:ext uri="{BB962C8B-B14F-4D97-AF65-F5344CB8AC3E}">
        <p14:creationId xmlns:p14="http://schemas.microsoft.com/office/powerpoint/2010/main" val="11649119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A5577D-4871-4696-B5A7-EDECB634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백업·복원·보안 15개 검증을 통과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F56C6-093F-49C2-B564-6EE7CF04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4C9D8-F2AC-4C28-A23A-0700C123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3524250" cy="358140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79AE6-143F-4E8F-9710-3340A55B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57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47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V1–5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CFC18-BB73-49B4-A082-9AEB8AA4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762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백업·정기 실행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644BA-0268-4463-9DBD-29BFC2EA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667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PostgreSQL PASS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Redis RDB PASS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Checksums PASS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Secrets Excluded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Timer Success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61F2B-80F5-4EE2-B0BC-A308A247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57350"/>
            <a:ext cx="3524250" cy="358140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D5A24-C4AA-4C57-9FB2-89D09753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24050"/>
            <a:ext cx="857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9596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V6-10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FC7E9A-A295-46DB-9B32-3004DB3D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09850"/>
            <a:ext cx="2762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격리 복구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9AB8F9-B2B3-43C0-8FE6-9F026BBC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19450"/>
            <a:ext cx="2667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DB Restore PASS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RDB Restore PASS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Probe PASS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Published Ports 0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Containers Unchanged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AA18A-00E2-4B4B-B8CF-B8BFC18E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57350"/>
            <a:ext cx="3524250" cy="358140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858CA2-9B0F-427E-B5FD-682A6BE5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2405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V11–15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6474BB-B8C7-4D6A-8BE0-B7230279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09850"/>
            <a:ext cx="2762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회귀·보안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CB629F-7E6E-4A4D-B61F-398D9C3F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19450"/>
            <a:ext cx="2667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Health PASS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Cleanup 0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Escrow PASS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HTTPS 200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Legacy Archive Removed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E59655-61D1-4EA3-8B81-5F40AFFD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백업·정기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2C028D-9995-416D-B962-6C8EA26F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724525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245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D98CF5-BCA8-43A9-A419-ECF79BF0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격리·검증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B1A584-C93B-495C-8D4C-8B065E4C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724525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6EEB15-B349-49DC-A48D-500CC11C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5816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회귀·보안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1667F1-9C29-4871-9EE5-85A3BABC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5724525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</p:spPr>
      </p:sp>
    </p:spTree>
    <p:extLst>
      <p:ext uri="{BB962C8B-B14F-4D97-AF65-F5344CB8AC3E}">
        <p14:creationId xmlns:p14="http://schemas.microsoft.com/office/powerpoint/2010/main" val="56395402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2D6A2B-2E40-40C0-A97B-AC9A82C1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정책·실행·복구 증적을 하나의 자산 체계로 관리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92829-1390-4AD6-9B9E-3C9A6EFF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D6764-3020-460E-8152-052DB952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다음 운영자가 동일한 백업과 격리 복구를 재현하도록 코드, Systemd, Runbook과 구조화 증적을 함께 제공합니다.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EA417-5A56-47F7-B679-B7F32882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35433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CE8E6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B5ED3E-0E61-47F3-8AFE-C9EC0E9A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333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A52714"/>
                </a:solidFill>
                <a:latin typeface="Malgun Gothic"/>
                <a:ea typeface="Malgun Gothic"/>
                <a:cs typeface="Malgun Gothic"/>
              </a:defRPr>
            </a:pPr>
            <a:r>
              <a:t>실행 자산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7275DB-FC12-4A36-908F-B17C25B3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8575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backup-state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restore-state-drill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test-backup-recovery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Systemd Timer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6BF9A-2C09-491B-A934-19433B46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90700"/>
            <a:ext cx="35433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A266B-CCD9-4ABE-B8C9-F991D9A0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764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운영 문서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82E5F-F3A3-4EF7-AB15-52EF6B06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86050"/>
            <a:ext cx="28575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ADR-0003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Backup·Recovery Runbook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환경 기준선 갱신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장애 처리 · RPO·RTO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5A9AC7-F1EA-4DB1-AF56-E20935B1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35433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2C37A2-7A58-482F-BD14-70CBEF49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764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검증 증적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C7345-AFB0-4EC3-ACFB-CF2E643D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86050"/>
            <a:ext cx="28575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구조화 JSON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PDF 보고서 · PPTX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SHA-256 Manifest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시각·Overflow 검사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ACD722-0D4C-414C-BE50-0C617598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09B91D-EE98-4D8B-96FF-8F140E19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보안 기준  |  Secret 원문 제외 · 공개 Port 0 · 운영 Volume 미사용 · 평문 임시 파일 제거</a:t>
            </a:r>
          </a:p>
        </p:txBody>
      </p:sp>
    </p:spTree>
    <p:extLst>
      <p:ext uri="{BB962C8B-B14F-4D97-AF65-F5344CB8AC3E}">
        <p14:creationId xmlns:p14="http://schemas.microsoft.com/office/powerpoint/2010/main" val="131418453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776455-FC13-451C-B4CD-A5FBD1A6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다음 단계는 관측 가능성을 완성하고 첫 업무 Flow로 이동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E9953-46AD-4C7D-93EC-2E35741B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47D9E-796E-498A-883B-CBCF969B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Issue #16으로 복구 가능성을 증명했습니다. 다음은 백업 실패와 상태를 관측 체계에 연결한 뒤 GitHub PR Merge Flow를 실증합니다.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5FCFD-C208-4E9F-AC87-FF599FC7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62300"/>
            <a:ext cx="914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C98E5-2E0D-4E60-BC95-44841FE7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76299-3531-463A-BF89-96F88C85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EEF62-8034-4A55-AE5D-21ADFBA8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96D5B9-066A-4407-A86A-7AEE3E4F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AC0F53-882B-471E-8FE6-58F9DE56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CDC30-06F7-4E6B-9432-EB3E08B0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8A5A00"/>
                </a:solidFill>
                <a:latin typeface="Malgun Gothic"/>
                <a:ea typeface="Malgun Gothic"/>
                <a:cs typeface="Malgun Gothic"/>
              </a:defRPr>
            </a:pPr>
            <a: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8ACE41-28AA-49B1-AD35-F128E2C9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CE8E6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992AC-E2ED-4201-8D57-FC393733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A52714"/>
                </a:solidFill>
                <a:latin typeface="Malgun Gothic"/>
                <a:ea typeface="Malgun Gothic"/>
                <a:cs typeface="Malgun Gothic"/>
              </a:defRPr>
            </a:pPr>
            <a: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EA6C8-4F82-4990-8F97-E985BBF8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Observe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F4CB69-C727-4F50-ACAF-DCF10D09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#17 로그·메트릭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Backup 상태·알림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7BB84A-CE40-4B87-B6BD-CF6BED61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34D941-FB4D-431A-B759-3777E25F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#18 이미지 Digest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회귀 정책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C49A0F-4A98-4689-808E-E169CC40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First 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48E3CC-DE56-424F-ABE0-8CFD0393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#19 GitHub PR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Merge Webhook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1BDBAE-D211-487C-9FB5-868A89ED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Productize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9297C2-4ABB-491B-A666-17E18819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Off-host Backup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Vault · DR 정책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F18BB9-616B-4AD5-9A2B-2E0630BE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13919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C59DDF-1419-471F-8C30-A314E89C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108204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Issue #16 완료 기준 = 정기 Backup + 격리 Restore + RTO 40초 + 운영 비영향 + Secret 분리</a:t>
            </a:r>
          </a:p>
        </p:txBody>
      </p:sp>
    </p:spTree>
    <p:extLst>
      <p:ext uri="{BB962C8B-B14F-4D97-AF65-F5344CB8AC3E}">
        <p14:creationId xmlns:p14="http://schemas.microsoft.com/office/powerpoint/2010/main" val="107129334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2A986-4257-4BD0-9F33-8D5ACFFD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620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최종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63DBB-8F7E-4C46-B6B7-25A5D5F9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085850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4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상태 백업과 격리 복구를</a:t>
            </a:r>
          </a:p>
          <a:p xmlns:a="http://schemas.openxmlformats.org/drawingml/2006/main">
            <a:pPr algn="l">
              <a:buNone/>
              <a:defRPr sz="44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운영 가능한 기준으로 확정했습니다.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76C677-4100-47D9-8FC8-D33A43D4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11391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BBE370-8BD6-41D5-B1AB-6ED4E8E6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619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ISSUE #16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9894D-13FA-447B-9FDD-23632E1D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10725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VALIDATED · RTO 40 SEC · 15 CONTROLS PASS · ZERO RECOVERY RESOURCES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F000B4-AE2D-4E6C-93AC-F998C288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4357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11F15-05A5-4CFC-B018-A813A365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ABLESTACK TechFlow · State Backup &amp; Recovery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2E9F4-EEC3-4CD4-A1FE-A2B3BF3E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981700"/>
            <a:ext cx="26955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Issue #16 · 2026-07-31</a:t>
            </a:r>
          </a:p>
        </p:txBody>
      </p:sp>
    </p:spTree>
    <p:extLst>
      <p:ext uri="{BB962C8B-B14F-4D97-AF65-F5344CB8AC3E}">
        <p14:creationId xmlns:p14="http://schemas.microsoft.com/office/powerpoint/2010/main" val="17634668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2026-07-31T08:24:56.6610000Z</dcterms:created>
  <dcterms:modified xsi:type="dcterms:W3CDTF">2026-07-31T08:24:56.6610000Z</dcterms:modified>
</coreProperties>
</file>