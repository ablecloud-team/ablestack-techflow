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1d0599da846fd" /><Relationship Type="http://schemas.openxmlformats.org/officeDocument/2006/relationships/extended-properties" Target="/docProps/app.xml" Id="R45239eca9bf44f7b" /><Relationship Type="http://schemas.openxmlformats.org/officeDocument/2006/relationships/officeDocument" Target="/ppt/presentation.xml" Id="R90a12e4799b1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a2bbf2b4348f7"/>
  </p:sldMasterIdLst>
  <p:notesMasterIdLst>
    <p:notesMasterId xmlns:r="http://schemas.openxmlformats.org/officeDocument/2006/relationships" r:id="Rd819c1c6851848ed"/>
  </p:notesMasterIdLst>
  <p:sldIdLst>
    <p:sldId xmlns:r="http://schemas.openxmlformats.org/officeDocument/2006/relationships" id="256" r:id="R77dbcc718ac54953"/>
    <p:sldId xmlns:r="http://schemas.openxmlformats.org/officeDocument/2006/relationships" id="257" r:id="Re5a7884a508a40da"/>
    <p:sldId xmlns:r="http://schemas.openxmlformats.org/officeDocument/2006/relationships" id="258" r:id="R0ef0dfcbb3814afe"/>
    <p:sldId xmlns:r="http://schemas.openxmlformats.org/officeDocument/2006/relationships" id="259" r:id="Re9c7850c85ab460a"/>
    <p:sldId xmlns:r="http://schemas.openxmlformats.org/officeDocument/2006/relationships" id="260" r:id="R11702f29f523403b"/>
    <p:sldId xmlns:r="http://schemas.openxmlformats.org/officeDocument/2006/relationships" id="261" r:id="R41f4d0b514424a9e"/>
    <p:sldId xmlns:r="http://schemas.openxmlformats.org/officeDocument/2006/relationships" id="262" r:id="Rd9163b197c9f452e"/>
    <p:sldId xmlns:r="http://schemas.openxmlformats.org/officeDocument/2006/relationships" id="263" r:id="Re29f77f344294ecb"/>
    <p:sldId xmlns:r="http://schemas.openxmlformats.org/officeDocument/2006/relationships" id="264" r:id="Rb2f040561a774b8f"/>
    <p:sldId xmlns:r="http://schemas.openxmlformats.org/officeDocument/2006/relationships" id="265" r:id="R09eee3db0658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2ee1ae91524fdd" /><Relationship Type="http://schemas.openxmlformats.org/officeDocument/2006/relationships/slideMaster" Target="/ppt/slideMasters/slideMaster1.xml" Id="R2c4a2bbf2b4348f7" /><Relationship Type="http://schemas.openxmlformats.org/officeDocument/2006/relationships/notesMaster" Target="/ppt/notesMasters/notesMaster1.xml" Id="Rd819c1c6851848ed" /><Relationship Type="http://schemas.openxmlformats.org/officeDocument/2006/relationships/presProps" Target="/ppt/presProps.xml" Id="Rf193f20e06a34fbd" /><Relationship Type="http://schemas.openxmlformats.org/officeDocument/2006/relationships/tableStyles" Target="/ppt/tableStyles.xml" Id="Rcdded10a5195499a" /><Relationship Type="http://schemas.openxmlformats.org/officeDocument/2006/relationships/slide" Target="/ppt/slides/slide1.xml" Id="R77dbcc718ac54953" /><Relationship Type="http://schemas.openxmlformats.org/officeDocument/2006/relationships/slide" Target="/ppt/slides/slide2.xml" Id="Re5a7884a508a40da" /><Relationship Type="http://schemas.openxmlformats.org/officeDocument/2006/relationships/slide" Target="/ppt/slides/slide3.xml" Id="R0ef0dfcbb3814afe" /><Relationship Type="http://schemas.openxmlformats.org/officeDocument/2006/relationships/slide" Target="/ppt/slides/slide4.xml" Id="Re9c7850c85ab460a" /><Relationship Type="http://schemas.openxmlformats.org/officeDocument/2006/relationships/slide" Target="/ppt/slides/slide5.xml" Id="R11702f29f523403b" /><Relationship Type="http://schemas.openxmlformats.org/officeDocument/2006/relationships/slide" Target="/ppt/slides/slide6.xml" Id="R41f4d0b514424a9e" /><Relationship Type="http://schemas.openxmlformats.org/officeDocument/2006/relationships/slide" Target="/ppt/slides/slide7.xml" Id="Rd9163b197c9f452e" /><Relationship Type="http://schemas.openxmlformats.org/officeDocument/2006/relationships/slide" Target="/ppt/slides/slide8.xml" Id="Re29f77f344294ecb" /><Relationship Type="http://schemas.openxmlformats.org/officeDocument/2006/relationships/slide" Target="/ppt/slides/slide9.xml" Id="Rb2f040561a774b8f" /><Relationship Type="http://schemas.openxmlformats.org/officeDocument/2006/relationships/slide" Target="/ppt/slides/slide10.xml" Id="R09eee3db0658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f2e4adc4ba40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9acd3ea77d4ee2" /><Relationship Type="http://schemas.openxmlformats.org/officeDocument/2006/relationships/notesMaster" Target="/ppt/notesMasters/notesMaster1.xml" Id="R957231a3f5ce41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61a6feb4a481a" /><Relationship Type="http://schemas.openxmlformats.org/officeDocument/2006/relationships/notesMaster" Target="/ppt/notesMasters/notesMaster1.xml" Id="Rf7a0ee5abca3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537c3a16c40dc" /><Relationship Type="http://schemas.openxmlformats.org/officeDocument/2006/relationships/notesMaster" Target="/ppt/notesMasters/notesMaster1.xml" Id="Rcd7e4f987046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d02a0fc9504f9c" /><Relationship Type="http://schemas.openxmlformats.org/officeDocument/2006/relationships/notesMaster" Target="/ppt/notesMasters/notesMaster1.xml" Id="R95b1f91ab4be43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2199ed0c364e1f" /><Relationship Type="http://schemas.openxmlformats.org/officeDocument/2006/relationships/notesMaster" Target="/ppt/notesMasters/notesMaster1.xml" Id="Rbde24d9e32864d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b6067d322439a" /><Relationship Type="http://schemas.openxmlformats.org/officeDocument/2006/relationships/notesMaster" Target="/ppt/notesMasters/notesMaster1.xml" Id="R35d8a5d2f75a41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c9b4256bb244ce" /><Relationship Type="http://schemas.openxmlformats.org/officeDocument/2006/relationships/notesMaster" Target="/ppt/notesMasters/notesMaster1.xml" Id="R5c3c6cfa104049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c76c2b1f3e4739" /><Relationship Type="http://schemas.openxmlformats.org/officeDocument/2006/relationships/notesMaster" Target="/ppt/notesMasters/notesMaster1.xml" Id="Rcef9e729b337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13481f7df746f3" /><Relationship Type="http://schemas.openxmlformats.org/officeDocument/2006/relationships/notesMaster" Target="/ppt/notesMasters/notesMaster1.xml" Id="R4bd72eec08fe48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1f739a82144987" /><Relationship Type="http://schemas.openxmlformats.org/officeDocument/2006/relationships/notesMaster" Target="/ppt/notesMasters/notesMaster1.xml" Id="Rc823c36a6bf943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#13은 Activepieces 사내 실증 실행 기반을 실제 서버에 구축하고 검증한 작업이다.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서비스 Health, HTTP, Worker Polling과 재부팅 복구를 완료 기준으로 사용했다.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App과 Worker를 분리하고 PostgreSQL과 Redis는 내부 네트워크에만 배치했다.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버전과 Health, 영속성 계약을 명시하고 관측 Digest를 구조화 기록에 보관했다.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사전 점검부터 재부팅 복구까지 동일 Runbook으로 반복할 수 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App은 사설 주소에만 노출하며 외부 HTTPS와 Webhook은 Issue #14 범위다.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재시작과 호스트 재부팅 뒤 데이터와 실행 준비 상태가 복구됨을 확인했다.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Compose, 스크립트, Runbook, JSON, PDF와 Manifest를 하나의 자산 체계로 관리한다.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후속 이슈는 외부 경로, 비밀정보, 백업, 관측, 버전과 첫 업무 Flow 순서다.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#13은 재현 가능한 배포와 운영 검증 기반을 확보한 상태로 완료한다.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docs/decisions/activepieces-compose-deployment.json</a:t>
            </a:r>
          </a:p>
          <a:p xmlns:a="http://schemas.openxmlformats.org/drawingml/2006/main">
            <a:r>
              <a:t>- docs/reports/issue-13-activepieces-compose-deployment-validation.md</a:t>
            </a:r>
          </a:p>
          <a:p xmlns:a="http://schemas.openxmlformats.org/drawingml/2006/main">
            <a:r>
              <a:t>- docs/runbooks/activepieces-compose-deployment.md</a:t>
            </a:r>
          </a:p>
          <a:p xmlns:a="http://schemas.openxmlformats.org/drawingml/2006/main">
            <a:r>
              <a:t>- https://github.com/ablecloud-team/ablestack-techflow/issues/13</a:t>
            </a:r>
          </a:p>
          <a:p xmlns:a="http://schemas.openxmlformats.org/drawingml/2006/main">
            <a:r>
              <a:t>- https://www.activepieces.com/docs/install/options/docker-compose</a:t>
            </a:r>
          </a:p>
          <a:p xmlns:a="http://schemas.openxmlformats.org/drawingml/2006/main">
            <a:r>
              <a:t>- https://www.activepieces.com/docs/install/architecture/workers</a:t>
            </a:r>
          </a:p>
          <a:p xmlns:a="http://schemas.openxmlformats.org/drawingml/2006/main">
            <a:r>
              <a:t>- https://docs.docker.com/engine/install/ubuntu/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ffec41f5e4f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8c9c7509a40bf" /><Relationship Type="http://schemas.openxmlformats.org/officeDocument/2006/relationships/slideLayout" Target="/ppt/slideLayouts/slideLayout1.xml" Id="R6c518f0b9ba248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518f0b9ba248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47d0b04f44b1f" /><Relationship Type="http://schemas.openxmlformats.org/officeDocument/2006/relationships/notesSlide" Target="/ppt/notesSlides/notesSlide1.xml" Id="R5da700aac3b840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0b99138954570" /><Relationship Type="http://schemas.openxmlformats.org/officeDocument/2006/relationships/notesSlide" Target="/ppt/notesSlides/notesSlide2.xml" Id="R0d5db306614a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0ff7be3c54da3" /><Relationship Type="http://schemas.openxmlformats.org/officeDocument/2006/relationships/notesSlide" Target="/ppt/notesSlides/notesSlide3.xml" Id="R2b8cba08de38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33b1bb904565" /><Relationship Type="http://schemas.openxmlformats.org/officeDocument/2006/relationships/notesSlide" Target="/ppt/notesSlides/notesSlide4.xml" Id="R043fe22edddf4f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e91ec67e54fb6" /><Relationship Type="http://schemas.openxmlformats.org/officeDocument/2006/relationships/notesSlide" Target="/ppt/notesSlides/notesSlide5.xml" Id="Rbf0c2a0124ba43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628cfaefd4635" /><Relationship Type="http://schemas.openxmlformats.org/officeDocument/2006/relationships/notesSlide" Target="/ppt/notesSlides/notesSlide6.xml" Id="R7d114f66e7c9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5fcaca0694c94" /><Relationship Type="http://schemas.openxmlformats.org/officeDocument/2006/relationships/notesSlide" Target="/ppt/notesSlides/notesSlide7.xml" Id="R4dc5feb94aa94e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652aad6014e57" /><Relationship Type="http://schemas.openxmlformats.org/officeDocument/2006/relationships/notesSlide" Target="/ppt/notesSlides/notesSlide8.xml" Id="Ref6b5ae72d604b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c0db826154794" /><Relationship Type="http://schemas.openxmlformats.org/officeDocument/2006/relationships/notesSlide" Target="/ppt/notesSlides/notesSlide9.xml" Id="Rc56b0920d7064f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24d4ed15e4925" /><Relationship Type="http://schemas.openxmlformats.org/officeDocument/2006/relationships/notesSlide" Target="/ppt/notesSlides/notesSlide10.xml" Id="R8c11c4a76f9d49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Compose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재현 가능한 사내 실증 실행 기반을 서버에 구축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0.86.3 · 2026-07-30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네 서비스와 운영 절차가 검증되었다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사설망에 App·Worker·PostgreSQL·Redis를 배포하고 영속성과 서버 재부팅 복구를 확인했다.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실행 기준선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0.86.3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Worker concurrency = 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Private HTTP :8080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기준선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Docker 29.6.2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5.3.1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restart: unless-stopped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검증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Health 4/4  |  HTTP 200  |  Worker Polling Ready  |  Reboot Recovery PASS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실증 실행 기반을 네 서비스로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App과 Worker를 분리하고 데이터와 큐는 호스트에 공개하지 않는 내부 네트워크로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UI · API · Webhook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172.16.0.231:8080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Health API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사설 주소만 바인딩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실행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concurrency = 1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Socket.IO 연결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Polling 준비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· Redis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pgvector 0.8.0-pg14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7.0.7 · AOF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인증 사용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호스트 포트 비공개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배포 자산  |  Compose · 환경 계약 · 7개 운영 스크립트 · Runbook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버전·Health·영속성을 명시적으로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latest 태그와 암묵적 상태 판정을 피하고 서비스별 운영 계약을 기록했다.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서비스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이미지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영속성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activepieces:0.86.3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API 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cache_data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Worker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activepieces:0.86.3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health + polling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shared cache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pgvector:0.8.0-pg14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pg_isready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postgres_data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Redis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redis:7.0.7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authenticated 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redis_data + AOF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172.16.0.231:8080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 Healthy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private bind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Execution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SANDBOX</a:t>
                      </a:r>
                    </a:p>
                    <a:p>
                      <a:r>
                        <a:t>CODE_ONLY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worker ready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concurrency 1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STRICT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internal data path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DB ports closed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Restart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unless-stopped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post-reboot 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volumes retained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Observed Digest는 JSON 증적에 보관 · 정식 Pinning 정책은 Issue #18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설치부터 복구까지 하나의 Runbook으로 반복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서버 배포 과정 자체를 명령·판정·복구 기준이 있는 운영 자산으로 만들었다.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사전 점검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서버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OS · CPU · RAM · Disk · 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Docker 설치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공식 저장소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Engine · Compose · 자동 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환경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서버 로컬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.env 0600 · 비밀값 미출력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배포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순차 기동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DB · Redis → App → Worker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통합 Health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HTTP · Polling · Persistence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복구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재부팅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Docker · 4 Services 자동 복구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노출 없이 내부 실행 경로를 우선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App만 사설 주소에 바인딩하고 Worker와 데이터 계층은 Compose 내부 경로로 연결했다.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접속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사설망 사용자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172.16.0.231:8080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 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UI · API · Health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STRICT network mode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Telemetry disabled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Socket.IO 연결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Polling concurrency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40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· Redis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내부 Compose network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인증 · 영속 볼륨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Health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4 Services + HTTP + Polling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사설 바인딩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내부 데이터 계층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영속성과 재부팅 복구를 실제 서버에서 통과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데이터 영속성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공개 테이블 수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AOF Probe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서비스 재시작 전후 비교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V8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호스트 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서버 재부팅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Docker 자동 시작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4 Services healthy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 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V9–V10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준비 후 품질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Worker Polling Ready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오류 0 · 경고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비밀값 로그 노출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DB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자동 복구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준비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 절차를 코드·문서·증적으로 자산화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실서버 경험이 사람의 기억이 아니라 저장소에서 재생성되는 운영 자산으로 남는다.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배포 코드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· .env.example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Docker 설치 · 환경 생성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 · Health · 상태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영속성 · 안전한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전체 배포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서버 환경 기준선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 보고서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초기 관리자 생성 절차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보고서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실서버 파일 일치성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안전 기준  |  .env 미커밋 · 데이터 제거 명시 승인 · DB/Redis 포트 비공개 · no-new-privileges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실행 기반 위에서 운영 품질과 첫 자동화를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Issue #14부터 노출·비밀·복구·관측·버전 정책을 보강한 뒤 첫 GitHub Flow를 실증한다.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#14 HTTPS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Webhook 서명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비밀·복구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#15 Secret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#16 Backup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 품질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#17 Observability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#18 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첫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#19 GitHub PR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Merge Webhook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#13 완료 기준은 배포 성공뿐 아니라 재현 가능한 자산·영속성·재부팅 복구 증적까지 포함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배포가 아니라,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재현 가능한 운영 기반을 확보했다.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4 Services Healthy · Persistence PASS · Reboot Recovery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Activepieces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#13 · 2026-07-30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2026-07-30T08:25:20.9680000Z</dcterms:created>
  <dcterms:modified xsi:type="dcterms:W3CDTF">2026-07-30T08:25:20.9680000Z</dcterms:modified>
</coreProperties>
</file>