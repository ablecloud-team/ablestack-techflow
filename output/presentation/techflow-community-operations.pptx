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b691e89a1324644" /><Relationship Type="http://schemas.openxmlformats.org/officeDocument/2006/relationships/extended-properties" Target="/docProps/app.xml" Id="R3c536710fa43449f" /><Relationship Type="http://schemas.openxmlformats.org/officeDocument/2006/relationships/officeDocument" Target="/ppt/presentation.xml" Id="Rc9cb8ab7bddf4d6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31b45e75764b3a"/>
  </p:sldMasterIdLst>
  <p:notesMasterIdLst>
    <p:notesMasterId xmlns:r="http://schemas.openxmlformats.org/officeDocument/2006/relationships" r:id="R5fc5edea75504f15"/>
  </p:notesMasterIdLst>
  <p:sldIdLst>
    <p:sldId xmlns:r="http://schemas.openxmlformats.org/officeDocument/2006/relationships" id="256" r:id="R5e79f188bf5347e9"/>
    <p:sldId xmlns:r="http://schemas.openxmlformats.org/officeDocument/2006/relationships" id="257" r:id="R00bd95131d154d22"/>
    <p:sldId xmlns:r="http://schemas.openxmlformats.org/officeDocument/2006/relationships" id="258" r:id="Rd7c956ba30864ed2"/>
    <p:sldId xmlns:r="http://schemas.openxmlformats.org/officeDocument/2006/relationships" id="259" r:id="R9f376795eeb248e7"/>
    <p:sldId xmlns:r="http://schemas.openxmlformats.org/officeDocument/2006/relationships" id="260" r:id="Rf438877866204b44"/>
    <p:sldId xmlns:r="http://schemas.openxmlformats.org/officeDocument/2006/relationships" id="261" r:id="R0e2c75ea5b394560"/>
    <p:sldId xmlns:r="http://schemas.openxmlformats.org/officeDocument/2006/relationships" id="262" r:id="R74725a58d0814953"/>
    <p:sldId xmlns:r="http://schemas.openxmlformats.org/officeDocument/2006/relationships" id="263" r:id="R779a916e52894d19"/>
    <p:sldId xmlns:r="http://schemas.openxmlformats.org/officeDocument/2006/relationships" id="264" r:id="R5ff3f6526cdc4c8d"/>
    <p:sldId xmlns:r="http://schemas.openxmlformats.org/officeDocument/2006/relationships" id="265" r:id="Rd73612d5fec746b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92d6d5352024b9d" /><Relationship Type="http://schemas.openxmlformats.org/officeDocument/2006/relationships/slideMaster" Target="/ppt/slideMasters/slideMaster1.xml" Id="R3031b45e75764b3a" /><Relationship Type="http://schemas.openxmlformats.org/officeDocument/2006/relationships/notesMaster" Target="/ppt/notesMasters/notesMaster1.xml" Id="R5fc5edea75504f15" /><Relationship Type="http://schemas.openxmlformats.org/officeDocument/2006/relationships/presProps" Target="/ppt/presProps.xml" Id="Ra69ebf1e3a9c4816" /><Relationship Type="http://schemas.openxmlformats.org/officeDocument/2006/relationships/tableStyles" Target="/ppt/tableStyles.xml" Id="R88013254a8624fb3" /><Relationship Type="http://schemas.openxmlformats.org/officeDocument/2006/relationships/slide" Target="/ppt/slides/slide1.xml" Id="R5e79f188bf5347e9" /><Relationship Type="http://schemas.openxmlformats.org/officeDocument/2006/relationships/slide" Target="/ppt/slides/slide2.xml" Id="R00bd95131d154d22" /><Relationship Type="http://schemas.openxmlformats.org/officeDocument/2006/relationships/slide" Target="/ppt/slides/slide3.xml" Id="Rd7c956ba30864ed2" /><Relationship Type="http://schemas.openxmlformats.org/officeDocument/2006/relationships/slide" Target="/ppt/slides/slide4.xml" Id="R9f376795eeb248e7" /><Relationship Type="http://schemas.openxmlformats.org/officeDocument/2006/relationships/slide" Target="/ppt/slides/slide5.xml" Id="Rf438877866204b44" /><Relationship Type="http://schemas.openxmlformats.org/officeDocument/2006/relationships/slide" Target="/ppt/slides/slide6.xml" Id="R0e2c75ea5b394560" /><Relationship Type="http://schemas.openxmlformats.org/officeDocument/2006/relationships/slide" Target="/ppt/slides/slide7.xml" Id="R74725a58d0814953" /><Relationship Type="http://schemas.openxmlformats.org/officeDocument/2006/relationships/slide" Target="/ppt/slides/slide8.xml" Id="R779a916e52894d19" /><Relationship Type="http://schemas.openxmlformats.org/officeDocument/2006/relationships/slide" Target="/ppt/slides/slide9.xml" Id="R5ff3f6526cdc4c8d" /><Relationship Type="http://schemas.openxmlformats.org/officeDocument/2006/relationships/slide" Target="/ppt/slides/slide10.xml" Id="Rd73612d5fec746b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cffab96ee2f4fb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ae3c917a5b84f75" /><Relationship Type="http://schemas.openxmlformats.org/officeDocument/2006/relationships/notesMaster" Target="/ppt/notesMasters/notesMaster1.xml" Id="R365131b9132241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969924b6e234d12" /><Relationship Type="http://schemas.openxmlformats.org/officeDocument/2006/relationships/notesMaster" Target="/ppt/notesMasters/notesMaster1.xml" Id="R2507607c652f4a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b70093a6e78457a" /><Relationship Type="http://schemas.openxmlformats.org/officeDocument/2006/relationships/notesMaster" Target="/ppt/notesMasters/notesMaster1.xml" Id="R53661cc9bde541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85335ca75594e81" /><Relationship Type="http://schemas.openxmlformats.org/officeDocument/2006/relationships/notesMaster" Target="/ppt/notesMasters/notesMaster1.xml" Id="Rc4ca21661d9846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637115e7cac4f45" /><Relationship Type="http://schemas.openxmlformats.org/officeDocument/2006/relationships/notesMaster" Target="/ppt/notesMasters/notesMaster1.xml" Id="R6a40932b683f41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6536ab2df4448a5" /><Relationship Type="http://schemas.openxmlformats.org/officeDocument/2006/relationships/notesMaster" Target="/ppt/notesMasters/notesMaster1.xml" Id="Rd28c0701a53e436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76d0c93d6bc4650" /><Relationship Type="http://schemas.openxmlformats.org/officeDocument/2006/relationships/notesMaster" Target="/ppt/notesMasters/notesMaster1.xml" Id="R4e2788e7de304bb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023310148d44e9d" /><Relationship Type="http://schemas.openxmlformats.org/officeDocument/2006/relationships/notesMaster" Target="/ppt/notesMasters/notesMaster1.xml" Id="R1429ffd0ed37491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c08e657fee84d00" /><Relationship Type="http://schemas.openxmlformats.org/officeDocument/2006/relationships/notesMaster" Target="/ppt/notesMasters/notesMaster1.xml" Id="Re111a557d9f1437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00342f135d64ecb" /><Relationship Type="http://schemas.openxmlformats.org/officeDocument/2006/relationships/notesMaster" Target="/ppt/notesMasters/notesMaster1.xml" Id="R19bf3a4a3db2453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docs/reports/issue-74-community-operations-validation.md</a:t>
            </a:r>
          </a:p>
          <a:p xmlns:a="http://schemas.openxmlformats.org/drawingml/2006/main">
            <a:r>
              <a:t>- docs/evidence/issue-74/community-operations-validation.json</a:t>
            </a:r>
          </a:p>
          <a:p xmlns:a="http://schemas.openxmlformats.org/drawingml/2006/main">
            <a:r>
              <a:t>- docs/adr/0010-community-backup-observability-security.md</a:t>
            </a:r>
          </a:p>
          <a:p xmlns:a="http://schemas.openxmlformats.org/drawingml/2006/main">
            <a:r>
              <a:t>- docs/runbooks/community-backup-monitor-security.md</a:t>
            </a:r>
          </a:p>
          <a:p xmlns:a="http://schemas.openxmlformats.org/drawingml/2006/main">
            <a:r>
              <a:t>- https://symfony.com/cve-2026-45068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5ace7517c34a9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3c8497dbe11453f" /><Relationship Type="http://schemas.openxmlformats.org/officeDocument/2006/relationships/slideLayout" Target="/ppt/slideLayouts/slideLayout1.xml" Id="Rd4541671f270422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4541671f270422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f9c2a5d8fd4b9d" /><Relationship Type="http://schemas.openxmlformats.org/officeDocument/2006/relationships/notesSlide" Target="/ppt/notesSlides/notesSlide1.xml" Id="Rb6076076eb3546b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1f89a3af5f48ba" /><Relationship Type="http://schemas.openxmlformats.org/officeDocument/2006/relationships/notesSlide" Target="/ppt/notesSlides/notesSlide2.xml" Id="R28b3dfa1be16481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940cb0f85b4c39" /><Relationship Type="http://schemas.openxmlformats.org/officeDocument/2006/relationships/notesSlide" Target="/ppt/notesSlides/notesSlide3.xml" Id="R6f75ca61d57f45a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fb5dad1e694c05" /><Relationship Type="http://schemas.openxmlformats.org/officeDocument/2006/relationships/notesSlide" Target="/ppt/notesSlides/notesSlide4.xml" Id="Rbe760f688af34f6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9e870be02a45b5" /><Relationship Type="http://schemas.openxmlformats.org/officeDocument/2006/relationships/notesSlide" Target="/ppt/notesSlides/notesSlide5.xml" Id="R09cad28928354ab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6ddb34a4e34117" /><Relationship Type="http://schemas.openxmlformats.org/officeDocument/2006/relationships/notesSlide" Target="/ppt/notesSlides/notesSlide6.xml" Id="Rb3a222abfbef46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43405bbdc54b61" /><Relationship Type="http://schemas.openxmlformats.org/officeDocument/2006/relationships/notesSlide" Target="/ppt/notesSlides/notesSlide7.xml" Id="R0517890b2cff463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f0db7b5c88497f" /><Relationship Type="http://schemas.openxmlformats.org/officeDocument/2006/relationships/notesSlide" Target="/ppt/notesSlides/notesSlide8.xml" Id="R7d66a29eb4f4451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db9bbd43694bbf" /><Relationship Type="http://schemas.openxmlformats.org/officeDocument/2006/relationships/notesSlide" Target="/ppt/notesSlides/notesSlide9.xml" Id="R914ef830a1df493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85beddef224fad" /><Relationship Type="http://schemas.openxmlformats.org/officeDocument/2006/relationships/notesSlide" Target="/ppt/notesSlides/notesSlide10.xml" Id="R462fe4fbbb9144e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over-kicker">
            <a:extLst xmlns:a="http://schemas.openxmlformats.org/drawingml/2006/main">
              <a:ext uri="{FF2B5EF4-FFF2-40B4-BE49-F238E27FC236}">
                <a16:creationId xmlns:a16="http://schemas.microsoft.com/office/drawing/2014/main" id="{13D4D110-F82E-4E75-8227-ED974C07C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09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ABLESTACK TECHFLOW · ISSUE #74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96E0BB98-009A-4299-8303-CC93B72A5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 운영을</a:t>
            </a:r>
          </a:p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복구 가능한 상태로</a:t>
            </a:r>
          </a:p>
        </p:txBody>
      </p:sp>
      <p:sp>
        <p:nvSpPr>
          <p:cNvPr id="3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C5EDAA9E-A0DA-44CC-BCA3-198127A88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38550"/>
            <a:ext cx="6572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암호화 백업 · 5분 관측 · Chat 경보 · 보안 강화</a:t>
            </a:r>
          </a:p>
        </p:txBody>
      </p:sp>
      <p:sp>
        <p:nvSpPr>
          <p:cNvPr id="4" name="cover-orbit">
            <a:extLst xmlns:a="http://schemas.openxmlformats.org/drawingml/2006/main">
              <a:ext uri="{FF2B5EF4-FFF2-40B4-BE49-F238E27FC236}">
                <a16:creationId xmlns:a16="http://schemas.microsoft.com/office/drawing/2014/main" id="{42AC9FE1-ACEC-4E42-AA7F-3581502C9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990600"/>
            <a:ext cx="3352800" cy="3352800"/>
          </a:xfrm>
          <a:prstGeom xmlns:a="http://schemas.openxmlformats.org/drawingml/2006/main" prst="roundRect">
            <a:avLst>
              <a:gd name="adj" fmla="val 3409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over-go">
            <a:extLst xmlns:a="http://schemas.openxmlformats.org/drawingml/2006/main">
              <a:ext uri="{FF2B5EF4-FFF2-40B4-BE49-F238E27FC236}">
                <a16:creationId xmlns:a16="http://schemas.microsoft.com/office/drawing/2014/main" id="{8509AC14-4D20-46B9-8D89-99DD97F8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885950"/>
            <a:ext cx="27051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60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60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over-rto">
            <a:extLst xmlns:a="http://schemas.openxmlformats.org/drawingml/2006/main">
              <a:ext uri="{FF2B5EF4-FFF2-40B4-BE49-F238E27FC236}">
                <a16:creationId xmlns:a16="http://schemas.microsoft.com/office/drawing/2014/main" id="{C0B588BB-C371-4F9A-A3E6-B24DF1DAA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28956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Snapshot 복원 9초</a:t>
            </a:r>
          </a:p>
        </p:txBody>
      </p:sp>
      <p:sp>
        <p:nvSpPr>
          <p:cNvPr id="7" name="cover-date">
            <a:extLst xmlns:a="http://schemas.openxmlformats.org/drawingml/2006/main">
              <a:ext uri="{FF2B5EF4-FFF2-40B4-BE49-F238E27FC236}">
                <a16:creationId xmlns:a16="http://schemas.microsoft.com/office/drawing/2014/main" id="{B7034D2B-0345-461C-B008-6CC41F40B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61975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2026.08.19 · Production validated</a:t>
            </a:r>
          </a:p>
        </p:txBody>
      </p:sp>
    </p:spTree>
    <p:extLst>
      <p:ext uri="{BB962C8B-B14F-4D97-AF65-F5344CB8AC3E}">
        <p14:creationId xmlns:p14="http://schemas.microsoft.com/office/powerpoint/2010/main" val="1388675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title-2">
            <a:extLst xmlns:a="http://schemas.openxmlformats.org/drawingml/2006/main">
              <a:ext uri="{FF2B5EF4-FFF2-40B4-BE49-F238E27FC236}">
                <a16:creationId xmlns:a16="http://schemas.microsoft.com/office/drawing/2014/main" id="{A725067E-FEB0-4262-88B4-AC0B6B5B5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수동 백업을 자동 복구 체계로 바꿨습니다</a:t>
            </a:r>
          </a:p>
        </p:txBody>
      </p:sp>
      <p:sp>
        <p:nvSpPr>
          <p:cNvPr id="2" name="page-2">
            <a:extLst xmlns:a="http://schemas.openxmlformats.org/drawingml/2006/main">
              <a:ext uri="{FF2B5EF4-FFF2-40B4-BE49-F238E27FC236}">
                <a16:creationId xmlns:a16="http://schemas.microsoft.com/office/drawing/2014/main" id="{8B504EC6-023D-407F-9350-2742CC31F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3" name="before-head">
            <a:extLst xmlns:a="http://schemas.openxmlformats.org/drawingml/2006/main">
              <a:ext uri="{FF2B5EF4-FFF2-40B4-BE49-F238E27FC236}">
                <a16:creationId xmlns:a16="http://schemas.microsoft.com/office/drawing/2014/main" id="{E862AC55-8688-46D5-BB37-AD60BC715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257300"/>
            <a:ext cx="2381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기준선</a:t>
            </a:r>
          </a:p>
        </p:txBody>
      </p:sp>
      <p:sp>
        <p:nvSpPr>
          <p:cNvPr id="4" name="after-head">
            <a:extLst xmlns:a="http://schemas.openxmlformats.org/drawingml/2006/main">
              <a:ext uri="{FF2B5EF4-FFF2-40B4-BE49-F238E27FC236}">
                <a16:creationId xmlns:a16="http://schemas.microsoft.com/office/drawing/2014/main" id="{C54620EC-CF96-4A0C-934B-10F273ADD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2573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적용 후</a:t>
            </a:r>
          </a:p>
        </p:txBody>
      </p:sp>
      <p:sp>
        <p:nvSpPr>
          <p:cNvPr id="5" name="row-label-0">
            <a:extLst xmlns:a="http://schemas.openxmlformats.org/drawingml/2006/main">
              <a:ext uri="{FF2B5EF4-FFF2-40B4-BE49-F238E27FC236}">
                <a16:creationId xmlns:a16="http://schemas.microsoft.com/office/drawing/2014/main" id="{C7F36907-2C96-40A7-BE2C-793C767FB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9812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백업</a:t>
            </a:r>
          </a:p>
        </p:txBody>
      </p:sp>
      <p:sp>
        <p:nvSpPr>
          <p:cNvPr id="6" name="row-before-0">
            <a:extLst xmlns:a="http://schemas.openxmlformats.org/drawingml/2006/main">
              <a:ext uri="{FF2B5EF4-FFF2-40B4-BE49-F238E27FC236}">
                <a16:creationId xmlns:a16="http://schemas.microsoft.com/office/drawing/2014/main" id="{3AB2EC25-A437-4470-8453-3CFDF15E6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812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수동 시점별 폴더</a:t>
            </a:r>
          </a:p>
        </p:txBody>
      </p:sp>
      <p:sp>
        <p:nvSpPr>
          <p:cNvPr id="7" name="row-arrow-0">
            <a:extLst xmlns:a="http://schemas.openxmlformats.org/drawingml/2006/main">
              <a:ext uri="{FF2B5EF4-FFF2-40B4-BE49-F238E27FC236}">
                <a16:creationId xmlns:a16="http://schemas.microsoft.com/office/drawing/2014/main" id="{468940A8-4599-4B12-875A-64FC0CD62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9431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8" name="row-after-0">
            <a:extLst xmlns:a="http://schemas.openxmlformats.org/drawingml/2006/main">
              <a:ext uri="{FF2B5EF4-FFF2-40B4-BE49-F238E27FC236}">
                <a16:creationId xmlns:a16="http://schemas.microsoft.com/office/drawing/2014/main" id="{10D3F23C-EEA5-4457-84CA-8EB5F202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9812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매일 03:20 · 무결성 자동 검증</a:t>
            </a:r>
          </a:p>
        </p:txBody>
      </p:sp>
      <p:sp>
        <p:nvSpPr>
          <p:cNvPr id="9" name="row-rule-0">
            <a:extLst xmlns:a="http://schemas.openxmlformats.org/drawingml/2006/main">
              <a:ext uri="{FF2B5EF4-FFF2-40B4-BE49-F238E27FC236}">
                <a16:creationId xmlns:a16="http://schemas.microsoft.com/office/drawing/2014/main" id="{CC182818-603A-434F-B0FA-23FD043D47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466975"/>
            <a:ext cx="10877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0" name="row-label-1">
            <a:extLst xmlns:a="http://schemas.openxmlformats.org/drawingml/2006/main">
              <a:ext uri="{FF2B5EF4-FFF2-40B4-BE49-F238E27FC236}">
                <a16:creationId xmlns:a16="http://schemas.microsoft.com/office/drawing/2014/main" id="{9051AB69-C1C8-4897-8A3A-7E723B5DF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813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보호</a:t>
            </a:r>
          </a:p>
        </p:txBody>
      </p:sp>
      <p:sp>
        <p:nvSpPr>
          <p:cNvPr id="11" name="row-before-1">
            <a:extLst xmlns:a="http://schemas.openxmlformats.org/drawingml/2006/main">
              <a:ext uri="{FF2B5EF4-FFF2-40B4-BE49-F238E27FC236}">
                <a16:creationId xmlns:a16="http://schemas.microsoft.com/office/drawing/2014/main" id="{9D39BA5B-D75F-410A-BA00-8CFDDB7A3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7813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일부 평문 Archive</a:t>
            </a:r>
          </a:p>
        </p:txBody>
      </p:sp>
      <p:sp>
        <p:nvSpPr>
          <p:cNvPr id="12" name="row-arrow-1">
            <a:extLst xmlns:a="http://schemas.openxmlformats.org/drawingml/2006/main">
              <a:ext uri="{FF2B5EF4-FFF2-40B4-BE49-F238E27FC236}">
                <a16:creationId xmlns:a16="http://schemas.microsoft.com/office/drawing/2014/main" id="{0FD7181C-35B9-42EF-ABB4-4557DD46E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7432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3" name="row-after-1">
            <a:extLst xmlns:a="http://schemas.openxmlformats.org/drawingml/2006/main">
              <a:ext uri="{FF2B5EF4-FFF2-40B4-BE49-F238E27FC236}">
                <a16:creationId xmlns:a16="http://schemas.microsoft.com/office/drawing/2014/main" id="{9EEE6753-5788-454A-9464-D145B8FB8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813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OpenPGP · 운영 서버 공개키만</a:t>
            </a:r>
          </a:p>
        </p:txBody>
      </p:sp>
      <p:sp>
        <p:nvSpPr>
          <p:cNvPr id="14" name="row-rule-1">
            <a:extLst xmlns:a="http://schemas.openxmlformats.org/drawingml/2006/main">
              <a:ext uri="{FF2B5EF4-FFF2-40B4-BE49-F238E27FC236}">
                <a16:creationId xmlns:a16="http://schemas.microsoft.com/office/drawing/2014/main" id="{F1F8C3B7-BA79-4300-B393-21C3EFE2B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67075"/>
            <a:ext cx="10877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5" name="row-label-2">
            <a:extLst xmlns:a="http://schemas.openxmlformats.org/drawingml/2006/main">
              <a:ext uri="{FF2B5EF4-FFF2-40B4-BE49-F238E27FC236}">
                <a16:creationId xmlns:a16="http://schemas.microsoft.com/office/drawing/2014/main" id="{DA0A582E-2E65-49C4-ABAA-D74513A4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5814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복원</a:t>
            </a:r>
          </a:p>
        </p:txBody>
      </p:sp>
      <p:sp>
        <p:nvSpPr>
          <p:cNvPr id="16" name="row-before-2">
            <a:extLst xmlns:a="http://schemas.openxmlformats.org/drawingml/2006/main">
              <a:ext uri="{FF2B5EF4-FFF2-40B4-BE49-F238E27FC236}">
                <a16:creationId xmlns:a16="http://schemas.microsoft.com/office/drawing/2014/main" id="{F9B6AB15-5CC7-4B61-B15E-62C3A40DF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5814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절차 증적 없음</a:t>
            </a:r>
          </a:p>
        </p:txBody>
      </p:sp>
      <p:sp>
        <p:nvSpPr>
          <p:cNvPr id="17" name="row-arrow-2">
            <a:extLst xmlns:a="http://schemas.openxmlformats.org/drawingml/2006/main">
              <a:ext uri="{FF2B5EF4-FFF2-40B4-BE49-F238E27FC236}">
                <a16:creationId xmlns:a16="http://schemas.microsoft.com/office/drawing/2014/main" id="{2418B402-6240-4ACA-BFB9-5005BE06E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5433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8" name="row-after-2">
            <a:extLst xmlns:a="http://schemas.openxmlformats.org/drawingml/2006/main">
              <a:ext uri="{FF2B5EF4-FFF2-40B4-BE49-F238E27FC236}">
                <a16:creationId xmlns:a16="http://schemas.microsoft.com/office/drawing/2014/main" id="{D2ADB93C-2E95-44AE-A77A-A8C454AFB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5814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WSL 별도 App·DB 전체 복원</a:t>
            </a:r>
          </a:p>
        </p:txBody>
      </p:sp>
      <p:sp>
        <p:nvSpPr>
          <p:cNvPr id="19" name="row-rule-2">
            <a:extLst xmlns:a="http://schemas.openxmlformats.org/drawingml/2006/main">
              <a:ext uri="{FF2B5EF4-FFF2-40B4-BE49-F238E27FC236}">
                <a16:creationId xmlns:a16="http://schemas.microsoft.com/office/drawing/2014/main" id="{42406270-1396-4C10-88DF-02C0F5A7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67175"/>
            <a:ext cx="10877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0" name="row-label-3">
            <a:extLst xmlns:a="http://schemas.openxmlformats.org/drawingml/2006/main">
              <a:ext uri="{FF2B5EF4-FFF2-40B4-BE49-F238E27FC236}">
                <a16:creationId xmlns:a16="http://schemas.microsoft.com/office/drawing/2014/main" id="{BE8E2693-C731-4928-9106-2DA571784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815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관측</a:t>
            </a:r>
          </a:p>
        </p:txBody>
      </p:sp>
      <p:sp>
        <p:nvSpPr>
          <p:cNvPr id="21" name="row-before-3">
            <a:extLst xmlns:a="http://schemas.openxmlformats.org/drawingml/2006/main">
              <a:ext uri="{FF2B5EF4-FFF2-40B4-BE49-F238E27FC236}">
                <a16:creationId xmlns:a16="http://schemas.microsoft.com/office/drawing/2014/main" id="{52714ACF-A172-48BF-885D-EEE228BFC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3815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서비스별 수동 확인</a:t>
            </a:r>
          </a:p>
        </p:txBody>
      </p:sp>
      <p:sp>
        <p:nvSpPr>
          <p:cNvPr id="22" name="row-arrow-3">
            <a:extLst xmlns:a="http://schemas.openxmlformats.org/drawingml/2006/main">
              <a:ext uri="{FF2B5EF4-FFF2-40B4-BE49-F238E27FC236}">
                <a16:creationId xmlns:a16="http://schemas.microsoft.com/office/drawing/2014/main" id="{6D928649-6C45-4E64-8545-5CEF1F203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43434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3" name="row-after-3">
            <a:extLst xmlns:a="http://schemas.openxmlformats.org/drawingml/2006/main">
              <a:ext uri="{FF2B5EF4-FFF2-40B4-BE49-F238E27FC236}">
                <a16:creationId xmlns:a16="http://schemas.microsoft.com/office/drawing/2014/main" id="{C7969A20-AD34-43B6-B9B0-9DFD7270C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3815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5분 상태·Metric·Chat 전이 경보</a:t>
            </a:r>
          </a:p>
        </p:txBody>
      </p:sp>
      <p:sp>
        <p:nvSpPr>
          <p:cNvPr id="24" name="row-rule-3">
            <a:extLst xmlns:a="http://schemas.openxmlformats.org/drawingml/2006/main">
              <a:ext uri="{FF2B5EF4-FFF2-40B4-BE49-F238E27FC236}">
                <a16:creationId xmlns:a16="http://schemas.microsoft.com/office/drawing/2014/main" id="{23442F0B-255B-4AC1-9CEF-2B5CCC2DC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67275"/>
            <a:ext cx="10877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5" name="row-label-4">
            <a:extLst xmlns:a="http://schemas.openxmlformats.org/drawingml/2006/main">
              <a:ext uri="{FF2B5EF4-FFF2-40B4-BE49-F238E27FC236}">
                <a16:creationId xmlns:a16="http://schemas.microsoft.com/office/drawing/2014/main" id="{E8EDBDD2-3C02-4D33-BE69-5882A2032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181600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보안</a:t>
            </a:r>
          </a:p>
        </p:txBody>
      </p:sp>
      <p:sp>
        <p:nvSpPr>
          <p:cNvPr id="26" name="row-before-4">
            <a:extLst xmlns:a="http://schemas.openxmlformats.org/drawingml/2006/main">
              <a:ext uri="{FF2B5EF4-FFF2-40B4-BE49-F238E27FC236}">
                <a16:creationId xmlns:a16="http://schemas.microsoft.com/office/drawing/2014/main" id="{E62CC147-E047-4595-8B99-0BDE06486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81600"/>
            <a:ext cx="342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기본 Header·권한</a:t>
            </a:r>
          </a:p>
        </p:txBody>
      </p:sp>
      <p:sp>
        <p:nvSpPr>
          <p:cNvPr id="27" name="row-arrow-4">
            <a:extLst xmlns:a="http://schemas.openxmlformats.org/drawingml/2006/main">
              <a:ext uri="{FF2B5EF4-FFF2-40B4-BE49-F238E27FC236}">
                <a16:creationId xmlns:a16="http://schemas.microsoft.com/office/drawing/2014/main" id="{4AFFA8CF-4679-4602-AC2E-604857F30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5143500"/>
            <a:ext cx="609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8" name="row-after-4">
            <a:extLst xmlns:a="http://schemas.openxmlformats.org/drawingml/2006/main">
              <a:ext uri="{FF2B5EF4-FFF2-40B4-BE49-F238E27FC236}">
                <a16:creationId xmlns:a16="http://schemas.microsoft.com/office/drawing/2014/main" id="{567A8061-1385-463F-918D-231A86D9D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5181600"/>
            <a:ext cx="466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Rate Limit·TLS·0640/0600</a:t>
            </a:r>
          </a:p>
        </p:txBody>
      </p:sp>
      <p:sp>
        <p:nvSpPr>
          <p:cNvPr id="29" name="row-rule-4">
            <a:extLst xmlns:a="http://schemas.openxmlformats.org/drawingml/2006/main">
              <a:ext uri="{FF2B5EF4-FFF2-40B4-BE49-F238E27FC236}">
                <a16:creationId xmlns:a16="http://schemas.microsoft.com/office/drawing/2014/main" id="{2DCDF4E3-3981-4D6F-B86D-2B2A0D7D5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667375"/>
            <a:ext cx="10877550" cy="9525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5E1F1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5130821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title-3">
            <a:extLst xmlns:a="http://schemas.openxmlformats.org/drawingml/2006/main">
              <a:ext uri="{FF2B5EF4-FFF2-40B4-BE49-F238E27FC236}">
                <a16:creationId xmlns:a16="http://schemas.microsoft.com/office/drawing/2014/main" id="{01C5977B-D5F7-4DE5-8345-872557722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DB와 업로드를 한 시점으로 묶어 암호화합니다</a:t>
            </a:r>
          </a:p>
        </p:txBody>
      </p:sp>
      <p:sp>
        <p:nvSpPr>
          <p:cNvPr id="2" name="page-3">
            <a:extLst xmlns:a="http://schemas.openxmlformats.org/drawingml/2006/main">
              <a:ext uri="{FF2B5EF4-FFF2-40B4-BE49-F238E27FC236}">
                <a16:creationId xmlns:a16="http://schemas.microsoft.com/office/drawing/2014/main" id="{2D57D010-54BE-4606-A248-40A0FAA88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3" name="step-arrow-0">
            <a:extLst xmlns:a="http://schemas.openxmlformats.org/drawingml/2006/main">
              <a:ext uri="{FF2B5EF4-FFF2-40B4-BE49-F238E27FC236}">
                <a16:creationId xmlns:a16="http://schemas.microsoft.com/office/drawing/2014/main" id="{F3F0C56C-3D1C-4142-9058-CAC803BBD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29146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step-0">
            <a:extLst xmlns:a="http://schemas.openxmlformats.org/drawingml/2006/main">
              <a:ext uri="{FF2B5EF4-FFF2-40B4-BE49-F238E27FC236}">
                <a16:creationId xmlns:a16="http://schemas.microsoft.com/office/drawing/2014/main" id="{92F05B9F-DCAE-4DE8-AFCA-ECB26A15B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5" name="step-no-0">
            <a:extLst xmlns:a="http://schemas.openxmlformats.org/drawingml/2006/main">
              <a:ext uri="{FF2B5EF4-FFF2-40B4-BE49-F238E27FC236}">
                <a16:creationId xmlns:a16="http://schemas.microsoft.com/office/drawing/2014/main" id="{1B6ECD17-032B-4F69-BAFB-8BAEFA3E4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01</a:t>
            </a:r>
          </a:p>
        </p:txBody>
      </p:sp>
      <p:sp>
        <p:nvSpPr>
          <p:cNvPr id="6" name="step-title-0">
            <a:extLst xmlns:a="http://schemas.openxmlformats.org/drawingml/2006/main">
              <a:ext uri="{FF2B5EF4-FFF2-40B4-BE49-F238E27FC236}">
                <a16:creationId xmlns:a16="http://schemas.microsoft.com/office/drawing/2014/main" id="{C580EAD2-C330-4FCB-A212-CF9E2A67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쓰기 정지</a:t>
            </a:r>
          </a:p>
        </p:txBody>
      </p:sp>
      <p:sp>
        <p:nvSpPr>
          <p:cNvPr id="7" name="step-detail-0">
            <a:extLst xmlns:a="http://schemas.openxmlformats.org/drawingml/2006/main">
              <a:ext uri="{FF2B5EF4-FFF2-40B4-BE49-F238E27FC236}">
                <a16:creationId xmlns:a16="http://schemas.microsoft.com/office/drawing/2014/main" id="{68F3D9B8-9895-41F6-B189-9FDF8AC2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PHP-FPM</a:t>
            </a:r>
          </a:p>
        </p:txBody>
      </p:sp>
      <p:sp>
        <p:nvSpPr>
          <p:cNvPr id="8" name="step-arrow-1">
            <a:extLst xmlns:a="http://schemas.openxmlformats.org/drawingml/2006/main">
              <a:ext uri="{FF2B5EF4-FFF2-40B4-BE49-F238E27FC236}">
                <a16:creationId xmlns:a16="http://schemas.microsoft.com/office/drawing/2014/main" id="{45F1BD76-027F-43E8-A85B-458A9E28B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29146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9" name="step-1">
            <a:extLst xmlns:a="http://schemas.openxmlformats.org/drawingml/2006/main">
              <a:ext uri="{FF2B5EF4-FFF2-40B4-BE49-F238E27FC236}">
                <a16:creationId xmlns:a16="http://schemas.microsoft.com/office/drawing/2014/main" id="{116E987B-883E-4CF2-8D30-8DAAC553E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0" name="step-no-1">
            <a:extLst xmlns:a="http://schemas.openxmlformats.org/drawingml/2006/main">
              <a:ext uri="{FF2B5EF4-FFF2-40B4-BE49-F238E27FC236}">
                <a16:creationId xmlns:a16="http://schemas.microsoft.com/office/drawing/2014/main" id="{290A115B-1F5B-40E2-8037-26CC73E9E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02</a:t>
            </a:r>
          </a:p>
        </p:txBody>
      </p:sp>
      <p:sp>
        <p:nvSpPr>
          <p:cNvPr id="11" name="step-title-1">
            <a:extLst xmlns:a="http://schemas.openxmlformats.org/drawingml/2006/main">
              <a:ext uri="{FF2B5EF4-FFF2-40B4-BE49-F238E27FC236}">
                <a16:creationId xmlns:a16="http://schemas.microsoft.com/office/drawing/2014/main" id="{13C58527-2D71-427B-9325-878245602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DB Dump</a:t>
            </a:r>
          </a:p>
        </p:txBody>
      </p:sp>
      <p:sp>
        <p:nvSpPr>
          <p:cNvPr id="12" name="step-detail-1">
            <a:extLst xmlns:a="http://schemas.openxmlformats.org/drawingml/2006/main">
              <a:ext uri="{FF2B5EF4-FFF2-40B4-BE49-F238E27FC236}">
                <a16:creationId xmlns:a16="http://schemas.microsoft.com/office/drawing/2014/main" id="{51897373-4908-470F-86EB-6D4699F15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MariaDB</a:t>
            </a:r>
          </a:p>
        </p:txBody>
      </p:sp>
      <p:sp>
        <p:nvSpPr>
          <p:cNvPr id="13" name="step-arrow-2">
            <a:extLst xmlns:a="http://schemas.openxmlformats.org/drawingml/2006/main">
              <a:ext uri="{FF2B5EF4-FFF2-40B4-BE49-F238E27FC236}">
                <a16:creationId xmlns:a16="http://schemas.microsoft.com/office/drawing/2014/main" id="{71FEB49E-2767-47F2-B17B-994656024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9146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4" name="step-2">
            <a:extLst xmlns:a="http://schemas.openxmlformats.org/drawingml/2006/main">
              <a:ext uri="{FF2B5EF4-FFF2-40B4-BE49-F238E27FC236}">
                <a16:creationId xmlns:a16="http://schemas.microsoft.com/office/drawing/2014/main" id="{7E490742-6C73-4639-9B63-B6B90580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5" name="step-no-2">
            <a:extLst xmlns:a="http://schemas.openxmlformats.org/drawingml/2006/main">
              <a:ext uri="{FF2B5EF4-FFF2-40B4-BE49-F238E27FC236}">
                <a16:creationId xmlns:a16="http://schemas.microsoft.com/office/drawing/2014/main" id="{DCF0B7FA-B566-49B7-8208-162944D4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03</a:t>
            </a:r>
          </a:p>
        </p:txBody>
      </p:sp>
      <p:sp>
        <p:nvSpPr>
          <p:cNvPr id="16" name="step-title-2">
            <a:extLst xmlns:a="http://schemas.openxmlformats.org/drawingml/2006/main">
              <a:ext uri="{FF2B5EF4-FFF2-40B4-BE49-F238E27FC236}">
                <a16:creationId xmlns:a16="http://schemas.microsoft.com/office/drawing/2014/main" id="{EC91D5D3-E278-40BC-82FE-A64624877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App Snapshot</a:t>
            </a:r>
          </a:p>
        </p:txBody>
      </p:sp>
      <p:sp>
        <p:nvSpPr>
          <p:cNvPr id="17" name="step-detail-2">
            <a:extLst xmlns:a="http://schemas.openxmlformats.org/drawingml/2006/main">
              <a:ext uri="{FF2B5EF4-FFF2-40B4-BE49-F238E27FC236}">
                <a16:creationId xmlns:a16="http://schemas.microsoft.com/office/drawing/2014/main" id="{3902AC0D-BB32-4B42-8883-2F0A0F963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설정·업로드</a:t>
            </a:r>
          </a:p>
        </p:txBody>
      </p:sp>
      <p:sp>
        <p:nvSpPr>
          <p:cNvPr id="18" name="step-arrow-3">
            <a:extLst xmlns:a="http://schemas.openxmlformats.org/drawingml/2006/main">
              <a:ext uri="{FF2B5EF4-FFF2-40B4-BE49-F238E27FC236}">
                <a16:creationId xmlns:a16="http://schemas.microsoft.com/office/drawing/2014/main" id="{37C509DB-6C44-4F7B-978B-F332472A5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9146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9" name="step-3">
            <a:extLst xmlns:a="http://schemas.openxmlformats.org/drawingml/2006/main">
              <a:ext uri="{FF2B5EF4-FFF2-40B4-BE49-F238E27FC236}">
                <a16:creationId xmlns:a16="http://schemas.microsoft.com/office/drawing/2014/main" id="{90559C30-9329-4D36-B541-F188B3D6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0" name="step-no-3">
            <a:extLst xmlns:a="http://schemas.openxmlformats.org/drawingml/2006/main">
              <a:ext uri="{FF2B5EF4-FFF2-40B4-BE49-F238E27FC236}">
                <a16:creationId xmlns:a16="http://schemas.microsoft.com/office/drawing/2014/main" id="{CA851425-1659-4399-AFBA-56116BDDA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21" name="step-title-3">
            <a:extLst xmlns:a="http://schemas.openxmlformats.org/drawingml/2006/main">
              <a:ext uri="{FF2B5EF4-FFF2-40B4-BE49-F238E27FC236}">
                <a16:creationId xmlns:a16="http://schemas.microsoft.com/office/drawing/2014/main" id="{6F0D5C23-34B5-408B-9CF9-E79172F9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즉시 재개</a:t>
            </a:r>
          </a:p>
        </p:txBody>
      </p:sp>
      <p:sp>
        <p:nvSpPr>
          <p:cNvPr id="22" name="step-detail-3">
            <a:extLst xmlns:a="http://schemas.openxmlformats.org/drawingml/2006/main">
              <a:ext uri="{FF2B5EF4-FFF2-40B4-BE49-F238E27FC236}">
                <a16:creationId xmlns:a16="http://schemas.microsoft.com/office/drawing/2014/main" id="{91983367-0AFA-4F56-9E28-9F4B3A42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PHP-FPM</a:t>
            </a:r>
          </a:p>
        </p:txBody>
      </p:sp>
      <p:sp>
        <p:nvSpPr>
          <p:cNvPr id="23" name="step-arrow-4">
            <a:extLst xmlns:a="http://schemas.openxmlformats.org/drawingml/2006/main">
              <a:ext uri="{FF2B5EF4-FFF2-40B4-BE49-F238E27FC236}">
                <a16:creationId xmlns:a16="http://schemas.microsoft.com/office/drawing/2014/main" id="{C8D5B672-4EF0-41B8-840E-F3779ADA7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914650"/>
            <a:ext cx="361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1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24" name="step-4">
            <a:extLst xmlns:a="http://schemas.openxmlformats.org/drawingml/2006/main">
              <a:ext uri="{FF2B5EF4-FFF2-40B4-BE49-F238E27FC236}">
                <a16:creationId xmlns:a16="http://schemas.microsoft.com/office/drawing/2014/main" id="{10EDD993-B4F7-409A-8130-03844E3F0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5" name="step-no-4">
            <a:extLst xmlns:a="http://schemas.openxmlformats.org/drawingml/2006/main">
              <a:ext uri="{FF2B5EF4-FFF2-40B4-BE49-F238E27FC236}">
                <a16:creationId xmlns:a16="http://schemas.microsoft.com/office/drawing/2014/main" id="{D1DD86D8-EDBA-4A31-A764-F0F4BE8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26" name="step-title-4">
            <a:extLst xmlns:a="http://schemas.openxmlformats.org/drawingml/2006/main">
              <a:ext uri="{FF2B5EF4-FFF2-40B4-BE49-F238E27FC236}">
                <a16:creationId xmlns:a16="http://schemas.microsoft.com/office/drawing/2014/main" id="{75F106F5-6ED1-4595-A85C-1F64EA7FD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공개키 암호화</a:t>
            </a:r>
          </a:p>
        </p:txBody>
      </p:sp>
      <p:sp>
        <p:nvSpPr>
          <p:cNvPr id="27" name="step-detail-4">
            <a:extLst xmlns:a="http://schemas.openxmlformats.org/drawingml/2006/main">
              <a:ext uri="{FF2B5EF4-FFF2-40B4-BE49-F238E27FC236}">
                <a16:creationId xmlns:a16="http://schemas.microsoft.com/office/drawing/2014/main" id="{13CE9C1D-D3D3-44D6-A67F-808929908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OpenPGP</a:t>
            </a:r>
          </a:p>
        </p:txBody>
      </p:sp>
      <p:sp>
        <p:nvSpPr>
          <p:cNvPr id="28" name="step-5">
            <a:extLst xmlns:a="http://schemas.openxmlformats.org/drawingml/2006/main">
              <a:ext uri="{FF2B5EF4-FFF2-40B4-BE49-F238E27FC236}">
                <a16:creationId xmlns:a16="http://schemas.microsoft.com/office/drawing/2014/main" id="{3BE80A8A-C8ED-46D9-9D1D-6D970FF66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114550"/>
            <a:ext cx="1562100" cy="2038350"/>
          </a:xfrm>
          <a:prstGeom xmlns:a="http://schemas.openxmlformats.org/drawingml/2006/main" prst="roundRect">
            <a:avLst>
              <a:gd name="adj" fmla="val 731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29" name="step-no-5">
            <a:extLst xmlns:a="http://schemas.openxmlformats.org/drawingml/2006/main">
              <a:ext uri="{FF2B5EF4-FFF2-40B4-BE49-F238E27FC236}">
                <a16:creationId xmlns:a16="http://schemas.microsoft.com/office/drawing/2014/main" id="{61429720-4621-4691-AA8B-8ECE58566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2324100"/>
            <a:ext cx="1219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0" name="step-title-5">
            <a:extLst xmlns:a="http://schemas.openxmlformats.org/drawingml/2006/main">
              <a:ext uri="{FF2B5EF4-FFF2-40B4-BE49-F238E27FC236}">
                <a16:creationId xmlns:a16="http://schemas.microsoft.com/office/drawing/2014/main" id="{ABB282CC-A6C8-4A1C-A1C3-7BA105504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2819400"/>
            <a:ext cx="1295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Manifest 검증</a:t>
            </a:r>
          </a:p>
        </p:txBody>
      </p:sp>
      <p:sp>
        <p:nvSpPr>
          <p:cNvPr id="31" name="step-detail-5">
            <a:extLst xmlns:a="http://schemas.openxmlformats.org/drawingml/2006/main">
              <a:ext uri="{FF2B5EF4-FFF2-40B4-BE49-F238E27FC236}">
                <a16:creationId xmlns:a16="http://schemas.microsoft.com/office/drawing/2014/main" id="{BE9FDFAD-D69C-4051-B251-E1F43BB0E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8900" y="3467100"/>
            <a:ext cx="1295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3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SHA-256</a:t>
            </a:r>
          </a:p>
        </p:txBody>
      </p:sp>
      <p:sp>
        <p:nvSpPr>
          <p:cNvPr id="32" name="backup-policy">
            <a:extLst xmlns:a="http://schemas.openxmlformats.org/drawingml/2006/main">
              <a:ext uri="{FF2B5EF4-FFF2-40B4-BE49-F238E27FC236}">
                <a16:creationId xmlns:a16="http://schemas.microsoft.com/office/drawing/2014/main" id="{08D24E58-9123-4E50-AB9B-BC4311529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4762500"/>
            <a:ext cx="8724900" cy="914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33" name="backup-policy-text">
            <a:extLst xmlns:a="http://schemas.openxmlformats.org/drawingml/2006/main">
              <a:ext uri="{FF2B5EF4-FFF2-40B4-BE49-F238E27FC236}">
                <a16:creationId xmlns:a16="http://schemas.microsoft.com/office/drawing/2014/main" id="{C81A8ACA-68B1-4185-8C0E-75F0FB067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5029200"/>
            <a:ext cx="80391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운영 30일 보존 · RPO 24시간+10분 · 실패한 .partial은 자동 제거</a:t>
            </a:r>
          </a:p>
        </p:txBody>
      </p:sp>
    </p:spTree>
    <p:extLst>
      <p:ext uri="{BB962C8B-B14F-4D97-AF65-F5344CB8AC3E}">
        <p14:creationId xmlns:p14="http://schemas.microsoft.com/office/powerpoint/2010/main" val="207494217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4">
            <a:extLst xmlns:a="http://schemas.openxmlformats.org/drawingml/2006/main">
              <a:ext uri="{FF2B5EF4-FFF2-40B4-BE49-F238E27FC236}">
                <a16:creationId xmlns:a16="http://schemas.microsoft.com/office/drawing/2014/main" id="{68B680B7-47C9-4C45-A530-1C36A9532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복호화 열쇠와 백업을 다른 장애 영역에 둡니다</a:t>
            </a:r>
          </a:p>
        </p:txBody>
      </p:sp>
      <p:sp>
        <p:nvSpPr>
          <p:cNvPr id="2" name="page-4">
            <a:extLst xmlns:a="http://schemas.openxmlformats.org/drawingml/2006/main">
              <a:ext uri="{FF2B5EF4-FFF2-40B4-BE49-F238E27FC236}">
                <a16:creationId xmlns:a16="http://schemas.microsoft.com/office/drawing/2014/main" id="{19B86331-45F5-45FC-9A99-DEEBA6C8C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04</a:t>
            </a:r>
          </a:p>
        </p:txBody>
      </p:sp>
      <p:sp>
        <p:nvSpPr>
          <p:cNvPr id="3" name="prod">
            <a:extLst xmlns:a="http://schemas.openxmlformats.org/drawingml/2006/main">
              <a:ext uri="{FF2B5EF4-FFF2-40B4-BE49-F238E27FC236}">
                <a16:creationId xmlns:a16="http://schemas.microsoft.com/office/drawing/2014/main" id="{210CAD44-D535-4418-A8A4-A94A99054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733550"/>
            <a:ext cx="44767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prod-title">
            <a:extLst xmlns:a="http://schemas.openxmlformats.org/drawingml/2006/main">
              <a:ext uri="{FF2B5EF4-FFF2-40B4-BE49-F238E27FC236}">
                <a16:creationId xmlns:a16="http://schemas.microsoft.com/office/drawing/2014/main" id="{A8FAE810-7F38-479C-9B87-ADB0F2E7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955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Community</a:t>
            </a:r>
          </a:p>
        </p:txBody>
      </p:sp>
      <p:sp>
        <p:nvSpPr>
          <p:cNvPr id="5" name="prod-copy">
            <a:extLst xmlns:a="http://schemas.openxmlformats.org/drawingml/2006/main">
              <a:ext uri="{FF2B5EF4-FFF2-40B4-BE49-F238E27FC236}">
                <a16:creationId xmlns:a16="http://schemas.microsoft.com/office/drawing/2014/main" id="{8C60C68D-045E-49C7-AA5E-BA78D7B2F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819400"/>
            <a:ext cx="3448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암호화 Backup</a:t>
            </a:r>
          </a:p>
          <a:p xmlns:a="http://schemas.openxmlformats.org/drawingml/2006/main">
            <a:pPr algn="ctr">
              <a:def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공개키</a:t>
            </a:r>
          </a:p>
          <a:p xmlns:a="http://schemas.openxmlformats.org/drawingml/2006/main">
            <a:pPr algn="ctr">
              <a:def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30일 보존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개인키 없음</a:t>
            </a:r>
          </a:p>
        </p:txBody>
      </p:sp>
      <p:sp>
        <p:nvSpPr>
          <p:cNvPr id="6" name="vault-arrow">
            <a:extLst xmlns:a="http://schemas.openxmlformats.org/drawingml/2006/main">
              <a:ext uri="{FF2B5EF4-FFF2-40B4-BE49-F238E27FC236}">
                <a16:creationId xmlns:a16="http://schemas.microsoft.com/office/drawing/2014/main" id="{55187AC1-900A-40BD-B1DE-19D196527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990850"/>
            <a:ext cx="20764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암호화 Archive만  →</a:t>
            </a:r>
          </a:p>
        </p:txBody>
      </p:sp>
      <p:sp>
        <p:nvSpPr>
          <p:cNvPr id="7" name="vault">
            <a:extLst xmlns:a="http://schemas.openxmlformats.org/drawingml/2006/main">
              <a:ext uri="{FF2B5EF4-FFF2-40B4-BE49-F238E27FC236}">
                <a16:creationId xmlns:a16="http://schemas.microsoft.com/office/drawing/2014/main" id="{C81DE24E-D99D-48BC-B31B-FD99E27AB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1733550"/>
            <a:ext cx="4476750" cy="3086100"/>
          </a:xfrm>
          <a:prstGeom xmlns:a="http://schemas.openxmlformats.org/drawingml/2006/main" prst="roundRect">
            <a:avLst>
              <a:gd name="adj" fmla="val 3704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8" name="vault-title">
            <a:extLst xmlns:a="http://schemas.openxmlformats.org/drawingml/2006/main">
              <a:ext uri="{FF2B5EF4-FFF2-40B4-BE49-F238E27FC236}">
                <a16:creationId xmlns:a16="http://schemas.microsoft.com/office/drawing/2014/main" id="{169F8A54-ECF0-4B62-B221-E7B1C65A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095500"/>
            <a:ext cx="3829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WSL 복구 Vault</a:t>
            </a:r>
          </a:p>
        </p:txBody>
      </p:sp>
      <p:sp>
        <p:nvSpPr>
          <p:cNvPr id="9" name="vault-copy">
            <a:extLst xmlns:a="http://schemas.openxmlformats.org/drawingml/2006/main">
              <a:ext uri="{FF2B5EF4-FFF2-40B4-BE49-F238E27FC236}">
                <a16:creationId xmlns:a16="http://schemas.microsoft.com/office/drawing/2014/main" id="{31F1CD87-CB51-4ED7-91CA-0439F55C3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19400"/>
            <a:ext cx="3448050" cy="1638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개인키·Passphrase</a:t>
            </a:r>
          </a:p>
          <a:p xmlns:a="http://schemas.openxmlformats.org/drawingml/2006/main">
            <a:pPr algn="ctr">
              <a:def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root 전용 0600</a:t>
            </a:r>
          </a:p>
          <a:p xmlns:a="http://schemas.openxmlformats.org/drawingml/2006/main">
            <a:pPr algn="ctr">
              <a:def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별도 App·DB 복원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경로 기본 거부</a:t>
            </a:r>
          </a:p>
        </p:txBody>
      </p:sp>
      <p:sp>
        <p:nvSpPr>
          <p:cNvPr id="10" name="vault-result">
            <a:extLst xmlns:a="http://schemas.openxmlformats.org/drawingml/2006/main">
              <a:ext uri="{FF2B5EF4-FFF2-40B4-BE49-F238E27FC236}">
                <a16:creationId xmlns:a16="http://schemas.microsoft.com/office/drawing/2014/main" id="{9EB4B2BD-2DD2-4F29-80CE-57C262336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91150"/>
            <a:ext cx="10477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단일 서버 침해만으로는 백업 원문을 열 수 없습니다</a:t>
            </a:r>
          </a:p>
        </p:txBody>
      </p:sp>
    </p:spTree>
    <p:extLst>
      <p:ext uri="{BB962C8B-B14F-4D97-AF65-F5344CB8AC3E}">
        <p14:creationId xmlns:p14="http://schemas.microsoft.com/office/powerpoint/2010/main" val="12211520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-5">
            <a:extLst xmlns:a="http://schemas.openxmlformats.org/drawingml/2006/main">
              <a:ext uri="{FF2B5EF4-FFF2-40B4-BE49-F238E27FC236}">
                <a16:creationId xmlns:a16="http://schemas.microsoft.com/office/drawing/2014/main" id="{49DA2125-73A3-4FD2-914A-3B4496C6E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Snapshot은 9초에 완전히 복원됐습니다</a:t>
            </a:r>
          </a:p>
        </p:txBody>
      </p:sp>
      <p:sp>
        <p:nvSpPr>
          <p:cNvPr id="2" name="page-5">
            <a:extLst xmlns:a="http://schemas.openxmlformats.org/drawingml/2006/main">
              <a:ext uri="{FF2B5EF4-FFF2-40B4-BE49-F238E27FC236}">
                <a16:creationId xmlns:a16="http://schemas.microsoft.com/office/drawing/2014/main" id="{6DF1BA38-0B14-4CD1-92B4-F41FD6364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05</a:t>
            </a:r>
          </a:p>
        </p:txBody>
      </p:sp>
      <p:sp>
        <p:nvSpPr>
          <p:cNvPr id="3" name="rto-box">
            <a:extLst xmlns:a="http://schemas.openxmlformats.org/drawingml/2006/main">
              <a:ext uri="{FF2B5EF4-FFF2-40B4-BE49-F238E27FC236}">
                <a16:creationId xmlns:a16="http://schemas.microsoft.com/office/drawing/2014/main" id="{CCBCFAA4-94E2-4FB3-A8B6-9ADBBCCE1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rto-rule">
            <a:extLst xmlns:a="http://schemas.openxmlformats.org/drawingml/2006/main">
              <a:ext uri="{FF2B5EF4-FFF2-40B4-BE49-F238E27FC236}">
                <a16:creationId xmlns:a16="http://schemas.microsoft.com/office/drawing/2014/main" id="{E46BCBAA-D365-4C7B-8E86-03CBD2A5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811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rto-value">
            <a:extLst xmlns:a="http://schemas.openxmlformats.org/drawingml/2006/main">
              <a:ext uri="{FF2B5EF4-FFF2-40B4-BE49-F238E27FC236}">
                <a16:creationId xmlns:a16="http://schemas.microsoft.com/office/drawing/2014/main" id="{AB23AC58-51E8-4198-B70D-194F20ECE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9431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9초</a:t>
            </a:r>
          </a:p>
        </p:txBody>
      </p:sp>
      <p:sp>
        <p:nvSpPr>
          <p:cNvPr id="6" name="rto-label">
            <a:extLst xmlns:a="http://schemas.openxmlformats.org/drawingml/2006/main">
              <a:ext uri="{FF2B5EF4-FFF2-40B4-BE49-F238E27FC236}">
                <a16:creationId xmlns:a16="http://schemas.microsoft.com/office/drawing/2014/main" id="{3FCDD5C2-BE41-4415-9B49-9ED0C9CB8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622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App·DB 복원 RTO</a:t>
            </a:r>
          </a:p>
        </p:txBody>
      </p:sp>
      <p:sp>
        <p:nvSpPr>
          <p:cNvPr id="7" name="tables-box">
            <a:extLst xmlns:a="http://schemas.openxmlformats.org/drawingml/2006/main">
              <a:ext uri="{FF2B5EF4-FFF2-40B4-BE49-F238E27FC236}">
                <a16:creationId xmlns:a16="http://schemas.microsoft.com/office/drawing/2014/main" id="{72E7391F-D0BF-42FE-B313-8440A7298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tables-rule">
            <a:extLst xmlns:a="http://schemas.openxmlformats.org/drawingml/2006/main">
              <a:ext uri="{FF2B5EF4-FFF2-40B4-BE49-F238E27FC236}">
                <a16:creationId xmlns:a16="http://schemas.microsoft.com/office/drawing/2014/main" id="{B7C4FC42-458C-4DD3-8DAE-925BB5AE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811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9" name="tables-value">
            <a:extLst xmlns:a="http://schemas.openxmlformats.org/drawingml/2006/main">
              <a:ext uri="{FF2B5EF4-FFF2-40B4-BE49-F238E27FC236}">
                <a16:creationId xmlns:a16="http://schemas.microsoft.com/office/drawing/2014/main" id="{D5F634D6-1342-435D-88D7-07F7F1760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9431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32</a:t>
            </a:r>
          </a:p>
        </p:txBody>
      </p:sp>
      <p:sp>
        <p:nvSpPr>
          <p:cNvPr id="10" name="tables-label">
            <a:extLst xmlns:a="http://schemas.openxmlformats.org/drawingml/2006/main">
              <a:ext uri="{FF2B5EF4-FFF2-40B4-BE49-F238E27FC236}">
                <a16:creationId xmlns:a16="http://schemas.microsoft.com/office/drawing/2014/main" id="{0B54FDFD-D006-436B-9146-5FE7AF84C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622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복원 Table</a:t>
            </a:r>
          </a:p>
        </p:txBody>
      </p:sp>
      <p:sp>
        <p:nvSpPr>
          <p:cNvPr id="11" name="files-box">
            <a:extLst xmlns:a="http://schemas.openxmlformats.org/drawingml/2006/main">
              <a:ext uri="{FF2B5EF4-FFF2-40B4-BE49-F238E27FC236}">
                <a16:creationId xmlns:a16="http://schemas.microsoft.com/office/drawing/2014/main" id="{CA9FEB9E-F1D6-42CC-A57B-45BA284E0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3238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2" name="files-rule">
            <a:extLst xmlns:a="http://schemas.openxmlformats.org/drawingml/2006/main">
              <a:ext uri="{FF2B5EF4-FFF2-40B4-BE49-F238E27FC236}">
                <a16:creationId xmlns:a16="http://schemas.microsoft.com/office/drawing/2014/main" id="{02F50578-5D0E-44EC-88B5-E7850454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5811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25B8E8"/>
          </a:solidFill>
          <a:ln xmlns:a="http://schemas.openxmlformats.org/drawingml/2006/main" w="9525">
            <a:solidFill>
              <a:srgbClr val="25B8E8"/>
            </a:solidFill>
            <a:prstDash val="solid"/>
          </a:ln>
        </p:spPr>
      </p:sp>
      <p:sp>
        <p:nvSpPr>
          <p:cNvPr id="13" name="files-value">
            <a:extLst xmlns:a="http://schemas.openxmlformats.org/drawingml/2006/main">
              <a:ext uri="{FF2B5EF4-FFF2-40B4-BE49-F238E27FC236}">
                <a16:creationId xmlns:a16="http://schemas.microsoft.com/office/drawing/2014/main" id="{56D1520A-1DCF-40BB-9AA8-1EBCFFB3F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943100"/>
            <a:ext cx="2686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25B8E8"/>
                </a:solidFill>
                <a:latin typeface="Malgun Gothic"/>
                <a:ea typeface="Malgun Gothic"/>
                <a:cs typeface="Malgun Gothic"/>
              </a:rPr>
              <a:t>11,336</a:t>
            </a:r>
          </a:p>
        </p:txBody>
      </p:sp>
      <p:sp>
        <p:nvSpPr>
          <p:cNvPr id="14" name="files-label">
            <a:extLst xmlns:a="http://schemas.openxmlformats.org/drawingml/2006/main">
              <a:ext uri="{FF2B5EF4-FFF2-40B4-BE49-F238E27FC236}">
                <a16:creationId xmlns:a16="http://schemas.microsoft.com/office/drawing/2014/main" id="{B63AB44E-FAAB-4916-82E5-C88C126B0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62250"/>
            <a:ext cx="2686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복원 File</a:t>
            </a:r>
          </a:p>
        </p:txBody>
      </p:sp>
      <p:sp>
        <p:nvSpPr>
          <p:cNvPr id="15" name="count-name-0">
            <a:extLst xmlns:a="http://schemas.openxmlformats.org/drawingml/2006/main">
              <a:ext uri="{FF2B5EF4-FFF2-40B4-BE49-F238E27FC236}">
                <a16:creationId xmlns:a16="http://schemas.microsoft.com/office/drawing/2014/main" id="{81A794B2-67C3-4ECA-B391-D9F1ABDF9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사용자</a:t>
            </a:r>
          </a:p>
        </p:txBody>
      </p:sp>
      <p:sp>
        <p:nvSpPr>
          <p:cNvPr id="16" name="count-value-0">
            <a:extLst xmlns:a="http://schemas.openxmlformats.org/drawingml/2006/main">
              <a:ext uri="{FF2B5EF4-FFF2-40B4-BE49-F238E27FC236}">
                <a16:creationId xmlns:a16="http://schemas.microsoft.com/office/drawing/2014/main" id="{856B1F22-DD5A-4DC5-8558-9D8FA686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629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41 = 41</a:t>
            </a:r>
          </a:p>
        </p:txBody>
      </p:sp>
      <p:sp>
        <p:nvSpPr>
          <p:cNvPr id="17" name="count-name-1">
            <a:extLst xmlns:a="http://schemas.openxmlformats.org/drawingml/2006/main">
              <a:ext uri="{FF2B5EF4-FFF2-40B4-BE49-F238E27FC236}">
                <a16:creationId xmlns:a16="http://schemas.microsoft.com/office/drawing/2014/main" id="{23519A18-084D-4BA7-AFB6-EC412EDB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토론</a:t>
            </a:r>
          </a:p>
        </p:txBody>
      </p:sp>
      <p:sp>
        <p:nvSpPr>
          <p:cNvPr id="18" name="count-value-1">
            <a:extLst xmlns:a="http://schemas.openxmlformats.org/drawingml/2006/main">
              <a:ext uri="{FF2B5EF4-FFF2-40B4-BE49-F238E27FC236}">
                <a16:creationId xmlns:a16="http://schemas.microsoft.com/office/drawing/2014/main" id="{B9DDC1C7-77FD-4AF0-89F6-B64C324D3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629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121 = 121</a:t>
            </a:r>
          </a:p>
        </p:txBody>
      </p:sp>
      <p:sp>
        <p:nvSpPr>
          <p:cNvPr id="19" name="count-name-2">
            <a:extLst xmlns:a="http://schemas.openxmlformats.org/drawingml/2006/main">
              <a:ext uri="{FF2B5EF4-FFF2-40B4-BE49-F238E27FC236}">
                <a16:creationId xmlns:a16="http://schemas.microsoft.com/office/drawing/2014/main" id="{EC24FC9A-26E2-4C4D-9394-4BF5004CF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게시물</a:t>
            </a:r>
          </a:p>
        </p:txBody>
      </p:sp>
      <p:sp>
        <p:nvSpPr>
          <p:cNvPr id="20" name="count-value-2">
            <a:extLst xmlns:a="http://schemas.openxmlformats.org/drawingml/2006/main">
              <a:ext uri="{FF2B5EF4-FFF2-40B4-BE49-F238E27FC236}">
                <a16:creationId xmlns:a16="http://schemas.microsoft.com/office/drawing/2014/main" id="{D8EB82F4-9ED1-414B-9B80-B44FF573F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629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325 = 325</a:t>
            </a:r>
          </a:p>
        </p:txBody>
      </p:sp>
      <p:sp>
        <p:nvSpPr>
          <p:cNvPr id="21" name="count-name-3">
            <a:extLst xmlns:a="http://schemas.openxmlformats.org/drawingml/2006/main">
              <a:ext uri="{FF2B5EF4-FFF2-40B4-BE49-F238E27FC236}">
                <a16:creationId xmlns:a16="http://schemas.microsoft.com/office/drawing/2014/main" id="{556858CF-F11C-4A63-B330-8AE0A8189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171950"/>
            <a:ext cx="228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첨부</a:t>
            </a:r>
          </a:p>
        </p:txBody>
      </p:sp>
      <p:sp>
        <p:nvSpPr>
          <p:cNvPr id="22" name="count-value-3">
            <a:extLst xmlns:a="http://schemas.openxmlformats.org/drawingml/2006/main">
              <a:ext uri="{FF2B5EF4-FFF2-40B4-BE49-F238E27FC236}">
                <a16:creationId xmlns:a16="http://schemas.microsoft.com/office/drawing/2014/main" id="{6665D341-29C8-494F-ACAF-80606A94B7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625" y="4629150"/>
            <a:ext cx="228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2025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115 = 115</a:t>
            </a:r>
          </a:p>
        </p:txBody>
      </p:sp>
      <p:sp>
        <p:nvSpPr>
          <p:cNvPr id="23" name="restore-http">
            <a:extLst xmlns:a="http://schemas.openxmlformats.org/drawingml/2006/main">
              <a:ext uri="{FF2B5EF4-FFF2-40B4-BE49-F238E27FC236}">
                <a16:creationId xmlns:a16="http://schemas.microsoft.com/office/drawing/2014/main" id="{41290E32-C6EE-4583-91E0-2F6509AA1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562600"/>
            <a:ext cx="1028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격리 HTTP 200 · 0.947초 · 핵심 데이터 차이 0건</a:t>
            </a:r>
          </a:p>
        </p:txBody>
      </p:sp>
    </p:spTree>
    <p:extLst>
      <p:ext uri="{BB962C8B-B14F-4D97-AF65-F5344CB8AC3E}">
        <p14:creationId xmlns:p14="http://schemas.microsoft.com/office/powerpoint/2010/main" val="16308850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title-6">
            <a:extLst xmlns:a="http://schemas.openxmlformats.org/drawingml/2006/main">
              <a:ext uri="{FF2B5EF4-FFF2-40B4-BE49-F238E27FC236}">
                <a16:creationId xmlns:a16="http://schemas.microsoft.com/office/drawing/2014/main" id="{444B7EF5-D11A-4083-8D85-0F07D202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5분마다 서비스부터 AI 연동까지 한 번에 봅니다</a:t>
            </a:r>
          </a:p>
        </p:txBody>
      </p:sp>
      <p:sp>
        <p:nvSpPr>
          <p:cNvPr id="2" name="page-6">
            <a:extLst xmlns:a="http://schemas.openxmlformats.org/drawingml/2006/main">
              <a:ext uri="{FF2B5EF4-FFF2-40B4-BE49-F238E27FC236}">
                <a16:creationId xmlns:a16="http://schemas.microsoft.com/office/drawing/2014/main" id="{5410B8D1-D8C9-4AD1-B429-A51CE2110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06</a:t>
            </a:r>
          </a:p>
        </p:txBody>
      </p:sp>
      <p:sp>
        <p:nvSpPr>
          <p:cNvPr id="3" name="signal-0">
            <a:extLst xmlns:a="http://schemas.openxmlformats.org/drawingml/2006/main">
              <a:ext uri="{FF2B5EF4-FFF2-40B4-BE49-F238E27FC236}">
                <a16:creationId xmlns:a16="http://schemas.microsoft.com/office/drawing/2014/main" id="{F26F8BB7-421C-4D37-81D2-4E10656BF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58115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signal-mark-0">
            <a:extLst xmlns:a="http://schemas.openxmlformats.org/drawingml/2006/main">
              <a:ext uri="{FF2B5EF4-FFF2-40B4-BE49-F238E27FC236}">
                <a16:creationId xmlns:a16="http://schemas.microsoft.com/office/drawing/2014/main" id="{401069CA-DE98-47F6-ABEE-D9EFC876B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85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5" name="signal-label-0">
            <a:extLst xmlns:a="http://schemas.openxmlformats.org/drawingml/2006/main">
              <a:ext uri="{FF2B5EF4-FFF2-40B4-BE49-F238E27FC236}">
                <a16:creationId xmlns:a16="http://schemas.microsoft.com/office/drawing/2014/main" id="{C9697E0B-F9A2-496F-8327-EE448F199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1885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Nginx</a:t>
            </a:r>
          </a:p>
        </p:txBody>
      </p:sp>
      <p:sp>
        <p:nvSpPr>
          <p:cNvPr id="6" name="signal-1">
            <a:extLst xmlns:a="http://schemas.openxmlformats.org/drawingml/2006/main">
              <a:ext uri="{FF2B5EF4-FFF2-40B4-BE49-F238E27FC236}">
                <a16:creationId xmlns:a16="http://schemas.microsoft.com/office/drawing/2014/main" id="{80D3287D-67FD-4A8B-8DEE-B8CC51019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58115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7" name="signal-mark-1">
            <a:extLst xmlns:a="http://schemas.openxmlformats.org/drawingml/2006/main">
              <a:ext uri="{FF2B5EF4-FFF2-40B4-BE49-F238E27FC236}">
                <a16:creationId xmlns:a16="http://schemas.microsoft.com/office/drawing/2014/main" id="{18B353FE-B13B-4795-AA7E-B69B15C97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1885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8" name="signal-label-1">
            <a:extLst xmlns:a="http://schemas.openxmlformats.org/drawingml/2006/main">
              <a:ext uri="{FF2B5EF4-FFF2-40B4-BE49-F238E27FC236}">
                <a16:creationId xmlns:a16="http://schemas.microsoft.com/office/drawing/2014/main" id="{EFB595DB-D272-4600-B892-A3C7074EE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1885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PHP-FPM</a:t>
            </a:r>
          </a:p>
        </p:txBody>
      </p:sp>
      <p:sp>
        <p:nvSpPr>
          <p:cNvPr id="9" name="signal-2">
            <a:extLst xmlns:a="http://schemas.openxmlformats.org/drawingml/2006/main">
              <a:ext uri="{FF2B5EF4-FFF2-40B4-BE49-F238E27FC236}">
                <a16:creationId xmlns:a16="http://schemas.microsoft.com/office/drawing/2014/main" id="{68E4A9C5-DC58-4376-96FD-0DCC0F82E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58115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0" name="signal-mark-2">
            <a:extLst xmlns:a="http://schemas.openxmlformats.org/drawingml/2006/main">
              <a:ext uri="{FF2B5EF4-FFF2-40B4-BE49-F238E27FC236}">
                <a16:creationId xmlns:a16="http://schemas.microsoft.com/office/drawing/2014/main" id="{0D8A354B-7052-4296-967D-31885C530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85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1" name="signal-label-2">
            <a:extLst xmlns:a="http://schemas.openxmlformats.org/drawingml/2006/main">
              <a:ext uri="{FF2B5EF4-FFF2-40B4-BE49-F238E27FC236}">
                <a16:creationId xmlns:a16="http://schemas.microsoft.com/office/drawing/2014/main" id="{E6E92BA1-54AB-4F40-9408-9806D6E87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885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MariaDB</a:t>
            </a:r>
          </a:p>
        </p:txBody>
      </p:sp>
      <p:sp>
        <p:nvSpPr>
          <p:cNvPr id="12" name="signal-3">
            <a:extLst xmlns:a="http://schemas.openxmlformats.org/drawingml/2006/main">
              <a:ext uri="{FF2B5EF4-FFF2-40B4-BE49-F238E27FC236}">
                <a16:creationId xmlns:a16="http://schemas.microsoft.com/office/drawing/2014/main" id="{8C6B0E7E-DCFE-4A8F-9A4E-58713E0D8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58115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3" name="signal-mark-3">
            <a:extLst xmlns:a="http://schemas.openxmlformats.org/drawingml/2006/main">
              <a:ext uri="{FF2B5EF4-FFF2-40B4-BE49-F238E27FC236}">
                <a16:creationId xmlns:a16="http://schemas.microsoft.com/office/drawing/2014/main" id="{8014763E-C026-4DA7-98F9-99CE1979C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88595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4" name="signal-label-3">
            <a:extLst xmlns:a="http://schemas.openxmlformats.org/drawingml/2006/main">
              <a:ext uri="{FF2B5EF4-FFF2-40B4-BE49-F238E27FC236}">
                <a16:creationId xmlns:a16="http://schemas.microsoft.com/office/drawing/2014/main" id="{56286A0B-BC38-4656-860F-169F08A10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88595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</a:t>
            </a:r>
          </a:p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HTTP</a:t>
            </a:r>
          </a:p>
        </p:txBody>
      </p:sp>
      <p:sp>
        <p:nvSpPr>
          <p:cNvPr id="15" name="signal-4">
            <a:extLst xmlns:a="http://schemas.openxmlformats.org/drawingml/2006/main">
              <a:ext uri="{FF2B5EF4-FFF2-40B4-BE49-F238E27FC236}">
                <a16:creationId xmlns:a16="http://schemas.microsoft.com/office/drawing/2014/main" id="{6A506141-B53C-4DC1-AC82-6BA49DFD9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766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signal-mark-4">
            <a:extLst xmlns:a="http://schemas.openxmlformats.org/drawingml/2006/main">
              <a:ext uri="{FF2B5EF4-FFF2-40B4-BE49-F238E27FC236}">
                <a16:creationId xmlns:a16="http://schemas.microsoft.com/office/drawing/2014/main" id="{5A6CCB8D-CCF4-430B-9EC6-77559EAAD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17" name="signal-label-4">
            <a:extLst xmlns:a="http://schemas.openxmlformats.org/drawingml/2006/main">
              <a:ext uri="{FF2B5EF4-FFF2-40B4-BE49-F238E27FC236}">
                <a16:creationId xmlns:a16="http://schemas.microsoft.com/office/drawing/2014/main" id="{121AC356-CDA9-48E5-A8D7-B0C96FEF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35814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AI 연동</a:t>
            </a:r>
          </a:p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HTTP</a:t>
            </a:r>
          </a:p>
        </p:txBody>
      </p:sp>
      <p:sp>
        <p:nvSpPr>
          <p:cNvPr id="18" name="signal-5">
            <a:extLst xmlns:a="http://schemas.openxmlformats.org/drawingml/2006/main">
              <a:ext uri="{FF2B5EF4-FFF2-40B4-BE49-F238E27FC236}">
                <a16:creationId xmlns:a16="http://schemas.microsoft.com/office/drawing/2014/main" id="{93CAF80C-A568-4148-A751-C12F3A37B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2766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9" name="signal-mark-5">
            <a:extLst xmlns:a="http://schemas.openxmlformats.org/drawingml/2006/main">
              <a:ext uri="{FF2B5EF4-FFF2-40B4-BE49-F238E27FC236}">
                <a16:creationId xmlns:a16="http://schemas.microsoft.com/office/drawing/2014/main" id="{02A878CE-5628-4AF3-8283-752E223F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581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0" name="signal-label-5">
            <a:extLst xmlns:a="http://schemas.openxmlformats.org/drawingml/2006/main">
              <a:ext uri="{FF2B5EF4-FFF2-40B4-BE49-F238E27FC236}">
                <a16:creationId xmlns:a16="http://schemas.microsoft.com/office/drawing/2014/main" id="{FBB5845C-BBB3-4048-B2F2-DD96A47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35814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Disk·inode</a:t>
            </a:r>
          </a:p>
        </p:txBody>
      </p:sp>
      <p:sp>
        <p:nvSpPr>
          <p:cNvPr id="21" name="signal-6">
            <a:extLst xmlns:a="http://schemas.openxmlformats.org/drawingml/2006/main">
              <a:ext uri="{FF2B5EF4-FFF2-40B4-BE49-F238E27FC236}">
                <a16:creationId xmlns:a16="http://schemas.microsoft.com/office/drawing/2014/main" id="{9087A796-B863-432D-91E5-3BCC85FEC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2766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22" name="signal-mark-6">
            <a:extLst xmlns:a="http://schemas.openxmlformats.org/drawingml/2006/main">
              <a:ext uri="{FF2B5EF4-FFF2-40B4-BE49-F238E27FC236}">
                <a16:creationId xmlns:a16="http://schemas.microsoft.com/office/drawing/2014/main" id="{308B6A2E-9D5F-4852-BEAE-DA479C730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581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3" name="signal-label-6">
            <a:extLst xmlns:a="http://schemas.openxmlformats.org/drawingml/2006/main">
              <a:ext uri="{FF2B5EF4-FFF2-40B4-BE49-F238E27FC236}">
                <a16:creationId xmlns:a16="http://schemas.microsoft.com/office/drawing/2014/main" id="{7BDB1452-FE18-408D-A352-201BA9BEF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Backup</a:t>
            </a:r>
          </a:p>
        </p:txBody>
      </p:sp>
      <p:sp>
        <p:nvSpPr>
          <p:cNvPr id="24" name="signal-7">
            <a:extLst xmlns:a="http://schemas.openxmlformats.org/drawingml/2006/main">
              <a:ext uri="{FF2B5EF4-FFF2-40B4-BE49-F238E27FC236}">
                <a16:creationId xmlns:a16="http://schemas.microsoft.com/office/drawing/2014/main" id="{8DC4F0A1-8E56-4140-AC42-0A663102A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3276600"/>
            <a:ext cx="2362200" cy="1276350"/>
          </a:xfrm>
          <a:prstGeom xmlns:a="http://schemas.openxmlformats.org/drawingml/2006/main" prst="roundRect">
            <a:avLst>
              <a:gd name="adj" fmla="val 8955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25" name="signal-mark-7">
            <a:extLst xmlns:a="http://schemas.openxmlformats.org/drawingml/2006/main">
              <a:ext uri="{FF2B5EF4-FFF2-40B4-BE49-F238E27FC236}">
                <a16:creationId xmlns:a16="http://schemas.microsoft.com/office/drawing/2014/main" id="{5A24B2DF-BE9F-4036-B569-25A8D30F9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581400"/>
            <a:ext cx="419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✓</a:t>
            </a:r>
          </a:p>
        </p:txBody>
      </p:sp>
      <p:sp>
        <p:nvSpPr>
          <p:cNvPr id="26" name="signal-label-7">
            <a:extLst xmlns:a="http://schemas.openxmlformats.org/drawingml/2006/main">
              <a:ext uri="{FF2B5EF4-FFF2-40B4-BE49-F238E27FC236}">
                <a16:creationId xmlns:a16="http://schemas.microsoft.com/office/drawing/2014/main" id="{A5AF623B-BD3F-4945-80B1-05F556BB2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581400"/>
            <a:ext cx="15049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Mail Driver</a:t>
            </a:r>
          </a:p>
        </p:txBody>
      </p:sp>
      <p:sp>
        <p:nvSpPr>
          <p:cNvPr id="27" name="signal-result">
            <a:extLst xmlns:a="http://schemas.openxmlformats.org/drawingml/2006/main">
              <a:ext uri="{FF2B5EF4-FFF2-40B4-BE49-F238E27FC236}">
                <a16:creationId xmlns:a16="http://schemas.microsoft.com/office/drawing/2014/main" id="{458A1BC5-D015-4D70-906A-B86F0BD90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91150"/>
            <a:ext cx="10858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Production 3/3 Active · HTTP 200/200/200 · Disk 1% · Alert 0</a:t>
            </a:r>
          </a:p>
        </p:txBody>
      </p:sp>
    </p:spTree>
    <p:extLst>
      <p:ext uri="{BB962C8B-B14F-4D97-AF65-F5344CB8AC3E}">
        <p14:creationId xmlns:p14="http://schemas.microsoft.com/office/powerpoint/2010/main" val="211837452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-7">
            <a:extLst xmlns:a="http://schemas.openxmlformats.org/drawingml/2006/main">
              <a:ext uri="{FF2B5EF4-FFF2-40B4-BE49-F238E27FC236}">
                <a16:creationId xmlns:a16="http://schemas.microsoft.com/office/drawing/2014/main" id="{3E1187A8-2CA3-4413-A772-0106051B7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Chat은 상태가 바뀔 때만 알립니다</a:t>
            </a:r>
          </a:p>
        </p:txBody>
      </p:sp>
      <p:sp>
        <p:nvSpPr>
          <p:cNvPr id="2" name="page-7">
            <a:extLst xmlns:a="http://schemas.openxmlformats.org/drawingml/2006/main">
              <a:ext uri="{FF2B5EF4-FFF2-40B4-BE49-F238E27FC236}">
                <a16:creationId xmlns:a16="http://schemas.microsoft.com/office/drawing/2014/main" id="{345139FC-C587-4C8F-8CE7-DBFAA82AF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07</a:t>
            </a:r>
          </a:p>
        </p:txBody>
      </p:sp>
      <p:sp>
        <p:nvSpPr>
          <p:cNvPr id="3" name="alert-arrow-0">
            <a:extLst xmlns:a="http://schemas.openxmlformats.org/drawingml/2006/main">
              <a:ext uri="{FF2B5EF4-FFF2-40B4-BE49-F238E27FC236}">
                <a16:creationId xmlns:a16="http://schemas.microsoft.com/office/drawing/2014/main" id="{E96677DA-29FF-4880-BBCB-00DA6FB8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2400" y="2933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4" name="alert-0">
            <a:extLst xmlns:a="http://schemas.openxmlformats.org/drawingml/2006/main">
              <a:ext uri="{FF2B5EF4-FFF2-40B4-BE49-F238E27FC236}">
                <a16:creationId xmlns:a16="http://schemas.microsoft.com/office/drawing/2014/main" id="{ECB5E376-0CF5-4B2C-A584-1A4D02AC2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30670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5" name="alert-top-0">
            <a:extLst xmlns:a="http://schemas.openxmlformats.org/drawingml/2006/main">
              <a:ext uri="{FF2B5EF4-FFF2-40B4-BE49-F238E27FC236}">
                <a16:creationId xmlns:a16="http://schemas.microsoft.com/office/drawing/2014/main" id="{276D4844-89A1-4F98-B88F-18CD4451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82880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42318"/>
          </a:solidFill>
          <a:ln xmlns:a="http://schemas.openxmlformats.org/drawingml/2006/main" w="9525">
            <a:solidFill>
              <a:srgbClr val="B42318"/>
            </a:solidFill>
            <a:prstDash val="solid"/>
          </a:ln>
        </p:spPr>
      </p:sp>
      <p:sp>
        <p:nvSpPr>
          <p:cNvPr id="6" name="alert-title-0">
            <a:extLst xmlns:a="http://schemas.openxmlformats.org/drawingml/2006/main">
              <a:ext uri="{FF2B5EF4-FFF2-40B4-BE49-F238E27FC236}">
                <a16:creationId xmlns:a16="http://schemas.microsoft.com/office/drawing/2014/main" id="{0BEC631D-48CF-4BFB-A400-518606487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050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장애</a:t>
            </a:r>
          </a:p>
        </p:txBody>
      </p:sp>
      <p:sp>
        <p:nvSpPr>
          <p:cNvPr id="7" name="alert-detail-0">
            <a:extLst xmlns:a="http://schemas.openxmlformats.org/drawingml/2006/main">
              <a:ext uri="{FF2B5EF4-FFF2-40B4-BE49-F238E27FC236}">
                <a16:creationId xmlns:a16="http://schemas.microsoft.com/office/drawing/2014/main" id="{CF0FD59E-716D-4EDF-B5AA-80774366C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099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AI Health 실패</a:t>
            </a:r>
          </a:p>
        </p:txBody>
      </p:sp>
      <p:sp>
        <p:nvSpPr>
          <p:cNvPr id="8" name="alert-result-0">
            <a:extLst xmlns:a="http://schemas.openxmlformats.org/drawingml/2006/main">
              <a:ext uri="{FF2B5EF4-FFF2-40B4-BE49-F238E27FC236}">
                <a16:creationId xmlns:a16="http://schemas.microsoft.com/office/drawing/2014/main" id="{6A81BF8C-11A3-4195-9F51-71A385938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528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B42318"/>
                </a:solidFill>
                <a:latin typeface="Malgun Gothic"/>
                <a:ea typeface="Malgun Gothic"/>
                <a:cs typeface="Malgun Gothic"/>
              </a:rPr>
              <a:t>Chat 1회</a:t>
            </a:r>
          </a:p>
        </p:txBody>
      </p:sp>
      <p:sp>
        <p:nvSpPr>
          <p:cNvPr id="9" name="alert-arrow-1">
            <a:extLst xmlns:a="http://schemas.openxmlformats.org/drawingml/2006/main">
              <a:ext uri="{FF2B5EF4-FFF2-40B4-BE49-F238E27FC236}">
                <a16:creationId xmlns:a16="http://schemas.microsoft.com/office/drawing/2014/main" id="{08E846EA-714E-4B61-AA39-9032E8EB2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933700"/>
            <a:ext cx="6477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24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10" name="alert-1">
            <a:extLst xmlns:a="http://schemas.openxmlformats.org/drawingml/2006/main">
              <a:ext uri="{FF2B5EF4-FFF2-40B4-BE49-F238E27FC236}">
                <a16:creationId xmlns:a16="http://schemas.microsoft.com/office/drawing/2014/main" id="{7A7D62D0-1C00-47B8-AC65-977C9E123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30670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1" name="alert-top-1">
            <a:extLst xmlns:a="http://schemas.openxmlformats.org/drawingml/2006/main">
              <a:ext uri="{FF2B5EF4-FFF2-40B4-BE49-F238E27FC236}">
                <a16:creationId xmlns:a16="http://schemas.microsoft.com/office/drawing/2014/main" id="{332BD912-1B88-4F4C-BCCF-D75E297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82880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9A6700"/>
          </a:solidFill>
          <a:ln xmlns:a="http://schemas.openxmlformats.org/drawingml/2006/main" w="9525">
            <a:solidFill>
              <a:srgbClr val="9A6700"/>
            </a:solidFill>
            <a:prstDash val="solid"/>
          </a:ln>
        </p:spPr>
      </p:sp>
      <p:sp>
        <p:nvSpPr>
          <p:cNvPr id="12" name="alert-title-1">
            <a:extLst xmlns:a="http://schemas.openxmlformats.org/drawingml/2006/main">
              <a:ext uri="{FF2B5EF4-FFF2-40B4-BE49-F238E27FC236}">
                <a16:creationId xmlns:a16="http://schemas.microsoft.com/office/drawing/2014/main" id="{93F19B48-5552-45C2-B21F-97955B16D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050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rPr>
              <a:t>동일 장애</a:t>
            </a:r>
          </a:p>
        </p:txBody>
      </p:sp>
      <p:sp>
        <p:nvSpPr>
          <p:cNvPr id="13" name="alert-detail-1">
            <a:extLst xmlns:a="http://schemas.openxmlformats.org/drawingml/2006/main">
              <a:ext uri="{FF2B5EF4-FFF2-40B4-BE49-F238E27FC236}">
                <a16:creationId xmlns:a16="http://schemas.microsoft.com/office/drawing/2014/main" id="{18DEEAC5-7795-4389-BBB7-007C565A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0099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같은 Fingerprint</a:t>
            </a:r>
          </a:p>
        </p:txBody>
      </p:sp>
      <p:sp>
        <p:nvSpPr>
          <p:cNvPr id="14" name="alert-result-1">
            <a:extLst xmlns:a="http://schemas.openxmlformats.org/drawingml/2006/main">
              <a:ext uri="{FF2B5EF4-FFF2-40B4-BE49-F238E27FC236}">
                <a16:creationId xmlns:a16="http://schemas.microsoft.com/office/drawing/2014/main" id="{5D2CC916-BAAA-4AA6-A67C-2A758AF59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37528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rPr>
              <a:t>1시간 억제</a:t>
            </a:r>
          </a:p>
        </p:txBody>
      </p:sp>
      <p:sp>
        <p:nvSpPr>
          <p:cNvPr id="15" name="alert-2">
            <a:extLst xmlns:a="http://schemas.openxmlformats.org/drawingml/2006/main">
              <a:ext uri="{FF2B5EF4-FFF2-40B4-BE49-F238E27FC236}">
                <a16:creationId xmlns:a16="http://schemas.microsoft.com/office/drawing/2014/main" id="{23A2D0B9-976C-4C53-B597-9520B2B68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3067050" cy="2686050"/>
          </a:xfrm>
          <a:prstGeom xmlns:a="http://schemas.openxmlformats.org/drawingml/2006/main" prst="roundRect">
            <a:avLst>
              <a:gd name="adj" fmla="val 425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6" name="alert-top-2">
            <a:extLst xmlns:a="http://schemas.openxmlformats.org/drawingml/2006/main">
              <a:ext uri="{FF2B5EF4-FFF2-40B4-BE49-F238E27FC236}">
                <a16:creationId xmlns:a16="http://schemas.microsoft.com/office/drawing/2014/main" id="{21A07B9B-1319-4166-88F4-940094CD2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828800"/>
            <a:ext cx="3067050" cy="1143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7" name="alert-title-2">
            <a:extLst xmlns:a="http://schemas.openxmlformats.org/drawingml/2006/main">
              <a:ext uri="{FF2B5EF4-FFF2-40B4-BE49-F238E27FC236}">
                <a16:creationId xmlns:a16="http://schemas.microsoft.com/office/drawing/2014/main" id="{CF29CB45-C39C-44DE-9901-5F14DADC6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2305050"/>
            <a:ext cx="24955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2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복구</a:t>
            </a:r>
          </a:p>
        </p:txBody>
      </p:sp>
      <p:sp>
        <p:nvSpPr>
          <p:cNvPr id="18" name="alert-detail-2">
            <a:extLst xmlns:a="http://schemas.openxmlformats.org/drawingml/2006/main">
              <a:ext uri="{FF2B5EF4-FFF2-40B4-BE49-F238E27FC236}">
                <a16:creationId xmlns:a16="http://schemas.microsoft.com/office/drawing/2014/main" id="{5FC14ECD-CA78-4E0E-8EE6-2B9B8B3E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00990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전체 점검 정상</a:t>
            </a:r>
          </a:p>
        </p:txBody>
      </p:sp>
      <p:sp>
        <p:nvSpPr>
          <p:cNvPr id="19" name="alert-result-2">
            <a:extLst xmlns:a="http://schemas.openxmlformats.org/drawingml/2006/main">
              <a:ext uri="{FF2B5EF4-FFF2-40B4-BE49-F238E27FC236}">
                <a16:creationId xmlns:a16="http://schemas.microsoft.com/office/drawing/2014/main" id="{CE707BDE-4D3A-4389-945F-369FDC98F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3752850"/>
            <a:ext cx="2495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Chat 1회</a:t>
            </a:r>
          </a:p>
        </p:txBody>
      </p:sp>
      <p:sp>
        <p:nvSpPr>
          <p:cNvPr id="20" name="chat-proof">
            <a:extLst xmlns:a="http://schemas.openxmlformats.org/drawingml/2006/main">
              <a:ext uri="{FF2B5EF4-FFF2-40B4-BE49-F238E27FC236}">
                <a16:creationId xmlns:a16="http://schemas.microsoft.com/office/drawing/2014/main" id="{12D89FC6-C548-4710-89AB-4EF2D382F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57800"/>
            <a:ext cx="10668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Mock 전이 2회 · 운영 시험 전송 HTTP 200 · Payload는 text와 url만</a:t>
            </a:r>
          </a:p>
        </p:txBody>
      </p:sp>
    </p:spTree>
    <p:extLst>
      <p:ext uri="{BB962C8B-B14F-4D97-AF65-F5344CB8AC3E}">
        <p14:creationId xmlns:p14="http://schemas.microsoft.com/office/powerpoint/2010/main" val="9676023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title-8">
            <a:extLst xmlns:a="http://schemas.openxmlformats.org/drawingml/2006/main">
              <a:ext uri="{FF2B5EF4-FFF2-40B4-BE49-F238E27FC236}">
                <a16:creationId xmlns:a16="http://schemas.microsoft.com/office/drawing/2014/main" id="{AAA64C99-16A5-4C4A-8E93-C27202F9A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권한·TLS·Rate Limit·로그 기준을 함께 통과했습니다</a:t>
            </a:r>
          </a:p>
        </p:txBody>
      </p:sp>
      <p:sp>
        <p:nvSpPr>
          <p:cNvPr id="2" name="page-8">
            <a:extLst xmlns:a="http://schemas.openxmlformats.org/drawingml/2006/main">
              <a:ext uri="{FF2B5EF4-FFF2-40B4-BE49-F238E27FC236}">
                <a16:creationId xmlns:a16="http://schemas.microsoft.com/office/drawing/2014/main" id="{A02FDA89-4C91-4A35-98F1-ECD8601E2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08</a:t>
            </a:r>
          </a:p>
        </p:txBody>
      </p:sp>
      <p:sp>
        <p:nvSpPr>
          <p:cNvPr id="3" name="security-0-box">
            <a:extLst xmlns:a="http://schemas.openxmlformats.org/drawingml/2006/main">
              <a:ext uri="{FF2B5EF4-FFF2-40B4-BE49-F238E27FC236}">
                <a16:creationId xmlns:a16="http://schemas.microsoft.com/office/drawing/2014/main" id="{BE228805-15E9-478B-AD41-B3935780E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4" name="security-0-rule">
            <a:extLst xmlns:a="http://schemas.openxmlformats.org/drawingml/2006/main">
              <a:ext uri="{FF2B5EF4-FFF2-40B4-BE49-F238E27FC236}">
                <a16:creationId xmlns:a16="http://schemas.microsoft.com/office/drawing/2014/main" id="{7ABCB4F5-8F7C-416D-A7F7-53DD1194E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19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security-0-value">
            <a:extLst xmlns:a="http://schemas.openxmlformats.org/drawingml/2006/main">
              <a:ext uri="{FF2B5EF4-FFF2-40B4-BE49-F238E27FC236}">
                <a16:creationId xmlns:a16="http://schemas.microsoft.com/office/drawing/2014/main" id="{0F138721-2C34-4D06-B5E4-8205842E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812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5개</a:t>
            </a:r>
          </a:p>
        </p:txBody>
      </p:sp>
      <p:sp>
        <p:nvSpPr>
          <p:cNvPr id="6" name="security-0-label">
            <a:extLst xmlns:a="http://schemas.openxmlformats.org/drawingml/2006/main">
              <a:ext uri="{FF2B5EF4-FFF2-40B4-BE49-F238E27FC236}">
                <a16:creationId xmlns:a16="http://schemas.microsoft.com/office/drawing/2014/main" id="{70FDA4DA-63D4-435A-96D2-3079E9A76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800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외부 보안 Header</a:t>
            </a:r>
          </a:p>
        </p:txBody>
      </p:sp>
      <p:sp>
        <p:nvSpPr>
          <p:cNvPr id="7" name="security-1-box">
            <a:extLst xmlns:a="http://schemas.openxmlformats.org/drawingml/2006/main">
              <a:ext uri="{FF2B5EF4-FFF2-40B4-BE49-F238E27FC236}">
                <a16:creationId xmlns:a16="http://schemas.microsoft.com/office/drawing/2014/main" id="{46B33545-8700-428B-A94D-49A676A4B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8" name="security-1-rule">
            <a:extLst xmlns:a="http://schemas.openxmlformats.org/drawingml/2006/main">
              <a:ext uri="{FF2B5EF4-FFF2-40B4-BE49-F238E27FC236}">
                <a16:creationId xmlns:a16="http://schemas.microsoft.com/office/drawing/2014/main" id="{754C6E5D-BCBC-4DDF-9551-48117A79E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619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55EE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9" name="security-1-value">
            <a:extLst xmlns:a="http://schemas.openxmlformats.org/drawingml/2006/main">
              <a:ext uri="{FF2B5EF4-FFF2-40B4-BE49-F238E27FC236}">
                <a16:creationId xmlns:a16="http://schemas.microsoft.com/office/drawing/2014/main" id="{1339CD6B-B979-4916-830B-3C3D55B9C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9812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27/40</a:t>
            </a:r>
          </a:p>
        </p:txBody>
      </p:sp>
      <p:sp>
        <p:nvSpPr>
          <p:cNvPr id="10" name="security-1-label">
            <a:extLst xmlns:a="http://schemas.openxmlformats.org/drawingml/2006/main">
              <a:ext uri="{FF2B5EF4-FFF2-40B4-BE49-F238E27FC236}">
                <a16:creationId xmlns:a16="http://schemas.microsoft.com/office/drawing/2014/main" id="{E7B46A21-F42E-4BBB-9DF8-99D36B88C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800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Auth 요청 HTTP 429</a:t>
            </a:r>
          </a:p>
        </p:txBody>
      </p:sp>
      <p:sp>
        <p:nvSpPr>
          <p:cNvPr id="11" name="security-2-box">
            <a:extLst xmlns:a="http://schemas.openxmlformats.org/drawingml/2006/main">
              <a:ext uri="{FF2B5EF4-FFF2-40B4-BE49-F238E27FC236}">
                <a16:creationId xmlns:a16="http://schemas.microsoft.com/office/drawing/2014/main" id="{B7ED51B9-7E02-4262-BFBC-4F16DEADE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247650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2" name="security-2-rule">
            <a:extLst xmlns:a="http://schemas.openxmlformats.org/drawingml/2006/main">
              <a:ext uri="{FF2B5EF4-FFF2-40B4-BE49-F238E27FC236}">
                <a16:creationId xmlns:a16="http://schemas.microsoft.com/office/drawing/2014/main" id="{9E5D1725-549B-4A08-8134-86A6B601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76200" cy="1809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78248"/>
          </a:solidFill>
          <a:ln xmlns:a="http://schemas.openxmlformats.org/drawingml/2006/main" w="9525">
            <a:solidFill>
              <a:srgbClr val="078248"/>
            </a:solidFill>
            <a:prstDash val="solid"/>
          </a:ln>
        </p:spPr>
      </p:sp>
      <p:sp>
        <p:nvSpPr>
          <p:cNvPr id="13" name="security-2-value">
            <a:extLst xmlns:a="http://schemas.openxmlformats.org/drawingml/2006/main">
              <a:ext uri="{FF2B5EF4-FFF2-40B4-BE49-F238E27FC236}">
                <a16:creationId xmlns:a16="http://schemas.microsoft.com/office/drawing/2014/main" id="{6C2D403B-B7FB-4EC2-AEC7-2C2CC0EE9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981200"/>
            <a:ext cx="19240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6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36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0건</a:t>
            </a:r>
          </a:p>
        </p:txBody>
      </p:sp>
      <p:sp>
        <p:nvSpPr>
          <p:cNvPr id="14" name="security-2-label">
            <a:extLst xmlns:a="http://schemas.openxmlformats.org/drawingml/2006/main">
              <a:ext uri="{FF2B5EF4-FFF2-40B4-BE49-F238E27FC236}">
                <a16:creationId xmlns:a16="http://schemas.microsoft.com/office/drawing/2014/main" id="{61A65FB6-77F8-4501-8EBC-913385C03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00350"/>
            <a:ext cx="1924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World-writable File</a:t>
            </a:r>
          </a:p>
        </p:txBody>
      </p:sp>
      <p:sp>
        <p:nvSpPr>
          <p:cNvPr id="15" name="security-list">
            <a:extLst xmlns:a="http://schemas.openxmlformats.org/drawingml/2006/main">
              <a:ext uri="{FF2B5EF4-FFF2-40B4-BE49-F238E27FC236}">
                <a16:creationId xmlns:a16="http://schemas.microsoft.com/office/drawing/2014/main" id="{5CE69D8D-7274-4220-9DE4-EC371179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619250"/>
            <a:ext cx="2667000" cy="3429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F3F7FC"/>
          </a:solidFill>
          <a:ln xmlns:a="http://schemas.openxmlformats.org/drawingml/2006/main" w="9525">
            <a:solidFill>
              <a:srgbClr val="D5E1F1"/>
            </a:solidFill>
            <a:prstDash val="solid"/>
          </a:ln>
        </p:spPr>
      </p:sp>
      <p:sp>
        <p:nvSpPr>
          <p:cNvPr id="16" name="security-list-title">
            <a:extLst xmlns:a="http://schemas.openxmlformats.org/drawingml/2006/main">
              <a:ext uri="{FF2B5EF4-FFF2-40B4-BE49-F238E27FC236}">
                <a16:creationId xmlns:a16="http://schemas.microsoft.com/office/drawing/2014/main" id="{B060CC1A-05F1-4AE2-B824-5D9F436F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885950"/>
            <a:ext cx="21336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확인</a:t>
            </a:r>
          </a:p>
        </p:txBody>
      </p:sp>
      <p:sp>
        <p:nvSpPr>
          <p:cNvPr id="17" name="security-list-copy">
            <a:extLst xmlns:a="http://schemas.openxmlformats.org/drawingml/2006/main">
              <a:ext uri="{FF2B5EF4-FFF2-40B4-BE49-F238E27FC236}">
                <a16:creationId xmlns:a16="http://schemas.microsoft.com/office/drawing/2014/main" id="{07CC0358-125A-4347-AA9C-7985CDC50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2476500"/>
            <a:ext cx="1981200" cy="2171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TLS 1.0 차단</a:t>
            </a:r>
          </a:p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TLS 1.2 허용</a:t>
            </a:r>
          </a:p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config.php 0640</a:t>
            </a:r>
          </a:p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Ops Secret 0600</a:t>
            </a:r>
          </a:p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Logrotate PASS</a:t>
            </a:r>
          </a:p>
          <a:p xmlns:a="http://schemas.openxmlformats.org/drawingml/2006/main">
            <a:pPr algn="ctr">
              <a:def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75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Secret Scan 0</a:t>
            </a:r>
          </a:p>
        </p:txBody>
      </p:sp>
      <p:sp>
        <p:nvSpPr>
          <p:cNvPr id="18" name="security-foot">
            <a:extLst xmlns:a="http://schemas.openxmlformats.org/drawingml/2006/main">
              <a:ext uri="{FF2B5EF4-FFF2-40B4-BE49-F238E27FC236}">
                <a16:creationId xmlns:a16="http://schemas.microsoft.com/office/drawing/2014/main" id="{5CFDFFB6-CAE9-4233-8ECC-307A47BDA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524500"/>
            <a:ext cx="1047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자동 보안 갱신 Timer enabled / active</a:t>
            </a:r>
          </a:p>
        </p:txBody>
      </p:sp>
    </p:spTree>
    <p:extLst>
      <p:ext uri="{BB962C8B-B14F-4D97-AF65-F5344CB8AC3E}">
        <p14:creationId xmlns:p14="http://schemas.microsoft.com/office/powerpoint/2010/main" val="210854949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title-9">
            <a:extLst xmlns:a="http://schemas.openxmlformats.org/drawingml/2006/main">
              <a:ext uri="{FF2B5EF4-FFF2-40B4-BE49-F238E27FC236}">
                <a16:creationId xmlns:a16="http://schemas.microsoft.com/office/drawing/2014/main" id="{DB5E2CD1-F40B-4A6D-AC52-77D088DA3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"/>
            <a:ext cx="10668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30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남은 Mailer 위험은 실행 경로를 닫아 관리합니다</a:t>
            </a:r>
          </a:p>
        </p:txBody>
      </p:sp>
      <p:sp>
        <p:nvSpPr>
          <p:cNvPr id="2" name="page-9">
            <a:extLst xmlns:a="http://schemas.openxmlformats.org/drawingml/2006/main">
              <a:ext uri="{FF2B5EF4-FFF2-40B4-BE49-F238E27FC236}">
                <a16:creationId xmlns:a16="http://schemas.microsoft.com/office/drawing/2014/main" id="{A4B12440-2AE0-4232-BCC7-584F26A62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267450"/>
            <a:ext cx="590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20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09</a:t>
            </a:r>
          </a:p>
        </p:txBody>
      </p:sp>
      <p:sp>
        <p:nvSpPr>
          <p:cNvPr id="3" name="risk">
            <a:extLst xmlns:a="http://schemas.openxmlformats.org/drawingml/2006/main">
              <a:ext uri="{FF2B5EF4-FFF2-40B4-BE49-F238E27FC236}">
                <a16:creationId xmlns:a16="http://schemas.microsoft.com/office/drawing/2014/main" id="{41D25726-F21A-4B45-8892-02C5316C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57350"/>
            <a:ext cx="428625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FFF6DF"/>
          </a:solidFill>
          <a:ln xmlns:a="http://schemas.openxmlformats.org/drawingml/2006/main" w="9525">
            <a:solidFill>
              <a:srgbClr val="E4B955"/>
            </a:solidFill>
            <a:prstDash val="solid"/>
          </a:ln>
        </p:spPr>
      </p:sp>
      <p:sp>
        <p:nvSpPr>
          <p:cNvPr id="4" name="risk-title">
            <a:extLst xmlns:a="http://schemas.openxmlformats.org/drawingml/2006/main">
              <a:ext uri="{FF2B5EF4-FFF2-40B4-BE49-F238E27FC236}">
                <a16:creationId xmlns:a16="http://schemas.microsoft.com/office/drawing/2014/main" id="{70188AF2-8120-4BE6-B30F-88C68584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19300"/>
            <a:ext cx="3638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9A6700"/>
                </a:solidFill>
                <a:latin typeface="Malgun Gothic"/>
                <a:ea typeface="Malgun Gothic"/>
                <a:cs typeface="Malgun Gothic"/>
              </a:rPr>
              <a:t>잔여 위험</a:t>
            </a:r>
          </a:p>
        </p:txBody>
      </p:sp>
      <p:sp>
        <p:nvSpPr>
          <p:cNvPr id="5" name="risk-copy">
            <a:extLst xmlns:a="http://schemas.openxmlformats.org/drawingml/2006/main">
              <a:ext uri="{FF2B5EF4-FFF2-40B4-BE49-F238E27FC236}">
                <a16:creationId xmlns:a16="http://schemas.microsoft.com/office/drawing/2014/main" id="{8A64B075-6345-47E5-A3CA-5C81B2DF0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705100"/>
            <a:ext cx="344805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Symfony Mailer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CVE-2026-45068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SendmailTransport의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명령행 인자 처리</a:t>
            </a:r>
          </a:p>
        </p:txBody>
      </p:sp>
      <p:sp>
        <p:nvSpPr>
          <p:cNvPr id="6" name="risk-arrow">
            <a:extLst xmlns:a="http://schemas.openxmlformats.org/drawingml/2006/main">
              <a:ext uri="{FF2B5EF4-FFF2-40B4-BE49-F238E27FC236}">
                <a16:creationId xmlns:a16="http://schemas.microsoft.com/office/drawing/2014/main" id="{F1658A75-5C22-420E-B373-F8075EAA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971800"/>
            <a:ext cx="685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285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→</a:t>
            </a:r>
          </a:p>
        </p:txBody>
      </p:sp>
      <p:sp>
        <p:nvSpPr>
          <p:cNvPr id="7" name="control">
            <a:extLst xmlns:a="http://schemas.openxmlformats.org/drawingml/2006/main">
              <a:ext uri="{FF2B5EF4-FFF2-40B4-BE49-F238E27FC236}">
                <a16:creationId xmlns:a16="http://schemas.microsoft.com/office/drawing/2014/main" id="{2E781E4D-5271-4163-BB0C-68E943E9F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657350"/>
            <a:ext cx="5524500" cy="3162300"/>
          </a:xfrm>
          <a:prstGeom xmlns:a="http://schemas.openxmlformats.org/drawingml/2006/main" prst="roundRect">
            <a:avLst>
              <a:gd name="adj" fmla="val 3614"/>
            </a:avLst>
          </a:prstGeom>
          <a:solidFill xmlns:a="http://schemas.openxmlformats.org/drawingml/2006/main">
            <a:srgbClr val="EAFAF2"/>
          </a:solidFill>
          <a:ln xmlns:a="http://schemas.openxmlformats.org/drawingml/2006/main" w="9525">
            <a:solidFill>
              <a:srgbClr val="86D2AA"/>
            </a:solidFill>
            <a:prstDash val="solid"/>
          </a:ln>
        </p:spPr>
      </p:sp>
      <p:sp>
        <p:nvSpPr>
          <p:cNvPr id="8" name="control-title">
            <a:extLst xmlns:a="http://schemas.openxmlformats.org/drawingml/2006/main">
              <a:ext uri="{FF2B5EF4-FFF2-40B4-BE49-F238E27FC236}">
                <a16:creationId xmlns:a16="http://schemas.microsoft.com/office/drawing/2014/main" id="{74703AA5-F4E5-4DAF-8553-AD309D928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19300"/>
            <a:ext cx="4876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2175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현재 통제</a:t>
            </a:r>
          </a:p>
        </p:txBody>
      </p:sp>
      <p:sp>
        <p:nvSpPr>
          <p:cNvPr id="9" name="control-copy">
            <a:extLst xmlns:a="http://schemas.openxmlformats.org/drawingml/2006/main">
              <a:ext uri="{FF2B5EF4-FFF2-40B4-BE49-F238E27FC236}">
                <a16:creationId xmlns:a16="http://schemas.microsoft.com/office/drawing/2014/main" id="{564FE951-3D15-4C62-BE97-2E92D5199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705100"/>
            <a:ext cx="46101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운영 Mail Driver = smtp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5분마다 강제 확인</a:t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변경 시 Critical Chat 경보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ctr">
              <a:def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0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상위 Flarum 호환 시 안전 버전 교체</a:t>
            </a:r>
          </a:p>
        </p:txBody>
      </p:sp>
      <p:sp>
        <p:nvSpPr>
          <p:cNvPr id="10" name="risk-foot">
            <a:extLst xmlns:a="http://schemas.openxmlformats.org/drawingml/2006/main">
              <a:ext uri="{FF2B5EF4-FFF2-40B4-BE49-F238E27FC236}">
                <a16:creationId xmlns:a16="http://schemas.microsoft.com/office/drawing/2014/main" id="{E4628EB7-60BA-4FA8-8C66-DA0E872B6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91150"/>
            <a:ext cx="10668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1725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위험을 없앴다고 주장하지 않고, 사용하지 않는 취약 경로를 지속 감시합니다</a:t>
            </a:r>
          </a:p>
        </p:txBody>
      </p:sp>
    </p:spTree>
    <p:extLst>
      <p:ext uri="{BB962C8B-B14F-4D97-AF65-F5344CB8AC3E}">
        <p14:creationId xmlns:p14="http://schemas.microsoft.com/office/powerpoint/2010/main" val="1448264227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close-kicker">
            <a:extLst xmlns:a="http://schemas.openxmlformats.org/drawingml/2006/main">
              <a:ext uri="{FF2B5EF4-FFF2-40B4-BE49-F238E27FC236}">
                <a16:creationId xmlns:a16="http://schemas.microsoft.com/office/drawing/2014/main" id="{774E2278-8C16-41C4-A57E-5B8F684A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500" b="1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ISSUE #74 · COMPLETE</a:t>
            </a:r>
          </a:p>
        </p:txBody>
      </p:sp>
      <p:sp>
        <p:nvSpPr>
          <p:cNvPr id="2" name="close-title">
            <a:extLst xmlns:a="http://schemas.openxmlformats.org/drawingml/2006/main">
              <a:ext uri="{FF2B5EF4-FFF2-40B4-BE49-F238E27FC236}">
                <a16:creationId xmlns:a16="http://schemas.microsoft.com/office/drawing/2014/main" id="{310BD845-A03E-4D76-B163-401758D9A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28750"/>
            <a:ext cx="6858000" cy="1771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Community 운영 판정은</a:t>
            </a:r>
          </a:p>
          <a:p xmlns:a="http://schemas.openxmlformats.org/drawingml/2006/main">
            <a:pPr algn="l">
              <a:def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480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GO입니다</a:t>
            </a:r>
          </a:p>
        </p:txBody>
      </p:sp>
      <p:sp>
        <p:nvSpPr>
          <p:cNvPr id="3" name="close-proof">
            <a:extLst xmlns:a="http://schemas.openxmlformats.org/drawingml/2006/main">
              <a:ext uri="{FF2B5EF4-FFF2-40B4-BE49-F238E27FC236}">
                <a16:creationId xmlns:a16="http://schemas.microsoft.com/office/drawing/2014/main" id="{B5E677EA-38E9-4DE5-8CC7-C9F653BB2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90950"/>
            <a:ext cx="7524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자동 Backup · 9초 Restore · 5분 Monitor · Chat 200</a:t>
            </a:r>
          </a:p>
          <a:p xmlns:a="http://schemas.openxmlformats.org/drawingml/2006/main">
            <a:pPr algn="l">
              <a:def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defRPr>
            </a:pPr>
            <a:r>
              <a:rPr sz="1950" b="0">
                <a:solidFill>
                  <a:srgbClr val="52647D"/>
                </a:solidFill>
                <a:latin typeface="Malgun Gothic"/>
                <a:ea typeface="Malgun Gothic"/>
                <a:cs typeface="Malgun Gothic"/>
              </a:rPr>
              <a:t>Theme·한글 Locale·TLS·Rate Limit·권한·로그 검증 완료</a:t>
            </a:r>
          </a:p>
        </p:txBody>
      </p:sp>
      <p:sp>
        <p:nvSpPr>
          <p:cNvPr id="4" name="close-status">
            <a:extLst xmlns:a="http://schemas.openxmlformats.org/drawingml/2006/main">
              <a:ext uri="{FF2B5EF4-FFF2-40B4-BE49-F238E27FC236}">
                <a16:creationId xmlns:a16="http://schemas.microsoft.com/office/drawing/2014/main" id="{EDEBDE3F-1B10-4B54-BE80-F9EF26AD1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581150"/>
            <a:ext cx="2952750" cy="2952750"/>
          </a:xfrm>
          <a:prstGeom xmlns:a="http://schemas.openxmlformats.org/drawingml/2006/main" prst="roundRect">
            <a:avLst>
              <a:gd name="adj" fmla="val 3871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55EEF"/>
            </a:solidFill>
            <a:prstDash val="solid"/>
          </a:ln>
        </p:spPr>
      </p:sp>
      <p:sp>
        <p:nvSpPr>
          <p:cNvPr id="5" name="close-go">
            <a:extLst xmlns:a="http://schemas.openxmlformats.org/drawingml/2006/main">
              <a:ext uri="{FF2B5EF4-FFF2-40B4-BE49-F238E27FC236}">
                <a16:creationId xmlns:a16="http://schemas.microsoft.com/office/drawing/2014/main" id="{5212BEE3-2073-4E93-8567-565498306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05050"/>
            <a:ext cx="230505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5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defRPr>
            </a:pPr>
            <a:r>
              <a:rPr sz="5100" b="1">
                <a:solidFill>
                  <a:srgbClr val="155EEF"/>
                </a:solidFill>
                <a:latin typeface="Malgun Gothic"/>
                <a:ea typeface="Malgun Gothic"/>
                <a:cs typeface="Malgun Gothic"/>
              </a:rPr>
              <a:t>GO</a:t>
            </a:r>
          </a:p>
        </p:txBody>
      </p:sp>
      <p:sp>
        <p:nvSpPr>
          <p:cNvPr id="6" name="close-data">
            <a:extLst xmlns:a="http://schemas.openxmlformats.org/drawingml/2006/main">
              <a:ext uri="{FF2B5EF4-FFF2-40B4-BE49-F238E27FC236}">
                <a16:creationId xmlns:a16="http://schemas.microsoft.com/office/drawing/2014/main" id="{B49D3952-13B6-4F45-A277-3794F75B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390900"/>
            <a:ext cx="23431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defRPr>
            </a:pPr>
            <a:r>
              <a:rPr sz="1650" b="1">
                <a:solidFill>
                  <a:srgbClr val="15253E"/>
                </a:solidFill>
                <a:latin typeface="Malgun Gothic"/>
                <a:ea typeface="Malgun Gothic"/>
                <a:cs typeface="Malgun Gothic"/>
              </a:rPr>
              <a:t>핵심 데이터 차이 0</a:t>
            </a:r>
          </a:p>
        </p:txBody>
      </p:sp>
      <p:sp>
        <p:nvSpPr>
          <p:cNvPr id="7" name="close-next">
            <a:extLst xmlns:a="http://schemas.openxmlformats.org/drawingml/2006/main">
              <a:ext uri="{FF2B5EF4-FFF2-40B4-BE49-F238E27FC236}">
                <a16:creationId xmlns:a16="http://schemas.microsoft.com/office/drawing/2014/main" id="{92A64A2C-AEFB-42C0-BF14-140A8F9A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543550"/>
            <a:ext cx="1066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defRPr>
            </a:pPr>
            <a:r>
              <a:rPr sz="1800" b="1">
                <a:solidFill>
                  <a:srgbClr val="078248"/>
                </a:solidFill>
                <a:latin typeface="Malgun Gothic"/>
                <a:ea typeface="Malgun Gothic"/>
                <a:cs typeface="Malgun Gothic"/>
              </a:rPr>
              <a:t>다음: 승인된 외부 Backup Vault 연결 · 분기 전체 복원 훈련</a:t>
            </a:r>
          </a:p>
        </p:txBody>
      </p:sp>
    </p:spTree>
    <p:extLst>
      <p:ext uri="{BB962C8B-B14F-4D97-AF65-F5344CB8AC3E}">
        <p14:creationId xmlns:p14="http://schemas.microsoft.com/office/powerpoint/2010/main" val="134163655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2026-08-19T09:41:05.4860000Z</dcterms:created>
  <dcterms:modified xsi:type="dcterms:W3CDTF">2026-08-19T09:41:05.4860000Z</dcterms:modified>
</coreProperties>
</file>