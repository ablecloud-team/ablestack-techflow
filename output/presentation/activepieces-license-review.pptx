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1412c5e5bd3e4acf" /><Relationship Type="http://schemas.openxmlformats.org/officeDocument/2006/relationships/extended-properties" Target="/docProps/app.xml" Id="Reb98279b1d354f12" /><Relationship Type="http://schemas.openxmlformats.org/officeDocument/2006/relationships/officeDocument" Target="/ppt/presentation.xml" Id="R5f2007d30c584550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4e9f1c0d55494968"/>
  </p:sldMasterIdLst>
  <p:notesMasterIdLst>
    <p:notesMasterId xmlns:r="http://schemas.openxmlformats.org/officeDocument/2006/relationships" r:id="R3b026d5f22f54d3c"/>
  </p:notesMasterIdLst>
  <p:sldIdLst>
    <p:sldId xmlns:r="http://schemas.openxmlformats.org/officeDocument/2006/relationships" id="256" r:id="R7f47598b26cc40fc"/>
    <p:sldId xmlns:r="http://schemas.openxmlformats.org/officeDocument/2006/relationships" id="257" r:id="Ra56a720f18b540d5"/>
    <p:sldId xmlns:r="http://schemas.openxmlformats.org/officeDocument/2006/relationships" id="258" r:id="Rd619cd9e284a4769"/>
    <p:sldId xmlns:r="http://schemas.openxmlformats.org/officeDocument/2006/relationships" id="259" r:id="Rd73d6c66da2941a0"/>
    <p:sldId xmlns:r="http://schemas.openxmlformats.org/officeDocument/2006/relationships" id="260" r:id="Rc14584cf455046b2"/>
    <p:sldId xmlns:r="http://schemas.openxmlformats.org/officeDocument/2006/relationships" id="261" r:id="R3dd2fb43dfb243bb"/>
    <p:sldId xmlns:r="http://schemas.openxmlformats.org/officeDocument/2006/relationships" id="262" r:id="R72b465ea563a4c28"/>
    <p:sldId xmlns:r="http://schemas.openxmlformats.org/officeDocument/2006/relationships" id="263" r:id="R607155aa5cc543b8"/>
    <p:sldId xmlns:r="http://schemas.openxmlformats.org/officeDocument/2006/relationships" id="264" r:id="Rfdb570555e454287"/>
    <p:sldId xmlns:r="http://schemas.openxmlformats.org/officeDocument/2006/relationships" id="265" r:id="Rdb5f4175d13d4853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0203c1d344904bf7" /><Relationship Type="http://schemas.openxmlformats.org/officeDocument/2006/relationships/slideMaster" Target="/ppt/slideMasters/slideMaster1.xml" Id="R4e9f1c0d55494968" /><Relationship Type="http://schemas.openxmlformats.org/officeDocument/2006/relationships/notesMaster" Target="/ppt/notesMasters/notesMaster1.xml" Id="R3b026d5f22f54d3c" /><Relationship Type="http://schemas.openxmlformats.org/officeDocument/2006/relationships/presProps" Target="/ppt/presProps.xml" Id="R21294d66738f487c" /><Relationship Type="http://schemas.openxmlformats.org/officeDocument/2006/relationships/tableStyles" Target="/ppt/tableStyles.xml" Id="R220d730ad2d248f4" /><Relationship Type="http://schemas.openxmlformats.org/officeDocument/2006/relationships/slide" Target="/ppt/slides/slide1.xml" Id="R7f47598b26cc40fc" /><Relationship Type="http://schemas.openxmlformats.org/officeDocument/2006/relationships/slide" Target="/ppt/slides/slide2.xml" Id="Ra56a720f18b540d5" /><Relationship Type="http://schemas.openxmlformats.org/officeDocument/2006/relationships/slide" Target="/ppt/slides/slide3.xml" Id="Rd619cd9e284a4769" /><Relationship Type="http://schemas.openxmlformats.org/officeDocument/2006/relationships/slide" Target="/ppt/slides/slide4.xml" Id="Rd73d6c66da2941a0" /><Relationship Type="http://schemas.openxmlformats.org/officeDocument/2006/relationships/slide" Target="/ppt/slides/slide5.xml" Id="Rc14584cf455046b2" /><Relationship Type="http://schemas.openxmlformats.org/officeDocument/2006/relationships/slide" Target="/ppt/slides/slide6.xml" Id="R3dd2fb43dfb243bb" /><Relationship Type="http://schemas.openxmlformats.org/officeDocument/2006/relationships/slide" Target="/ppt/slides/slide7.xml" Id="R72b465ea563a4c28" /><Relationship Type="http://schemas.openxmlformats.org/officeDocument/2006/relationships/slide" Target="/ppt/slides/slide8.xml" Id="R607155aa5cc543b8" /><Relationship Type="http://schemas.openxmlformats.org/officeDocument/2006/relationships/slide" Target="/ppt/slides/slide9.xml" Id="Rfdb570555e454287" /><Relationship Type="http://schemas.openxmlformats.org/officeDocument/2006/relationships/slide" Target="/ppt/slides/slide10.xml" Id="Rdb5f4175d13d4853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4bcef448e3fb47eb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7155290e9c4340f3" /><Relationship Type="http://schemas.openxmlformats.org/officeDocument/2006/relationships/notesMaster" Target="/ppt/notesMasters/notesMaster1.xml" Id="Rd37130a3949b40af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4bf5cee60dff4178" /><Relationship Type="http://schemas.openxmlformats.org/officeDocument/2006/relationships/notesMaster" Target="/ppt/notesMasters/notesMaster1.xml" Id="R2c925a8f3297416e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f367a8e675b945ca" /><Relationship Type="http://schemas.openxmlformats.org/officeDocument/2006/relationships/notesMaster" Target="/ppt/notesMasters/notesMaster1.xml" Id="Re9056cf75da54dcb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2a80d039eb4b44ea" /><Relationship Type="http://schemas.openxmlformats.org/officeDocument/2006/relationships/notesMaster" Target="/ppt/notesMasters/notesMaster1.xml" Id="Recc1ed0770764eb4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a36515b14ca44aee" /><Relationship Type="http://schemas.openxmlformats.org/officeDocument/2006/relationships/notesMaster" Target="/ppt/notesMasters/notesMaster1.xml" Id="Ra2761f8d17d64a68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d818617fd32248e5" /><Relationship Type="http://schemas.openxmlformats.org/officeDocument/2006/relationships/notesMaster" Target="/ppt/notesMasters/notesMaster1.xml" Id="R1d6f17bc36b346b7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fb0ce9014a764d0b" /><Relationship Type="http://schemas.openxmlformats.org/officeDocument/2006/relationships/notesMaster" Target="/ppt/notesMasters/notesMaster1.xml" Id="R12748803a9c74abd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7b7784cc9b184fa6" /><Relationship Type="http://schemas.openxmlformats.org/officeDocument/2006/relationships/notesMaster" Target="/ppt/notesMasters/notesMaster1.xml" Id="Rb3e922b4cc664cbb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d0724bfa0368475a" /><Relationship Type="http://schemas.openxmlformats.org/officeDocument/2006/relationships/notesMaster" Target="/ppt/notesMasters/notesMaster1.xml" Id="R267bd728cf4444b6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33c696570d044d51" /><Relationship Type="http://schemas.openxmlformats.org/officeDocument/2006/relationships/notesMaster" Target="/ppt/notesMasters/notesMaster1.xml" Id="Rc039eacd6aa94aff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핵심 메시지와 의사결정 조건을 설명한다.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https://github.com/activepieces/activepieces/releases/tag/0.86.3</a:t>
            </a:r>
          </a:p>
          <a:p xmlns:a="http://schemas.openxmlformats.org/drawingml/2006/main">
            <a:r>
              <a:t>- https://github.com/activepieces/activepieces/blob/0.86.3/LICENSE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핵심 메시지와 의사결정 조건을 설명한다.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https://github.com/activepieces/activepieces/blob/0.86.3/LICENSE</a:t>
            </a:r>
          </a:p>
          <a:p xmlns:a="http://schemas.openxmlformats.org/drawingml/2006/main">
            <a:r>
              <a:t>- https://www.activepieces.com/docs/endpoints/overview</a:t>
            </a:r>
          </a:p>
          <a:p xmlns:a="http://schemas.openxmlformats.org/drawingml/2006/main">
            <a:r>
              <a:t>- https://www.activepieces.com/docs/embedding/configure-embedding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핵심 메시지와 의사결정 조건을 설명한다.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https://github.com/activepieces/activepieces/blob/0.86.3/LICENSE</a:t>
            </a:r>
          </a:p>
          <a:p xmlns:a="http://schemas.openxmlformats.org/drawingml/2006/main">
            <a:r>
              <a:t>- https://github.com/activepieces/activepieces/blob/0.86.3/packages/ee/LICENSE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핵심 메시지와 의사결정 조건을 설명한다.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https://www.activepieces.com/docs/endpoints/overview</a:t>
            </a:r>
          </a:p>
          <a:p xmlns:a="http://schemas.openxmlformats.org/drawingml/2006/main">
            <a:r>
              <a:t>- https://www.activepieces.com/docs/admin-guide/guides/sso</a:t>
            </a:r>
          </a:p>
          <a:p xmlns:a="http://schemas.openxmlformats.org/drawingml/2006/main">
            <a:r>
              <a:t>- https://www.activepieces.com/docs/admin-guide/guides/permissions</a:t>
            </a:r>
          </a:p>
          <a:p xmlns:a="http://schemas.openxmlformats.org/drawingml/2006/main">
            <a:r>
              <a:t>- https://www.activepieces.com/docs/admin-guide/security/audit-logs/overview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핵심 메시지와 의사결정 조건을 설명한다.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https://www.activepieces.com/terms</a:t>
            </a:r>
          </a:p>
          <a:p xmlns:a="http://schemas.openxmlformats.org/drawingml/2006/main">
            <a:r>
              <a:t>- https://www.activepieces.com/docs/embedding/configure-embedding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핵심 메시지와 의사결정 조건을 설명한다.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https://www.activepieces.com/docs/install/architecture/overview</a:t>
            </a:r>
          </a:p>
          <a:p xmlns:a="http://schemas.openxmlformats.org/drawingml/2006/main">
            <a:r>
              <a:t>- https://www.activepieces.com/docs/endpoints/overview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핵심 메시지와 의사결정 조건을 설명한다.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https://github.com/activepieces/activepieces/blob/0.86.3/packages/ee/LICENSE</a:t>
            </a:r>
          </a:p>
          <a:p xmlns:a="http://schemas.openxmlformats.org/drawingml/2006/main">
            <a:r>
              <a:t>- https://www.activepieces.com/terms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핵심 메시지와 의사결정 조건을 설명한다.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https://github.com/activepieces/activepieces/blob/0.86.3/LICENSE</a:t>
            </a:r>
          </a:p>
          <a:p xmlns:a="http://schemas.openxmlformats.org/drawingml/2006/main">
            <a:r>
              <a:t>- https://github.com/activepieces/activepieces/blob/0.86.3/packages/ee/LICENSE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핵심 메시지와 의사결정 조건을 설명한다.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https://www.activepieces.com/docs/install/overview</a:t>
            </a:r>
          </a:p>
          <a:p xmlns:a="http://schemas.openxmlformats.org/drawingml/2006/main">
            <a:r>
              <a:t>- https://www.activepieces.com/docs/install/architecture/overview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핵심 메시지와 의사결정 조건을 설명한다.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https://github.com/activepieces/activepieces/blob/0.86.3/LICENSE</a:t>
            </a:r>
          </a:p>
          <a:p xmlns:a="http://schemas.openxmlformats.org/drawingml/2006/main">
            <a:r>
              <a:t>- https://www.activepieces.com/terms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6e0b08cc1984362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be1b368b9c664b58" /><Relationship Type="http://schemas.openxmlformats.org/officeDocument/2006/relationships/slideLayout" Target="/ppt/slideLayouts/slideLayout1.xml" Id="Rc48ed9753c0a4849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c48ed9753c0a4849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926ba4b92284de5" /><Relationship Type="http://schemas.openxmlformats.org/officeDocument/2006/relationships/notesSlide" Target="/ppt/notesSlides/notesSlide1.xml" Id="Rd25022a4c72d4257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384d4e7efa74828" /><Relationship Type="http://schemas.openxmlformats.org/officeDocument/2006/relationships/notesSlide" Target="/ppt/notesSlides/notesSlide2.xml" Id="R6ce5a99ad99145ce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443ec91c1b24005" /><Relationship Type="http://schemas.openxmlformats.org/officeDocument/2006/relationships/notesSlide" Target="/ppt/notesSlides/notesSlide3.xml" Id="R7e942f0b25134e0b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14b27edb55d499e" /><Relationship Type="http://schemas.openxmlformats.org/officeDocument/2006/relationships/notesSlide" Target="/ppt/notesSlides/notesSlide4.xml" Id="R5d4fb0f44cd84174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dafde9a2ceb4f9e" /><Relationship Type="http://schemas.openxmlformats.org/officeDocument/2006/relationships/notesSlide" Target="/ppt/notesSlides/notesSlide5.xml" Id="R8a4ce2ac37704f1e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b7b1b8b77de46bc" /><Relationship Type="http://schemas.openxmlformats.org/officeDocument/2006/relationships/notesSlide" Target="/ppt/notesSlides/notesSlide6.xml" Id="R16cdde4488a4425d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0cb03ea81514db6" /><Relationship Type="http://schemas.openxmlformats.org/officeDocument/2006/relationships/notesSlide" Target="/ppt/notesSlides/notesSlide7.xml" Id="Rd5a90caf5ad54985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af920b2aa2e4425" /><Relationship Type="http://schemas.openxmlformats.org/officeDocument/2006/relationships/notesSlide" Target="/ppt/notesSlides/notesSlide8.xml" Id="R1166f56890b348f4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a4657499b1742f8" /><Relationship Type="http://schemas.openxmlformats.org/officeDocument/2006/relationships/notesSlide" Target="/ppt/notesSlides/notesSlide9.xml" Id="Rfb2572ddc51646b2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5d746f7fcd648b0" /><Relationship Type="http://schemas.openxmlformats.org/officeDocument/2006/relationships/notesSlide" Target="/ppt/notesSlides/notesSlide10.xml" Id="Rb90e5e04e29a40a1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3EEE9FD-B18E-4ED0-B668-360621E5D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90525"/>
            <a:ext cx="666750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11111"/>
                </a:solidFill>
                <a:latin typeface="Malgun Gothic"/>
                <a:ea typeface="Malgun Gothic"/>
                <a:cs typeface="Malgun Gothic"/>
              </a:defRPr>
            </a:pPr>
            <a:r>
              <a:t>ABLESTACK TECHFLOW · ISSUE #11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8E944CD-7DA2-491C-A6BF-B83C8FF9F2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809750"/>
            <a:ext cx="9906000" cy="2000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5475">
                <a:solidFill>
                  <a:srgbClr val="111111"/>
                </a:solidFill>
                <a:latin typeface="Malgun Gothic"/>
                <a:ea typeface="Malgun Gothic"/>
                <a:cs typeface="Malgun Gothic"/>
              </a:defRPr>
            </a:pPr>
            <a:r>
              <a:t>Activepieces
기능·라이선스 검토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E6BFD25-2D6B-457D-B7B8-680BFD6C33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695825"/>
            <a:ext cx="819150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025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t>Community 실행 기반과 상위 기능 자체 구현 원칙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78C5CC3-4548-4957-A10A-8A1E025FC4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905500"/>
            <a:ext cx="113919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26CBF99-3C39-44A2-9B41-95CE9174C8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096000"/>
            <a:ext cx="4762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>
                <a:solidFill>
                  <a:srgbClr val="858585"/>
                </a:solidFill>
                <a:latin typeface="Malgun Gothic"/>
                <a:ea typeface="Malgun Gothic"/>
                <a:cs typeface="Malgun Gothic"/>
              </a:defRPr>
            </a:pPr>
            <a:r>
              <a:t>기준 0.86.3 · 2026-07-30</a:t>
            </a:r>
          </a:p>
        </p:txBody>
      </p:sp>
    </p:spTree>
    <p:extLst>
      <p:ext uri="{BB962C8B-B14F-4D97-AF65-F5344CB8AC3E}">
        <p14:creationId xmlns:p14="http://schemas.microsoft.com/office/powerpoint/2010/main" val="654307692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9F26C80-8258-4D6A-82CF-63E0066956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3850"/>
            <a:ext cx="10668000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>
                <a:solidFill>
                  <a:srgbClr val="111111"/>
                </a:solidFill>
                <a:latin typeface="Malgun Gothic"/>
                <a:ea typeface="Malgun Gothic"/>
                <a:cs typeface="Malgun Gothic"/>
              </a:defRPr>
            </a:pPr>
            <a:r>
              <a:t>결론: Community를 기반으로 필요한 기능을 직접 구현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16CBBAD-755E-4BED-88B4-8D1C863834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257925"/>
            <a:ext cx="5524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>
                <a:solidFill>
                  <a:srgbClr val="858585"/>
                </a:solidFill>
                <a:latin typeface="Malgun Gothic"/>
                <a:ea typeface="Malgun Gothic"/>
                <a:cs typeface="Malgun Gothic"/>
              </a:defRPr>
            </a:pPr>
            <a:r>
              <a:t>02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596698B-69EF-4F89-8B93-5BD149427B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162050"/>
            <a:ext cx="111442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t>Activepieces의 네이티브 기능 분류는 참고정보이며 TechFlow의 자체 구현 범위를 제한하지 않는다.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8858E16-608A-48ED-AA88-BFED341231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171700"/>
            <a:ext cx="5448300" cy="1828800"/>
          </a:xfrm>
          <a:prstGeom xmlns:a="http://schemas.openxmlformats.org/drawingml/2006/main" prst="roundRect">
            <a:avLst>
              <a:gd name="adj" fmla="val 4167"/>
            </a:avLst>
          </a:prstGeom>
          <a:solidFill xmlns:a="http://schemas.openxmlformats.org/drawingml/2006/main">
            <a:srgbClr val="E8F5ED"/>
          </a:solidFill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81A4724-CF48-4AB9-8D24-F541919ECA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47925"/>
            <a:ext cx="4857750" cy="3714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75">
                <a:solidFill>
                  <a:srgbClr val="177245"/>
                </a:solidFill>
                <a:latin typeface="Malgun Gothic"/>
                <a:ea typeface="Malgun Gothic"/>
                <a:cs typeface="Malgun Gothic"/>
              </a:defRPr>
            </a:pPr>
            <a:r>
              <a:t>기본 실행 엔진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F905CF1-33BC-448D-A972-4B67554B71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62275"/>
            <a:ext cx="4762500" cy="857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>
                <a:solidFill>
                  <a:srgbClr val="111111"/>
                </a:solidFill>
                <a:latin typeface="Malgun Gothic"/>
                <a:ea typeface="Malgun Gothic"/>
                <a:cs typeface="Malgun Gothic"/>
              </a:defRPr>
            </a:pPr>
            <a:r>
              <a:t>Activepieces Community 0.86.3
Builder · Webhook · Custom Piece
Queue · Worker · 실행·재시도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4FBB472-D9B1-44A3-90D9-9B270D966B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171700"/>
            <a:ext cx="5543550" cy="1828800"/>
          </a:xfrm>
          <a:prstGeom xmlns:a="http://schemas.openxmlformats.org/drawingml/2006/main" prst="roundRect">
            <a:avLst>
              <a:gd name="adj" fmla="val 4167"/>
            </a:avLst>
          </a:prstGeom>
          <a:solidFill xmlns:a="http://schemas.openxmlformats.org/drawingml/2006/main">
            <a:srgbClr val="DDF3FF"/>
          </a:solidFill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8E17DCE-2760-41ED-BF57-EED6E7144A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3675" y="2447925"/>
            <a:ext cx="4953000" cy="3714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75">
                <a:solidFill>
                  <a:srgbClr val="3D8DFF"/>
                </a:solidFill>
                <a:latin typeface="Malgun Gothic"/>
                <a:ea typeface="Malgun Gothic"/>
                <a:cs typeface="Malgun Gothic"/>
              </a:defRPr>
            </a:pPr>
            <a:r>
              <a:t>자체 구현 범위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022CAA6-CDCD-4107-8E72-AA26C6A38C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3675" y="2962275"/>
            <a:ext cx="4857750" cy="857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>
                <a:solidFill>
                  <a:srgbClr val="111111"/>
                </a:solidFill>
                <a:latin typeface="Malgun Gothic"/>
                <a:ea typeface="Malgun Gothic"/>
                <a:cs typeface="Malgun Gothic"/>
              </a:defRPr>
            </a:pPr>
            <a:r>
              <a:t>TechFlow API · Builder · SSO/RBAC/Audit
Secret · Template · GitOps · Worker 격리
고객 공개 여부와 무관하게 구현 가능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5C6B94D-D42E-45E0-B300-E7C9F40AB3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448175"/>
            <a:ext cx="11391900" cy="1238250"/>
          </a:xfrm>
          <a:prstGeom xmlns:a="http://schemas.openxmlformats.org/drawingml/2006/main" prst="roundRect">
            <a:avLst>
              <a:gd name="adj" fmla="val 6154"/>
            </a:avLst>
          </a:prstGeom>
          <a:solidFill xmlns:a="http://schemas.openxmlformats.org/drawingml/2006/main">
            <a:srgbClr val="DDF3FF"/>
          </a:solidFill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99A8170-C91A-4450-9DEF-D6D05BC5FE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686300"/>
            <a:ext cx="15240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>
                <a:solidFill>
                  <a:srgbClr val="3D8DFF"/>
                </a:solidFill>
                <a:latin typeface="Malgun Gothic"/>
                <a:ea typeface="Malgun Gothic"/>
                <a:cs typeface="Malgun Gothic"/>
              </a:defRPr>
            </a:pPr>
            <a:r>
              <a:t>제품 원칙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F08A07A-45E4-4C8B-A23B-70FF6612A3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05400"/>
            <a:ext cx="10725150" cy="3714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>
                <a:solidFill>
                  <a:srgbClr val="111111"/>
                </a:solidFill>
                <a:latin typeface="Malgun Gothic"/>
                <a:ea typeface="Malgun Gothic"/>
                <a:cs typeface="Malgun Gothic"/>
              </a:defRPr>
            </a:pPr>
            <a:r>
              <a:t>TechFlow Core = 제품 권한·정책·감사  |  Activepieces = 시각적 실행 엔진  |  ABLESTACK API = 실제 자원 작업</a:t>
            </a:r>
          </a:p>
        </p:txBody>
      </p:sp>
    </p:spTree>
    <p:extLst>
      <p:ext uri="{BB962C8B-B14F-4D97-AF65-F5344CB8AC3E}">
        <p14:creationId xmlns:p14="http://schemas.microsoft.com/office/powerpoint/2010/main" val="123220185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DCBC855-FE48-4C34-8587-52A8E0F4A7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3850"/>
            <a:ext cx="10668000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>
                <a:solidFill>
                  <a:srgbClr val="111111"/>
                </a:solidFill>
                <a:latin typeface="Malgun Gothic"/>
                <a:ea typeface="Malgun Gothic"/>
                <a:cs typeface="Malgun Gothic"/>
              </a:defRPr>
            </a:pPr>
            <a:r>
              <a:t>하나의 저장소, 세 개의 권리 경계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31664BC-95C4-4AB7-BBCC-AD1E3DFAC0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257925"/>
            <a:ext cx="5524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>
                <a:solidFill>
                  <a:srgbClr val="858585"/>
                </a:solidFill>
                <a:latin typeface="Malgun Gothic"/>
                <a:ea typeface="Malgun Gothic"/>
                <a:cs typeface="Malgun Gothic"/>
              </a:defRPr>
            </a:pPr>
            <a:r>
              <a:t>03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C5602DC-081D-40AE-B4AC-58723F8397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962025"/>
            <a:ext cx="11144250" cy="495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t>라이선스 경계는 네이티브 코드 사용 조건이며 자체 기능 구현의 제한선이 아니다.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281D7C6-C014-4F27-954B-3996BF5CFA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828800"/>
            <a:ext cx="3429000" cy="3219450"/>
          </a:xfrm>
          <a:prstGeom xmlns:a="http://schemas.openxmlformats.org/drawingml/2006/main" prst="roundRect">
            <a:avLst>
              <a:gd name="adj" fmla="val 2367"/>
            </a:avLst>
          </a:prstGeom>
          <a:solidFill xmlns:a="http://schemas.openxmlformats.org/drawingml/2006/main">
            <a:srgbClr val="E8F5ED"/>
          </a:solidFill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A57A265-89AE-490A-B266-99E6C75EE3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76450"/>
            <a:ext cx="666750" cy="533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150">
                <a:solidFill>
                  <a:srgbClr val="177245"/>
                </a:solidFill>
                <a:latin typeface="Malgun Gothic"/>
                <a:ea typeface="Malgun Gothic"/>
                <a:cs typeface="Malgun Gothic"/>
              </a:defRPr>
            </a:pPr>
            <a:r>
              <a:t>01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9BE9AD0-110D-416A-85B0-D4433B64B1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86050"/>
            <a:ext cx="2667000" cy="3714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75">
                <a:solidFill>
                  <a:srgbClr val="111111"/>
                </a:solidFill>
                <a:latin typeface="Malgun Gothic"/>
                <a:ea typeface="Malgun Gothic"/>
                <a:cs typeface="Malgun Gothic"/>
              </a:defRPr>
            </a:pPr>
            <a:r>
              <a:t>MIT 영역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72A83EF-7A21-4345-86D8-C27B2C0AD6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19450"/>
            <a:ext cx="2724150" cy="1428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>
                <a:solidFill>
                  <a:srgbClr val="111111"/>
                </a:solidFill>
                <a:latin typeface="Malgun Gothic"/>
                <a:ea typeface="Malgun Gothic"/>
                <a:cs typeface="Malgun Gothic"/>
              </a:defRPr>
            </a:pPr>
            <a:r>
              <a:t>EE 경로 밖의 Activepieces 자체 코드
상용 사용·수정·배포 가능
저작권·허가 고지 유지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DB26769-5142-496B-8B93-996B1968E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1828800"/>
            <a:ext cx="3429000" cy="3219450"/>
          </a:xfrm>
          <a:prstGeom xmlns:a="http://schemas.openxmlformats.org/drawingml/2006/main" prst="roundRect">
            <a:avLst>
              <a:gd name="adj" fmla="val 2367"/>
            </a:avLst>
          </a:prstGeom>
          <a:solidFill xmlns:a="http://schemas.openxmlformats.org/drawingml/2006/main">
            <a:srgbClr val="FCE8E6"/>
          </a:solidFill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B6FA64C-AEC6-4716-8638-407E676097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2076450"/>
            <a:ext cx="666750" cy="533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150">
                <a:solidFill>
                  <a:srgbClr val="A52714"/>
                </a:solidFill>
                <a:latin typeface="Malgun Gothic"/>
                <a:ea typeface="Malgun Gothic"/>
                <a:cs typeface="Malgun Gothic"/>
              </a:defRPr>
            </a:pPr>
            <a:r>
              <a:t>02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0912F2A-6379-4C2C-9C66-3A746CE6D3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2686050"/>
            <a:ext cx="2667000" cy="3714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75">
                <a:solidFill>
                  <a:srgbClr val="111111"/>
                </a:solidFill>
                <a:latin typeface="Malgun Gothic"/>
                <a:ea typeface="Malgun Gothic"/>
                <a:cs typeface="Malgun Gothic"/>
              </a:defRPr>
            </a:pPr>
            <a:r>
              <a:t>Enterprise 영역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F9C59BF-A641-421B-BA00-818D3CC60F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3219450"/>
            <a:ext cx="2724150" cy="1428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>
                <a:solidFill>
                  <a:srgbClr val="111111"/>
                </a:solidFill>
                <a:latin typeface="Malgun Gothic"/>
                <a:ea typeface="Malgun Gothic"/>
                <a:cs typeface="Malgun Gothic"/>
              </a:defRPr>
            </a:pPr>
            <a:r>
              <a:t>packages/ee/**
server/api/src/app/ee/**
운영 사용은 유효한 계약·좌석 필요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C2CF8CC-A0D1-497B-B167-65A377787F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1828800"/>
            <a:ext cx="3429000" cy="3219450"/>
          </a:xfrm>
          <a:prstGeom xmlns:a="http://schemas.openxmlformats.org/drawingml/2006/main" prst="roundRect">
            <a:avLst>
              <a:gd name="adj" fmla="val 2367"/>
            </a:avLst>
          </a:prstGeom>
          <a:solidFill xmlns:a="http://schemas.openxmlformats.org/drawingml/2006/main">
            <a:srgbClr val="FFF4D6"/>
          </a:solidFill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377852E-5627-43FE-9C74-E70CFC8236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2076450"/>
            <a:ext cx="666750" cy="533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150">
                <a:solidFill>
                  <a:srgbClr val="8A5A00"/>
                </a:solidFill>
                <a:latin typeface="Malgun Gothic"/>
                <a:ea typeface="Malgun Gothic"/>
                <a:cs typeface="Malgun Gothic"/>
              </a:defRPr>
            </a:pPr>
            <a:r>
              <a:t>03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E9E73ED-3AB1-4358-94F8-0B27A9553D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2686050"/>
            <a:ext cx="2667000" cy="3714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75">
                <a:solidFill>
                  <a:srgbClr val="111111"/>
                </a:solidFill>
                <a:latin typeface="Malgun Gothic"/>
                <a:ea typeface="Malgun Gothic"/>
                <a:cs typeface="Malgun Gothic"/>
              </a:defRPr>
            </a:pPr>
            <a:r>
              <a:t>제3자 구성요소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51C6B0D-C121-4580-9D53-3FD2BAC504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3219450"/>
            <a:ext cx="2724150" cy="1428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>
                <a:solidFill>
                  <a:srgbClr val="111111"/>
                </a:solidFill>
                <a:latin typeface="Malgun Gothic"/>
                <a:ea typeface="Malgun Gothic"/>
                <a:cs typeface="Malgun Gothic"/>
              </a:defRPr>
            </a:pPr>
            <a:r>
              <a:t>라이브러리 · Piece 의존성
컨테이너 OS·도구
최종 이미지 SBOM·NOTICE 필요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FB2DCD6-27F9-488B-9D11-2F581B7EA6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524500"/>
            <a:ext cx="87630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t>고정 증거  |  tag 0.86.3  ·  commit 8bfbb2fd962e…</a:t>
            </a:r>
          </a:p>
        </p:txBody>
      </p:sp>
    </p:spTree>
    <p:extLst>
      <p:ext uri="{BB962C8B-B14F-4D97-AF65-F5344CB8AC3E}">
        <p14:creationId xmlns:p14="http://schemas.microsoft.com/office/powerpoint/2010/main" val="6391363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CCBA5AF-24B4-4EE4-8654-5B8C2D7B6D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3850"/>
            <a:ext cx="10668000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>
                <a:solidFill>
                  <a:srgbClr val="111111"/>
                </a:solidFill>
                <a:latin typeface="Malgun Gothic"/>
                <a:ea typeface="Malgun Gothic"/>
                <a:cs typeface="Malgun Gothic"/>
              </a:defRPr>
            </a:pPr>
            <a:r>
              <a:t>기능 매트릭스: Community 위에 제품 기능을 자유롭게 확장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474AA26-8423-42C4-BC3C-16269DD454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257925"/>
            <a:ext cx="5524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>
                <a:solidFill>
                  <a:srgbClr val="858585"/>
                </a:solidFill>
                <a:latin typeface="Malgun Gothic"/>
                <a:ea typeface="Malgun Gothic"/>
                <a:cs typeface="Malgun Gothic"/>
              </a:defRPr>
            </a:pPr>
            <a:r>
              <a:t>04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0513D8B-234D-4223-A8D6-C9186B4880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066800"/>
            <a:ext cx="1114425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t>공식 문서와 0.86.3 소스의 Edition 분기·feature flag를 함께 확인했다.</a:t>
            </a:r>
          </a:p>
        </p:txBody>
      </p:sp>
      <p:graphicFrame>
        <p:nvGraphicFramePr>
          <p:cNvPr id="9" name=""/>
          <p:cNvGraphicFramePr/>
          <p:nvPr/>
        </p:nvGraphicFramePr>
        <p:xfrm>
          <a:off xmlns:a="http://schemas.openxmlformats.org/drawingml/2006/main" x="400050" y="1714500"/>
          <a:ext xmlns:a="http://schemas.openxmlformats.org/drawingml/2006/main" cx="11401425" cy="404812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048000"/>
                <a:gridCol w="2095500"/>
                <a:gridCol w="2095500"/>
                <a:gridCol w="4162425"/>
              </a:tblGrid>
              <a:tr h="449792">
                <a:tc>
                  <a:txBody>
                    <a:bodyPr/>
                    <a:lstStyle/>
                    <a:p>
                      <a:r>
                        <a:t>기능군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Community 기반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제품 구현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TechFlow 방향</a:t>
                      </a:r>
                    </a:p>
                  </a:txBody>
                  <a:tcPr marL="91440" marR="91440" marT="45720" marB="45720"/>
                </a:tc>
              </a:tr>
              <a:tr h="449792">
                <a:tc>
                  <a:txBody>
                    <a:bodyPr/>
                    <a:lstStyle/>
                    <a:p>
                      <a:r>
                        <a:t>Builder·Webhook·실행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기본 사용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확장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Event Gateway</a:t>
                      </a:r>
                    </a:p>
                  </a:txBody>
                  <a:tcPr marL="91440" marR="91440" marT="45720" marB="45720"/>
                </a:tc>
              </a:tr>
              <a:tr h="449792">
                <a:tc>
                  <a:txBody>
                    <a:bodyPr/>
                    <a:lstStyle/>
                    <a:p>
                      <a:r>
                        <a:t>Custom Piece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기본 사용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확장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표준 연동 경로</a:t>
                      </a:r>
                    </a:p>
                  </a:txBody>
                  <a:tcPr marL="91440" marR="91440" marT="45720" marB="45720"/>
                </a:tc>
              </a:tr>
              <a:tr h="449792">
                <a:tc>
                  <a:txBody>
                    <a:bodyPr/>
                    <a:lstStyle/>
                    <a:p>
                      <a:r>
                        <a:t>제품 API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별도 구현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자체 구현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TechFlow API·Webhook</a:t>
                      </a:r>
                    </a:p>
                  </a:txBody>
                  <a:tcPr marL="91440" marR="91440" marT="45720" marB="45720"/>
                </a:tc>
              </a:tr>
              <a:tr h="449792">
                <a:tc>
                  <a:txBody>
                    <a:bodyPr/>
                    <a:lstStyle/>
                    <a:p>
                      <a:r>
                        <a:t>SSO·RBAC·SCIM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별도 구현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자체 구현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TechFlow IAM·RBAC</a:t>
                      </a:r>
                    </a:p>
                  </a:txBody>
                  <a:tcPr marL="91440" marR="91440" marT="45720" marB="45720"/>
                </a:tc>
              </a:tr>
              <a:tr h="449792">
                <a:tc>
                  <a:txBody>
                    <a:bodyPr/>
                    <a:lstStyle/>
                    <a:p>
                      <a:r>
                        <a:t>Audit·Event Stream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별도 구현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자체 구현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TechFlow 감사·이벤트</a:t>
                      </a:r>
                    </a:p>
                  </a:txBody>
                  <a:tcPr marL="91440" marR="91440" marT="45720" marB="45720"/>
                </a:tc>
              </a:tr>
              <a:tr h="449792">
                <a:tc>
                  <a:txBody>
                    <a:bodyPr/>
                    <a:lstStyle/>
                    <a:p>
                      <a:r>
                        <a:t>Secret·Connection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별도 구현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자체 구현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Secret Broker</a:t>
                      </a:r>
                    </a:p>
                  </a:txBody>
                  <a:tcPr marL="91440" marR="91440" marT="45720" marB="45720"/>
                </a:tc>
              </a:tr>
              <a:tr h="449792">
                <a:tc>
                  <a:txBody>
                    <a:bodyPr/>
                    <a:lstStyle/>
                    <a:p>
                      <a:r>
                        <a:t>Builder·Branding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별도 구현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자체 구현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TechFlow Portal</a:t>
                      </a:r>
                    </a:p>
                  </a:txBody>
                  <a:tcPr marL="91440" marR="91440" marT="45720" marB="45720"/>
                </a:tc>
              </a:tr>
              <a:tr h="449792">
                <a:tc>
                  <a:txBody>
                    <a:bodyPr/>
                    <a:lstStyle/>
                    <a:p>
                      <a:r>
                        <a:t>Git·Template·Worker 격리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별도 구현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자체 구현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GitOps·Worker Pool</a:t>
                      </a:r>
                    </a:p>
                  </a:txBody>
                  <a:tcPr marL="91440" marR="91440" marT="45720" marB="45720"/>
                </a:tc>
              </a:tr>
            </a:tbl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B564AA2-FF16-42A9-BD86-FD450E4910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953125"/>
            <a:ext cx="62865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>
                <a:solidFill>
                  <a:srgbClr val="858585"/>
                </a:solidFill>
                <a:latin typeface="Malgun Gothic"/>
                <a:ea typeface="Malgun Gothic"/>
                <a:cs typeface="Malgun Gothic"/>
              </a:defRPr>
            </a:pPr>
            <a:r>
              <a:t>전체 23개 행은 JSON 원본과 의사결정 문서에서 관리</a:t>
            </a:r>
          </a:p>
        </p:txBody>
      </p:sp>
    </p:spTree>
    <p:extLst>
      <p:ext uri="{BB962C8B-B14F-4D97-AF65-F5344CB8AC3E}">
        <p14:creationId xmlns:p14="http://schemas.microsoft.com/office/powerpoint/2010/main" val="211250199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7E5721FF-CBD3-4FB9-8A80-F18837A1A8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3850"/>
            <a:ext cx="10668000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>
                <a:solidFill>
                  <a:srgbClr val="111111"/>
                </a:solidFill>
                <a:latin typeface="Malgun Gothic"/>
                <a:ea typeface="Malgun Gothic"/>
                <a:cs typeface="Malgun Gothic"/>
              </a:defRPr>
            </a:pPr>
            <a:r>
              <a:t>모든 제품 시나리오는 구현 가능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14B0C49-F38A-4701-B999-C71EC515AA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257925"/>
            <a:ext cx="5524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>
                <a:solidFill>
                  <a:srgbClr val="858585"/>
                </a:solidFill>
                <a:latin typeface="Malgun Gothic"/>
                <a:ea typeface="Malgun Gothic"/>
                <a:cs typeface="Malgun Gothic"/>
              </a:defRPr>
            </a:pPr>
            <a:r>
              <a:t>05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795118E-F8F7-4005-ACD4-7B9BFB3E79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962025"/>
            <a:ext cx="11144250" cy="495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t>고객 공개 여부는 구현 판정과 분리하고 제품 책임자가 결정한다.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A3D74B3-6D4E-4D93-9054-CD4BB628FC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762125"/>
            <a:ext cx="5543550" cy="1057275"/>
          </a:xfrm>
          <a:prstGeom xmlns:a="http://schemas.openxmlformats.org/drawingml/2006/main" prst="roundRect">
            <a:avLst>
              <a:gd name="adj" fmla="val 7207"/>
            </a:avLst>
          </a:prstGeom>
          <a:solidFill xmlns:a="http://schemas.openxmlformats.org/drawingml/2006/main">
            <a:srgbClr val="E8F5ED"/>
          </a:solidFill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6C6E615-FC1C-45CF-BBA7-53C895FC0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971675"/>
            <a:ext cx="55245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>
                <a:solidFill>
                  <a:srgbClr val="177245"/>
                </a:solidFill>
                <a:latin typeface="Malgun Gothic"/>
                <a:ea typeface="Malgun Gothic"/>
                <a:cs typeface="Malgun Gothic"/>
              </a:defRPr>
            </a:pPr>
            <a:r>
              <a:t>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F1E9480-24BD-4E6D-A42C-144C2CBBC2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1971675"/>
            <a:ext cx="2952750" cy="333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>
                <a:solidFill>
                  <a:srgbClr val="111111"/>
                </a:solidFill>
                <a:latin typeface="Malgun Gothic"/>
                <a:ea typeface="Malgun Gothic"/>
                <a:cs typeface="Malgun Gothic"/>
              </a:defRPr>
            </a:pPr>
            <a:r>
              <a:t>사내 Assist PoC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DE8A11F-4691-4309-8866-E7D42C0A34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9100" y="1990725"/>
            <a:ext cx="1428750" cy="2952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350">
                <a:solidFill>
                  <a:srgbClr val="177245"/>
                </a:solidFill>
                <a:latin typeface="Malgun Gothic"/>
                <a:ea typeface="Malgun Gothic"/>
                <a:cs typeface="Malgun Gothic"/>
              </a:defRPr>
            </a:pPr>
            <a:r>
              <a:t>승인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DDD9D53-B09F-49A8-BEA8-FF30856457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2400300"/>
            <a:ext cx="4286250" cy="2571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t>Community 기반으로 즉시 진행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5A22FF2-130D-41DF-92AE-CFBB8D54E8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1762125"/>
            <a:ext cx="5543550" cy="1057275"/>
          </a:xfrm>
          <a:prstGeom xmlns:a="http://schemas.openxmlformats.org/drawingml/2006/main" prst="roundRect">
            <a:avLst>
              <a:gd name="adj" fmla="val 7207"/>
            </a:avLst>
          </a:prstGeom>
          <a:solidFill xmlns:a="http://schemas.openxmlformats.org/drawingml/2006/main">
            <a:srgbClr val="E8F5ED"/>
          </a:solidFill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CF60C40-1268-4A79-B569-92A671F6D4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1971675"/>
            <a:ext cx="55245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>
                <a:solidFill>
                  <a:srgbClr val="177245"/>
                </a:solidFill>
                <a:latin typeface="Malgun Gothic"/>
                <a:ea typeface="Malgun Gothic"/>
                <a:cs typeface="Malgun Gothic"/>
              </a:defRPr>
            </a:pPr>
            <a:r>
              <a:t>B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DEC27C5-52E4-469A-9214-4722D8F3EE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1971675"/>
            <a:ext cx="2952750" cy="333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>
                <a:solidFill>
                  <a:srgbClr val="111111"/>
                </a:solidFill>
                <a:latin typeface="Malgun Gothic"/>
                <a:ea typeface="Malgun Gothic"/>
                <a:cs typeface="Malgun Gothic"/>
              </a:defRPr>
            </a:pPr>
            <a:r>
              <a:t>고객 전용 인스턴스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2F00EE8-077A-416E-A45A-57170A7BA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77450" y="1990725"/>
            <a:ext cx="1428750" cy="2952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350">
                <a:solidFill>
                  <a:srgbClr val="177245"/>
                </a:solidFill>
                <a:latin typeface="Malgun Gothic"/>
                <a:ea typeface="Malgun Gothic"/>
                <a:cs typeface="Malgun Gothic"/>
              </a:defRPr>
            </a:pPr>
            <a:r>
              <a:t>구현 가능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6D02B2C-B9D7-43A7-962A-089E5B5595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2400300"/>
            <a:ext cx="4286250" cy="2571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t>배포·관리 기능까지 자체 구현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1FFD58A-4EBC-4882-BF43-63AA0381D7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143250"/>
            <a:ext cx="5543550" cy="1057275"/>
          </a:xfrm>
          <a:prstGeom xmlns:a="http://schemas.openxmlformats.org/drawingml/2006/main" prst="roundRect">
            <a:avLst>
              <a:gd name="adj" fmla="val 7207"/>
            </a:avLst>
          </a:prstGeom>
          <a:solidFill xmlns:a="http://schemas.openxmlformats.org/drawingml/2006/main">
            <a:srgbClr val="E8F5ED"/>
          </a:solidFill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698087B-0CDF-41D7-A2A8-81BA2DC22F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352800"/>
            <a:ext cx="55245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>
                <a:solidFill>
                  <a:srgbClr val="177245"/>
                </a:solidFill>
                <a:latin typeface="Malgun Gothic"/>
                <a:ea typeface="Malgun Gothic"/>
                <a:cs typeface="Malgun Gothic"/>
              </a:defRPr>
            </a:pPr>
            <a:r>
              <a:t>C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ED807BD-D4CE-480C-88C9-E8DC6C7035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3352800"/>
            <a:ext cx="2952750" cy="333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>
                <a:solidFill>
                  <a:srgbClr val="111111"/>
                </a:solidFill>
                <a:latin typeface="Malgun Gothic"/>
                <a:ea typeface="Malgun Gothic"/>
                <a:cs typeface="Malgun Gothic"/>
              </a:defRPr>
            </a:pPr>
            <a:r>
              <a:t>고객용 구성·관리 UI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C9996CB-AF8C-4ED5-8D4B-D500B902F7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9100" y="3371850"/>
            <a:ext cx="1428750" cy="2952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350">
                <a:solidFill>
                  <a:srgbClr val="177245"/>
                </a:solidFill>
                <a:latin typeface="Malgun Gothic"/>
                <a:ea typeface="Malgun Gothic"/>
                <a:cs typeface="Malgun Gothic"/>
              </a:defRPr>
            </a:pPr>
            <a:r>
              <a:t>자체 구현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A85FBCB-7087-44F0-90DA-7B8096E96D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3781425"/>
            <a:ext cx="4286250" cy="2571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t>TechFlow 제품 기능으로 자체 구현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8A26FF0-631A-4632-9B98-9EF52ACF6A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143250"/>
            <a:ext cx="5543550" cy="1057275"/>
          </a:xfrm>
          <a:prstGeom xmlns:a="http://schemas.openxmlformats.org/drawingml/2006/main" prst="roundRect">
            <a:avLst>
              <a:gd name="adj" fmla="val 7207"/>
            </a:avLst>
          </a:prstGeom>
          <a:solidFill xmlns:a="http://schemas.openxmlformats.org/drawingml/2006/main">
            <a:srgbClr val="E8F5ED"/>
          </a:solidFill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839721A-2506-49B0-9ECF-7FFAC4AF87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3352800"/>
            <a:ext cx="55245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>
                <a:solidFill>
                  <a:srgbClr val="177245"/>
                </a:solidFill>
                <a:latin typeface="Malgun Gothic"/>
                <a:ea typeface="Malgun Gothic"/>
                <a:cs typeface="Malgun Gothic"/>
              </a:defRPr>
            </a:pPr>
            <a:r>
              <a:t>D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9671A61-A324-4E03-B4E6-3E65FE987B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3352800"/>
            <a:ext cx="2952750" cy="333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>
                <a:solidFill>
                  <a:srgbClr val="111111"/>
                </a:solidFill>
                <a:latin typeface="Malgun Gothic"/>
                <a:ea typeface="Malgun Gothic"/>
                <a:cs typeface="Malgun Gothic"/>
              </a:defRPr>
            </a:pPr>
            <a:r>
              <a:t>TechFlow Builder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B3263D7-2E15-4E36-9D67-3BBB3E1F53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77450" y="3371850"/>
            <a:ext cx="1428750" cy="2952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350">
                <a:solidFill>
                  <a:srgbClr val="177245"/>
                </a:solidFill>
                <a:latin typeface="Malgun Gothic"/>
                <a:ea typeface="Malgun Gothic"/>
                <a:cs typeface="Malgun Gothic"/>
              </a:defRPr>
            </a:pPr>
            <a:r>
              <a:t>자체 구현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613BD74-3239-4178-BE7E-65C3FC3E2D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3781425"/>
            <a:ext cx="4286250" cy="2571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t>TechFlow 제품 기능으로 자체 구현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10B9494-4048-41F4-BD88-733168E3E5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524375"/>
            <a:ext cx="5543550" cy="1057275"/>
          </a:xfrm>
          <a:prstGeom xmlns:a="http://schemas.openxmlformats.org/drawingml/2006/main" prst="roundRect">
            <a:avLst>
              <a:gd name="adj" fmla="val 7207"/>
            </a:avLst>
          </a:prstGeom>
          <a:solidFill xmlns:a="http://schemas.openxmlformats.org/drawingml/2006/main">
            <a:srgbClr val="E8F5ED"/>
          </a:solidFill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E350F23-693D-49D4-AC62-07D2BE0A9B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733925"/>
            <a:ext cx="55245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>
                <a:solidFill>
                  <a:srgbClr val="177245"/>
                </a:solidFill>
                <a:latin typeface="Malgun Gothic"/>
                <a:ea typeface="Malgun Gothic"/>
                <a:cs typeface="Malgun Gothic"/>
              </a:defRPr>
            </a:pPr>
            <a:r>
              <a:t>E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B4BEED3-5EB1-4A82-89ED-46F266C8F1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4733925"/>
            <a:ext cx="2952750" cy="333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>
                <a:solidFill>
                  <a:srgbClr val="111111"/>
                </a:solidFill>
                <a:latin typeface="Malgun Gothic"/>
                <a:ea typeface="Malgun Gothic"/>
                <a:cs typeface="Malgun Gothic"/>
              </a:defRPr>
            </a:pPr>
            <a:r>
              <a:t>다중 고객 플랫폼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2B73802-9A68-40D9-AC88-9DF3EBA211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9100" y="4752975"/>
            <a:ext cx="1428750" cy="2952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350">
                <a:solidFill>
                  <a:srgbClr val="177245"/>
                </a:solidFill>
                <a:latin typeface="Malgun Gothic"/>
                <a:ea typeface="Malgun Gothic"/>
                <a:cs typeface="Malgun Gothic"/>
              </a:defRPr>
            </a:pPr>
            <a:r>
              <a:t>자체 구현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984701E-DDC2-4FA9-88BE-B4F02663A5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5162550"/>
            <a:ext cx="4286250" cy="2571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t>TechFlow 제품 기능으로 자체 구현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34E5CE8-458E-43EF-9496-8BBEFA15EE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4524375"/>
            <a:ext cx="5543550" cy="1057275"/>
          </a:xfrm>
          <a:prstGeom xmlns:a="http://schemas.openxmlformats.org/drawingml/2006/main" prst="roundRect">
            <a:avLst>
              <a:gd name="adj" fmla="val 7207"/>
            </a:avLst>
          </a:prstGeom>
          <a:solidFill xmlns:a="http://schemas.openxmlformats.org/drawingml/2006/main">
            <a:srgbClr val="E8F5ED"/>
          </a:solidFill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50CF8EB-742B-4543-9133-C7A746A8E1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733925"/>
            <a:ext cx="55245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>
                <a:solidFill>
                  <a:srgbClr val="177245"/>
                </a:solidFill>
                <a:latin typeface="Malgun Gothic"/>
                <a:ea typeface="Malgun Gothic"/>
                <a:cs typeface="Malgun Gothic"/>
              </a:defRPr>
            </a:pPr>
            <a:r>
              <a:t>F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81245E4-F803-4DEF-9F07-509E118493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4733925"/>
            <a:ext cx="2952750" cy="333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>
                <a:solidFill>
                  <a:srgbClr val="111111"/>
                </a:solidFill>
                <a:latin typeface="Malgun Gothic"/>
                <a:ea typeface="Malgun Gothic"/>
                <a:cs typeface="Malgun Gothic"/>
              </a:defRPr>
            </a:pPr>
            <a:r>
              <a:t>오프라인 배포 기능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2CC30563-09C0-48AA-8B63-2A539C373F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77450" y="4752975"/>
            <a:ext cx="1428750" cy="2952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350">
                <a:solidFill>
                  <a:srgbClr val="177245"/>
                </a:solidFill>
                <a:latin typeface="Malgun Gothic"/>
                <a:ea typeface="Malgun Gothic"/>
                <a:cs typeface="Malgun Gothic"/>
              </a:defRPr>
            </a:pPr>
            <a:r>
              <a:t>자체 구현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68F9512A-0BA0-4AD7-80F1-0C1155477A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5162550"/>
            <a:ext cx="4286250" cy="2571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t>설치·업그레이드·운영 기능 구현</a:t>
            </a:r>
          </a:p>
        </p:txBody>
      </p:sp>
    </p:spTree>
    <p:extLst>
      <p:ext uri="{BB962C8B-B14F-4D97-AF65-F5344CB8AC3E}">
        <p14:creationId xmlns:p14="http://schemas.microsoft.com/office/powerpoint/2010/main" val="1366557882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C0D67D5-DF5D-4C54-A9DB-DB36EC7634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3850"/>
            <a:ext cx="10668000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>
                <a:solidFill>
                  <a:srgbClr val="111111"/>
                </a:solidFill>
                <a:latin typeface="Malgun Gothic"/>
                <a:ea typeface="Malgun Gothic"/>
                <a:cs typeface="Malgun Gothic"/>
              </a:defRPr>
            </a:pPr>
            <a:r>
              <a:t>권한과 실행을 분리한 목표 아키텍처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466BC46-26B6-46EB-900E-B07A857835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257925"/>
            <a:ext cx="5524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>
                <a:solidFill>
                  <a:srgbClr val="858585"/>
                </a:solidFill>
                <a:latin typeface="Malgun Gothic"/>
                <a:ea typeface="Malgun Gothic"/>
                <a:cs typeface="Malgun Gothic"/>
              </a:defRPr>
            </a:pPr>
            <a:r>
              <a:t>06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318F9CA-F2A9-4C4B-8C43-E307E88A1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962025"/>
            <a:ext cx="11144250" cy="495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t>Activepieces를 대체 불가능한 제품 코어가 아니라 교체 가능한 실행 계층으로 둔다.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1012F46-6B83-4CA2-B65A-C42B676D87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9825" y="2971800"/>
            <a:ext cx="93345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CBF4"/>
          </a:solidFill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0E92168-0D3E-4A4A-81C6-50F01DEE8A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9300" y="2971800"/>
            <a:ext cx="93345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CBF4"/>
          </a:solidFill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AC7AFE3-78E6-4F1B-909C-60B967DBF9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2971800"/>
            <a:ext cx="93345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CBF4"/>
          </a:solidFill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FC03CC4-EB2E-4AD5-84F6-5B0BD7C8A1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3962400"/>
            <a:ext cx="66675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9D9"/>
          </a:solidFill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718513D-1A21-4D46-AC8A-E06DF14048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324100"/>
            <a:ext cx="2009775" cy="1371600"/>
          </a:xfrm>
          <a:prstGeom xmlns:a="http://schemas.openxmlformats.org/drawingml/2006/main" prst="roundRect">
            <a:avLst>
              <a:gd name="adj" fmla="val 5556"/>
            </a:avLst>
          </a:prstGeom>
          <a:solidFill xmlns:a="http://schemas.openxmlformats.org/drawingml/2006/main">
            <a:srgbClr val="F2F2F2"/>
          </a:solidFill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4819D05-A8AE-41A2-BA6B-24EF7267FB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2562225"/>
            <a:ext cx="1524000" cy="2952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>
                <a:solidFill>
                  <a:srgbClr val="111111"/>
                </a:solidFill>
                <a:latin typeface="Malgun Gothic"/>
                <a:ea typeface="Malgun Gothic"/>
                <a:cs typeface="Malgun Gothic"/>
              </a:defRPr>
            </a:pPr>
            <a:r>
              <a:t>채널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6A40DCE-952F-4D36-9539-9A4CFDCC99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2971800"/>
            <a:ext cx="1524000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95679"/>
          </a:bodyPr>
          <a:lstStyle xmlns:a="http://schemas.openxmlformats.org/drawingml/2006/main"/>
          <a:p xmlns:a="http://schemas.openxmlformats.org/drawingml/2006/main">
            <a:pPr algn="l">
              <a:defRPr sz="1350">
                <a:solidFill>
                  <a:srgbClr val="111111"/>
                </a:solidFill>
                <a:latin typeface="Malgun Gothic"/>
                <a:ea typeface="Malgun Gothic"/>
                <a:cs typeface="Malgun Gothic"/>
              </a:defRPr>
            </a:pPr>
            <a:r>
              <a:t>GitHub
Community
Messenger · Portal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473FE3F-964B-47BF-BAF0-BD919A1E32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3275" y="2133600"/>
            <a:ext cx="2486025" cy="1752600"/>
          </a:xfrm>
          <a:prstGeom xmlns:a="http://schemas.openxmlformats.org/drawingml/2006/main" prst="roundRect">
            <a:avLst>
              <a:gd name="adj" fmla="val 4348"/>
            </a:avLst>
          </a:prstGeom>
          <a:solidFill xmlns:a="http://schemas.openxmlformats.org/drawingml/2006/main">
            <a:srgbClr val="DDF3FF"/>
          </a:solidFill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C732925-205D-4C6B-B9F4-C056E9FD8A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2400300"/>
            <a:ext cx="1971675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>
                <a:solidFill>
                  <a:srgbClr val="3D8DFF"/>
                </a:solidFill>
                <a:latin typeface="Malgun Gothic"/>
                <a:ea typeface="Malgun Gothic"/>
                <a:cs typeface="Malgun Gothic"/>
              </a:defRPr>
            </a:pPr>
            <a:r>
              <a:t>TechFlow Core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96C72E7-69D4-4461-BB9C-F3F731213C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2943225"/>
            <a:ext cx="1971675" cy="723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>
                <a:solidFill>
                  <a:srgbClr val="111111"/>
                </a:solidFill>
                <a:latin typeface="Malgun Gothic"/>
                <a:ea typeface="Malgun Gothic"/>
                <a:cs typeface="Malgun Gothic"/>
              </a:defRPr>
            </a:pPr>
            <a:r>
              <a:t>인증 · 권한 · 정책 · 승인
감사 · 템플릿 · API
AI · RAG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81A758D-F54E-4582-B39B-C63D8A19E0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2324100"/>
            <a:ext cx="2457450" cy="1371600"/>
          </a:xfrm>
          <a:prstGeom xmlns:a="http://schemas.openxmlformats.org/drawingml/2006/main" prst="roundRect">
            <a:avLst>
              <a:gd name="adj" fmla="val 5556"/>
            </a:avLst>
          </a:prstGeom>
          <a:solidFill xmlns:a="http://schemas.openxmlformats.org/drawingml/2006/main">
            <a:srgbClr val="F3FAFE"/>
          </a:solidFill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14CE148-F724-41B0-B2C8-13F09CFB5F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2562225"/>
            <a:ext cx="1943100" cy="2952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>
                <a:solidFill>
                  <a:srgbClr val="111111"/>
                </a:solidFill>
                <a:latin typeface="Malgun Gothic"/>
                <a:ea typeface="Malgun Gothic"/>
                <a:cs typeface="Malgun Gothic"/>
              </a:defRPr>
            </a:pPr>
            <a:r>
              <a:t>Activepieces CE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D419741-F93E-4D62-96B5-5E2622ACBA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3048000"/>
            <a:ext cx="194310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>
                <a:solidFill>
                  <a:srgbClr val="111111"/>
                </a:solidFill>
                <a:latin typeface="Malgun Gothic"/>
                <a:ea typeface="Malgun Gothic"/>
                <a:cs typeface="Malgun Gothic"/>
              </a:defRPr>
            </a:pPr>
            <a:r>
              <a:t>Builder · Webhook
Queue · Worker · Retry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562E193-A908-4283-979F-BE84CCE9EE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53650" y="2324100"/>
            <a:ext cx="1638300" cy="1371600"/>
          </a:xfrm>
          <a:prstGeom xmlns:a="http://schemas.openxmlformats.org/drawingml/2006/main" prst="roundRect">
            <a:avLst>
              <a:gd name="adj" fmla="val 5556"/>
            </a:avLst>
          </a:prstGeom>
          <a:solidFill xmlns:a="http://schemas.openxmlformats.org/drawingml/2006/main">
            <a:srgbClr val="F2F2F2"/>
          </a:solidFill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873DF87-4D18-4EED-8126-34A160E390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2562225"/>
            <a:ext cx="1200150" cy="2952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>
                <a:solidFill>
                  <a:srgbClr val="111111"/>
                </a:solidFill>
                <a:latin typeface="Malgun Gothic"/>
                <a:ea typeface="Malgun Gothic"/>
                <a:cs typeface="Malgun Gothic"/>
              </a:defRPr>
            </a:pPr>
            <a:r>
              <a:t>ABLESTACK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91B645D-6E3D-4960-AD8F-0FA3ABBF62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3048000"/>
            <a:ext cx="120015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>
                <a:solidFill>
                  <a:srgbClr val="111111"/>
                </a:solidFill>
                <a:latin typeface="Malgun Gothic"/>
                <a:ea typeface="Malgun Gothic"/>
                <a:cs typeface="Malgun Gothic"/>
              </a:defRPr>
            </a:pPr>
            <a:r>
              <a:t>권한 · 상태
멱등성 · 작업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27C9691-B7B3-41CD-93B5-D1F19F4220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667250"/>
            <a:ext cx="2838450" cy="8763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E8F5ED"/>
          </a:solidFill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CCCBC8D-4988-4E14-91B7-D00BA373E4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4876800"/>
            <a:ext cx="2305050" cy="2762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75">
                <a:solidFill>
                  <a:srgbClr val="177245"/>
                </a:solidFill>
                <a:latin typeface="Malgun Gothic"/>
                <a:ea typeface="Malgun Gothic"/>
                <a:cs typeface="Malgun Gothic"/>
              </a:defRPr>
            </a:pPr>
            <a:r>
              <a:t>TechFlow Custom Pieces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51F2154-C9C2-4C9D-B6C4-E3C593E0A9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5219700"/>
            <a:ext cx="23050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t>서명 Webhook · Callback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D0A97FF-BCB4-4EBE-8899-AE06B3A19C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4267200"/>
            <a:ext cx="1524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>
                <a:solidFill>
                  <a:srgbClr val="3D8DFF"/>
                </a:solidFill>
                <a:latin typeface="Malgun Gothic"/>
                <a:ea typeface="Malgun Gothic"/>
                <a:cs typeface="Malgun Gothic"/>
              </a:defRPr>
            </a:pPr>
            <a:r>
              <a:t>제품 권한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FD55353-EEE1-4B7C-AD47-E7D1FA6151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4267200"/>
            <a:ext cx="1524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t>실행 계층</a:t>
            </a:r>
          </a:p>
        </p:txBody>
      </p:sp>
    </p:spTree>
    <p:extLst>
      <p:ext uri="{BB962C8B-B14F-4D97-AF65-F5344CB8AC3E}">
        <p14:creationId xmlns:p14="http://schemas.microsoft.com/office/powerpoint/2010/main" val="1164911920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DA5577D-4871-4696-B5A7-EDECB63435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3850"/>
            <a:ext cx="10668000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>
                <a:solidFill>
                  <a:srgbClr val="111111"/>
                </a:solidFill>
                <a:latin typeface="Malgun Gothic"/>
                <a:ea typeface="Malgun Gothic"/>
                <a:cs typeface="Malgun Gothic"/>
              </a:defRPr>
            </a:pPr>
            <a:r>
              <a:t>구현 원칙: 라이선스와 공개 여부는 백로그 게이트가 아니다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54F56C6-093F-49C2-B564-6EE7CF04F8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257925"/>
            <a:ext cx="5524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>
                <a:solidFill>
                  <a:srgbClr val="858585"/>
                </a:solidFill>
                <a:latin typeface="Malgun Gothic"/>
                <a:ea typeface="Malgun Gothic"/>
                <a:cs typeface="Malgun Gothic"/>
              </a:defRPr>
            </a:pPr>
            <a:r>
              <a:t>07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B44C9D8-F2AC-4C28-A23A-0700C123BA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657350"/>
            <a:ext cx="3524250" cy="3581400"/>
          </a:xfrm>
          <a:prstGeom xmlns:a="http://schemas.openxmlformats.org/drawingml/2006/main" prst="roundRect">
            <a:avLst>
              <a:gd name="adj" fmla="val 2162"/>
            </a:avLst>
          </a:prstGeom>
          <a:solidFill xmlns:a="http://schemas.openxmlformats.org/drawingml/2006/main">
            <a:srgbClr val="E8F5ED"/>
          </a:solidFill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9A79AE6-143F-4E8F-9710-3340A55B0E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24050"/>
            <a:ext cx="85725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150">
                <a:solidFill>
                  <a:srgbClr val="177245"/>
                </a:solidFill>
                <a:latin typeface="Malgun Gothic"/>
                <a:ea typeface="Malgun Gothic"/>
                <a:cs typeface="Malgun Gothic"/>
              </a:defRPr>
            </a:pPr>
            <a:r>
              <a:t>I1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45CFC18-BB73-49B4-A082-9AEB8AA4F7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09850"/>
            <a:ext cx="276225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75">
                <a:solidFill>
                  <a:srgbClr val="111111"/>
                </a:solidFill>
                <a:latin typeface="Malgun Gothic"/>
                <a:ea typeface="Malgun Gothic"/>
                <a:cs typeface="Malgun Gothic"/>
              </a:defRPr>
            </a:pPr>
            <a:r>
              <a:t>Community 기반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A8644BA-0268-4463-9DBD-29BFC2EAE0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19450"/>
            <a:ext cx="2667000" cy="1257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>
                <a:solidFill>
                  <a:srgbClr val="111111"/>
                </a:solidFill>
                <a:latin typeface="Malgun Gothic"/>
                <a:ea typeface="Malgun Gothic"/>
                <a:cs typeface="Malgun Gothic"/>
              </a:defRPr>
            </a:pPr>
            <a:r>
              <a:t>시각적 설계·실행 엔진
Webhook · Queue · Worker
Custom Piece 연동
고정 버전·운영 품질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1861F2B-80F5-4EE2-B0BC-A308A247F5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3875" y="1657350"/>
            <a:ext cx="3524250" cy="3581400"/>
          </a:xfrm>
          <a:prstGeom xmlns:a="http://schemas.openxmlformats.org/drawingml/2006/main" prst="roundRect">
            <a:avLst>
              <a:gd name="adj" fmla="val 2162"/>
            </a:avLst>
          </a:prstGeom>
          <a:solidFill xmlns:a="http://schemas.openxmlformats.org/drawingml/2006/main">
            <a:srgbClr val="DDF3FF"/>
          </a:solidFill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71D5A24-C4AA-4C57-9FB2-89D097534E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1924050"/>
            <a:ext cx="85725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150">
                <a:solidFill>
                  <a:srgbClr val="3D8DFF"/>
                </a:solidFill>
                <a:latin typeface="Malgun Gothic"/>
                <a:ea typeface="Malgun Gothic"/>
                <a:cs typeface="Malgun Gothic"/>
              </a:defRPr>
            </a:pPr>
            <a:r>
              <a:t>I2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2FC7E9A-A295-46DB-9B32-3004DB3DEE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2609850"/>
            <a:ext cx="276225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75">
                <a:solidFill>
                  <a:srgbClr val="111111"/>
                </a:solidFill>
                <a:latin typeface="Malgun Gothic"/>
                <a:ea typeface="Malgun Gothic"/>
                <a:cs typeface="Malgun Gothic"/>
              </a:defRPr>
            </a:pPr>
            <a:r>
              <a:t>상위 기능 자체 구현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A9AB8F9-B2B3-43C0-8FE6-9F026BBC40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3219450"/>
            <a:ext cx="2667000" cy="1257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>
                <a:solidFill>
                  <a:srgbClr val="111111"/>
                </a:solidFill>
                <a:latin typeface="Malgun Gothic"/>
                <a:ea typeface="Malgun Gothic"/>
                <a:cs typeface="Malgun Gothic"/>
              </a:defRPr>
            </a:pPr>
            <a:r>
              <a:t>Builder · 제품 API
SSO · RBAC · Audit
Secret · Template · GitOps
Worker 격리 · Analytics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84AA18A-00E2-4B4B-B8CF-B8BFC18ECC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1657350"/>
            <a:ext cx="3524250" cy="3581400"/>
          </a:xfrm>
          <a:prstGeom xmlns:a="http://schemas.openxmlformats.org/drawingml/2006/main" prst="roundRect">
            <a:avLst>
              <a:gd name="adj" fmla="val 2162"/>
            </a:avLst>
          </a:prstGeom>
          <a:solidFill xmlns:a="http://schemas.openxmlformats.org/drawingml/2006/main">
            <a:srgbClr val="F2F2F2"/>
          </a:solidFill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E858CA2-9B0F-427E-B5FD-682A6BE5A3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1924050"/>
            <a:ext cx="152400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15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t>I3–I4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96474BB-B8C7-4D6A-8BE0-B7230279D8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2609850"/>
            <a:ext cx="276225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75">
                <a:solidFill>
                  <a:srgbClr val="111111"/>
                </a:solidFill>
                <a:latin typeface="Malgun Gothic"/>
                <a:ea typeface="Malgun Gothic"/>
                <a:cs typeface="Malgun Gothic"/>
              </a:defRPr>
            </a:pPr>
            <a:r>
              <a:t>결정 책임 분리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8CB629F-7E6E-4A4D-B61F-398D9C3FD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3219450"/>
            <a:ext cx="2667000" cy="1257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>
                <a:solidFill>
                  <a:srgbClr val="111111"/>
                </a:solidFill>
                <a:latin typeface="Malgun Gothic"/>
                <a:ea typeface="Malgun Gothic"/>
                <a:cs typeface="Malgun Gothic"/>
              </a:defRPr>
            </a:pPr>
            <a:r>
              <a:t>제품 권한은 TechFlow
자원 권한은 ABLESTACK API
고객 공개·판매·배포는
제품 책임자가 별도 결정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3E59655-61D1-4EA3-8B81-5F40AFFD7A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581650"/>
            <a:ext cx="14287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>
                <a:solidFill>
                  <a:srgbClr val="177245"/>
                </a:solidFill>
                <a:latin typeface="Malgun Gothic"/>
                <a:ea typeface="Malgun Gothic"/>
                <a:cs typeface="Malgun Gothic"/>
              </a:defRPr>
            </a:pPr>
            <a:r>
              <a:t>기본 실행 기반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C2C028D-9995-416D-B962-6C8EA26FD2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14525" y="5724525"/>
            <a:ext cx="20002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7245"/>
          </a:solidFill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5D98CF5-BCA8-43A9-A419-ECF79BF032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3875" y="5581650"/>
            <a:ext cx="16192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>
                <a:solidFill>
                  <a:srgbClr val="3D8DFF"/>
                </a:solidFill>
                <a:latin typeface="Malgun Gothic"/>
                <a:ea typeface="Malgun Gothic"/>
                <a:cs typeface="Malgun Gothic"/>
              </a:defRPr>
            </a:pPr>
            <a:r>
              <a:t>요구사항대로 구현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BB1A584-C93B-495C-8D4C-8B065E4C8C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5724525"/>
            <a:ext cx="1809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46EEB15-B349-49DC-A48D-500CC11C8F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5581650"/>
            <a:ext cx="16192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t>공개 판단은 별도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01667F1-9C29-4871-9EE5-85A3BABC61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72675" y="5724525"/>
            <a:ext cx="1809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55555"/>
          </a:solidFill>
        </p:spPr>
      </p:sp>
    </p:spTree>
    <p:extLst>
      <p:ext uri="{BB962C8B-B14F-4D97-AF65-F5344CB8AC3E}">
        <p14:creationId xmlns:p14="http://schemas.microsoft.com/office/powerpoint/2010/main" val="563954026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72D6A2B-2E40-40C0-A97B-AC9A82C163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3850"/>
            <a:ext cx="10668000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>
                <a:solidFill>
                  <a:srgbClr val="111111"/>
                </a:solidFill>
                <a:latin typeface="Malgun Gothic"/>
                <a:ea typeface="Malgun Gothic"/>
                <a:cs typeface="Malgun Gothic"/>
              </a:defRPr>
            </a:pPr>
            <a:r>
              <a:t>공개·배포 조건은 구현 제약이 아닌 참고정보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8392829-1390-4AD6-9B9E-3C9A6EFF8E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257925"/>
            <a:ext cx="5524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>
                <a:solidFill>
                  <a:srgbClr val="858585"/>
                </a:solidFill>
                <a:latin typeface="Malgun Gothic"/>
                <a:ea typeface="Malgun Gothic"/>
                <a:cs typeface="Malgun Gothic"/>
              </a:defRPr>
            </a:pPr>
            <a:r>
              <a:t>08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8CD6764-3020-460E-8152-052DB952C8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962025"/>
            <a:ext cx="11144250" cy="495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t>package.json만으로는 Piece·컨테이너 전체의 제3자 라이선스를 증명할 수 없다.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63EA417-5A56-47F7-B679-B7F32882EF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790700"/>
            <a:ext cx="3543300" cy="2952750"/>
          </a:xfrm>
          <a:prstGeom xmlns:a="http://schemas.openxmlformats.org/drawingml/2006/main" prst="roundRect">
            <a:avLst>
              <a:gd name="adj" fmla="val 2581"/>
            </a:avLst>
          </a:prstGeom>
          <a:solidFill xmlns:a="http://schemas.openxmlformats.org/drawingml/2006/main">
            <a:srgbClr val="FCE8E6"/>
          </a:solidFill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4B5ED3E-0E61-47F3-8AFE-C9EC0E9A27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76450"/>
            <a:ext cx="133350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025">
                <a:solidFill>
                  <a:srgbClr val="A52714"/>
                </a:solidFill>
                <a:latin typeface="Malgun Gothic"/>
                <a:ea typeface="Malgun Gothic"/>
                <a:cs typeface="Malgun Gothic"/>
              </a:defRPr>
            </a:pPr>
            <a:r>
              <a:t>확인 항목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97275DB-FC12-4A36-908F-B17C25B3AC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86050"/>
            <a:ext cx="2857500" cy="1485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98783"/>
          </a:bodyPr>
          <a:lstStyle xmlns:a="http://schemas.openxmlformats.org/drawingml/2006/main"/>
          <a:p xmlns:a="http://schemas.openxmlformats.org/drawingml/2006/main">
            <a:pPr algn="l">
              <a:defRPr sz="1575">
                <a:solidFill>
                  <a:srgbClr val="111111"/>
                </a:solidFill>
                <a:latin typeface="Malgun Gothic"/>
                <a:ea typeface="Malgun Gothic"/>
                <a:cs typeface="Malgun Gothic"/>
              </a:defRPr>
            </a:pPr>
            <a:r>
              <a:t>공식 이미지에 EE 빌드 입력 포함
결합 이미지 재배포 권리 미확정
다수 패키지의 license 필드 부재
상표·Powered by 조건 별도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936BF9A-2C09-491B-A934-19433B4631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1790700"/>
            <a:ext cx="3543300" cy="2952750"/>
          </a:xfrm>
          <a:prstGeom xmlns:a="http://schemas.openxmlformats.org/drawingml/2006/main" prst="roundRect">
            <a:avLst>
              <a:gd name="adj" fmla="val 2581"/>
            </a:avLst>
          </a:prstGeom>
          <a:solidFill xmlns:a="http://schemas.openxmlformats.org/drawingml/2006/main">
            <a:srgbClr val="DDF3FF"/>
          </a:solidFill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09A266B-CCD9-4ABE-B8C9-F991D9A0EF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2076450"/>
            <a:ext cx="142875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025">
                <a:solidFill>
                  <a:srgbClr val="3D8DFF"/>
                </a:solidFill>
                <a:latin typeface="Malgun Gothic"/>
                <a:ea typeface="Malgun Gothic"/>
                <a:cs typeface="Malgun Gothic"/>
              </a:defRPr>
            </a:pPr>
            <a:r>
              <a:t>필수 증적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7D82E5F-F3A3-4EF7-AB15-52EF6B06E3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2686050"/>
            <a:ext cx="2857500" cy="1485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>
                <a:solidFill>
                  <a:srgbClr val="111111"/>
                </a:solidFill>
                <a:latin typeface="Malgun Gothic"/>
                <a:ea typeface="Malgun Gothic"/>
                <a:cs typeface="Malgun Gothic"/>
              </a:defRPr>
            </a:pPr>
            <a:r>
              <a:t>이미지 digest 고정
SPDX/CycloneDX SBOM
NOTICE·수동 예외 검토
취약점·라이선스 결과 보관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35A9AC7-F1EA-4DB1-AF56-E20935B10A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1790700"/>
            <a:ext cx="3543300" cy="2952750"/>
          </a:xfrm>
          <a:prstGeom xmlns:a="http://schemas.openxmlformats.org/drawingml/2006/main" prst="roundRect">
            <a:avLst>
              <a:gd name="adj" fmla="val 2581"/>
            </a:avLst>
          </a:prstGeom>
          <a:solidFill xmlns:a="http://schemas.openxmlformats.org/drawingml/2006/main">
            <a:srgbClr val="E8F5ED"/>
          </a:solidFill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E2C37A2-7A58-482F-BD14-70CBEF493A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2076450"/>
            <a:ext cx="142875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025">
                <a:solidFill>
                  <a:srgbClr val="177245"/>
                </a:solidFill>
                <a:latin typeface="Malgun Gothic"/>
                <a:ea typeface="Malgun Gothic"/>
                <a:cs typeface="Malgun Gothic"/>
              </a:defRPr>
            </a:pPr>
            <a:r>
              <a:t>적용 원칙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BBC7345-AFB0-4EC3-ACFB-CF2E643D83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2686050"/>
            <a:ext cx="2857500" cy="1485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>
                <a:solidFill>
                  <a:srgbClr val="111111"/>
                </a:solidFill>
                <a:latin typeface="Malgun Gothic"/>
                <a:ea typeface="Malgun Gothic"/>
                <a:cs typeface="Malgun Gothic"/>
              </a:defRPr>
            </a:pPr>
            <a:r>
              <a:t>정보는 보고서에 유지
공개 결정 시 재검토
자체 구현은 계속 진행
백로그 게이트로 사용하지 않음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EACD722-0D4C-414C-BE50-0C617598E4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219700"/>
            <a:ext cx="11391900" cy="66675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F2F2F2"/>
          </a:solidFill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409B91D-EE98-4D8B-96FF-8F140E1993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10200"/>
            <a:ext cx="108204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>
                <a:solidFill>
                  <a:srgbClr val="111111"/>
                </a:solidFill>
                <a:latin typeface="Malgun Gothic"/>
                <a:ea typeface="Malgun Gothic"/>
                <a:cs typeface="Malgun Gothic"/>
              </a:defRPr>
            </a:pPr>
            <a:r>
              <a:t>결정  |  라이선스·공개 관련 확인은 제품 책임자의 공개 판단을 지원하며 기능 구현을 차단하지 않는다.</a:t>
            </a:r>
          </a:p>
        </p:txBody>
      </p:sp>
    </p:spTree>
    <p:extLst>
      <p:ext uri="{BB962C8B-B14F-4D97-AF65-F5344CB8AC3E}">
        <p14:creationId xmlns:p14="http://schemas.microsoft.com/office/powerpoint/2010/main" val="1314184532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F776455-FC13-451C-B4CD-A5FBD1A6AC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3850"/>
            <a:ext cx="10668000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>
                <a:solidFill>
                  <a:srgbClr val="111111"/>
                </a:solidFill>
                <a:latin typeface="Malgun Gothic"/>
                <a:ea typeface="Malgun Gothic"/>
                <a:cs typeface="Malgun Gothic"/>
              </a:defRPr>
            </a:pPr>
            <a:r>
              <a:t>다음 실행 순서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37E9953-46AD-4C7D-93EC-2E35741B79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257925"/>
            <a:ext cx="5524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>
                <a:solidFill>
                  <a:srgbClr val="858585"/>
                </a:solidFill>
                <a:latin typeface="Malgun Gothic"/>
                <a:ea typeface="Malgun Gothic"/>
                <a:cs typeface="Malgun Gothic"/>
              </a:defRPr>
            </a:pPr>
            <a:r>
              <a:t>09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DB47D9E-796E-498A-883B-CBCF969B5D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962025"/>
            <a:ext cx="11144250" cy="495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>
                <a:solidFill>
                  <a:srgbClr val="555555"/>
                </a:solidFill>
                <a:latin typeface="Malgun Gothic"/>
                <a:ea typeface="Malgun Gothic"/>
                <a:cs typeface="Malgun Gothic"/>
              </a:defRPr>
            </a:pPr>
            <a:r>
              <a:t>Community 실행 기반 위에 TechFlow 제품 기능을 단계적으로 구현한다.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E15FCFD-C208-4E9F-AC87-FF599FC791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162300"/>
            <a:ext cx="9144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9D9"/>
          </a:solidFill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82C98E5-2E0D-4E60-BC95-44841FE766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77177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  <a:solidFill xmlns:a="http://schemas.openxmlformats.org/drawingml/2006/main">
            <a:srgbClr val="E8F5ED"/>
          </a:solidFill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1776299-3531-463A-BF89-96F88C8510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914650"/>
            <a:ext cx="800100" cy="476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700">
                <a:solidFill>
                  <a:srgbClr val="177245"/>
                </a:solidFill>
                <a:latin typeface="Malgun Gothic"/>
                <a:ea typeface="Malgun Gothic"/>
                <a:cs typeface="Malgun Gothic"/>
              </a:defRPr>
            </a:pPr>
            <a:r>
              <a:t>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32EEF62-8034-4A55-AE5D-21ADFBA875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277177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  <a:solidFill xmlns:a="http://schemas.openxmlformats.org/drawingml/2006/main">
            <a:srgbClr val="DDF3FF"/>
          </a:solidFill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796D5B9-066A-4407-A86A-7AEE3E4F88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2914650"/>
            <a:ext cx="800100" cy="476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700">
                <a:solidFill>
                  <a:srgbClr val="3D8DFF"/>
                </a:solidFill>
                <a:latin typeface="Malgun Gothic"/>
                <a:ea typeface="Malgun Gothic"/>
                <a:cs typeface="Malgun Gothic"/>
              </a:defRPr>
            </a:pPr>
            <a:r>
              <a:t>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9AC0F53-882B-471E-8FE6-58F9DE56EF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277177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  <a:solidFill xmlns:a="http://schemas.openxmlformats.org/drawingml/2006/main">
            <a:srgbClr val="FFF4D6"/>
          </a:solidFill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ADCDC30-06F7-4E6B-9432-EB3E08B020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2914650"/>
            <a:ext cx="800100" cy="476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700">
                <a:solidFill>
                  <a:srgbClr val="8A5A00"/>
                </a:solidFill>
                <a:latin typeface="Malgun Gothic"/>
                <a:ea typeface="Malgun Gothic"/>
                <a:cs typeface="Malgun Gothic"/>
              </a:defRPr>
            </a:pPr>
            <a:r>
              <a:t>3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F8ACE41-28AA-49B1-AD35-F128E2C92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277177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  <a:solidFill xmlns:a="http://schemas.openxmlformats.org/drawingml/2006/main">
            <a:srgbClr val="FCE8E6"/>
          </a:solidFill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63992AC-E2ED-4201-8D57-FC39373396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2914650"/>
            <a:ext cx="800100" cy="476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700">
                <a:solidFill>
                  <a:srgbClr val="A52714"/>
                </a:solidFill>
                <a:latin typeface="Malgun Gothic"/>
                <a:ea typeface="Malgun Gothic"/>
                <a:cs typeface="Malgun Gothic"/>
              </a:defRPr>
            </a:pPr>
            <a:r>
              <a:t>4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BEEA6C8-4F82-4990-8F97-E985BBF837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886200"/>
            <a:ext cx="1619250" cy="333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>
                <a:solidFill>
                  <a:srgbClr val="111111"/>
                </a:solidFill>
                <a:latin typeface="Malgun Gothic"/>
                <a:ea typeface="Malgun Gothic"/>
                <a:cs typeface="Malgun Gothic"/>
              </a:defRPr>
            </a:pPr>
            <a:r>
              <a:t>CE 실행 환경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7F4CB69-C727-4F50-ACAF-DCF10D09DA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324350"/>
            <a:ext cx="161925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>
                <a:solidFill>
                  <a:srgbClr val="111111"/>
                </a:solidFill>
                <a:latin typeface="Malgun Gothic"/>
                <a:ea typeface="Malgun Gothic"/>
                <a:cs typeface="Malgun Gothic"/>
              </a:defRPr>
            </a:pPr>
            <a:r>
              <a:t>Builder · Webhook
Queue · Worker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77BB84A-CE40-4B87-B6BD-CF6BED6161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3886200"/>
            <a:ext cx="1619250" cy="333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>
                <a:solidFill>
                  <a:srgbClr val="111111"/>
                </a:solidFill>
                <a:latin typeface="Malgun Gothic"/>
                <a:ea typeface="Malgun Gothic"/>
                <a:cs typeface="Malgun Gothic"/>
              </a:defRPr>
            </a:pPr>
            <a:r>
              <a:t>TechFlow Core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B34D941-FB4D-431A-B759-3777E25F9F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4324350"/>
            <a:ext cx="161925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>
                <a:solidFill>
                  <a:srgbClr val="111111"/>
                </a:solidFill>
                <a:latin typeface="Malgun Gothic"/>
                <a:ea typeface="Malgun Gothic"/>
                <a:cs typeface="Malgun Gothic"/>
              </a:defRPr>
            </a:pPr>
            <a:r>
              <a:t>정책 · 승인 · 감사
제품 API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7C49A0F-4A98-4689-808E-E169CC4010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3886200"/>
            <a:ext cx="1619250" cy="333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>
                <a:solidFill>
                  <a:srgbClr val="111111"/>
                </a:solidFill>
                <a:latin typeface="Malgun Gothic"/>
                <a:ea typeface="Malgun Gothic"/>
                <a:cs typeface="Malgun Gothic"/>
              </a:defRPr>
            </a:pPr>
            <a:r>
              <a:t>제품 UI·통합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748E3CC-DE56-424F-ABE0-8CFD039340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4324350"/>
            <a:ext cx="161925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>
                <a:solidFill>
                  <a:srgbClr val="111111"/>
                </a:solidFill>
                <a:latin typeface="Malgun Gothic"/>
                <a:ea typeface="Malgun Gothic"/>
                <a:cs typeface="Malgun Gothic"/>
              </a:defRPr>
            </a:pPr>
            <a:r>
              <a:t>Portal · Builder
IAM · Secret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01BDBAE-D211-487C-9FB5-868A89ED17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5450" y="3886200"/>
            <a:ext cx="1619250" cy="333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>
                <a:solidFill>
                  <a:srgbClr val="111111"/>
                </a:solidFill>
                <a:latin typeface="Malgun Gothic"/>
                <a:ea typeface="Malgun Gothic"/>
                <a:cs typeface="Malgun Gothic"/>
              </a:defRPr>
            </a:pPr>
            <a:r>
              <a:t>운영 고도화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E9297C2-4ABB-491B-A666-17E188192C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5450" y="4324350"/>
            <a:ext cx="161925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98180"/>
          </a:bodyPr>
          <a:lstStyle xmlns:a="http://schemas.openxmlformats.org/drawingml/2006/main"/>
          <a:p xmlns:a="http://schemas.openxmlformats.org/drawingml/2006/main">
            <a:pPr algn="ctr">
              <a:defRPr sz="1350">
                <a:solidFill>
                  <a:srgbClr val="111111"/>
                </a:solidFill>
                <a:latin typeface="Malgun Gothic"/>
                <a:ea typeface="Malgun Gothic"/>
                <a:cs typeface="Malgun Gothic"/>
              </a:defRPr>
            </a:pPr>
            <a:r>
              <a:t>GitOps · Worker 격리
Analytics · AIOps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0F18BB9-616B-4AD5-9A2B-2E0630BEF6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429250"/>
            <a:ext cx="11391900" cy="600075"/>
          </a:xfrm>
          <a:prstGeom xmlns:a="http://schemas.openxmlformats.org/drawingml/2006/main" prst="roundRect">
            <a:avLst>
              <a:gd name="adj" fmla="val 12698"/>
            </a:avLst>
          </a:prstGeom>
          <a:solidFill xmlns:a="http://schemas.openxmlformats.org/drawingml/2006/main">
            <a:srgbClr val="DDF3FF"/>
          </a:solidFill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FC59DDF-1419-471F-8C30-A314E89C5C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10225"/>
            <a:ext cx="10820400" cy="2762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>
                <a:solidFill>
                  <a:srgbClr val="111111"/>
                </a:solidFill>
                <a:latin typeface="Malgun Gothic"/>
                <a:ea typeface="Malgun Gothic"/>
                <a:cs typeface="Malgun Gothic"/>
              </a:defRPr>
            </a:pPr>
            <a:r>
              <a:t>즉시 실행: Activepieces CE 테스트 환경 구축 · 필요한 상위 기능은 제품 요구사항과 우선순위에 따라 자체 구현</a:t>
            </a:r>
          </a:p>
        </p:txBody>
      </p:sp>
    </p:spTree>
    <p:extLst>
      <p:ext uri="{BB962C8B-B14F-4D97-AF65-F5344CB8AC3E}">
        <p14:creationId xmlns:p14="http://schemas.microsoft.com/office/powerpoint/2010/main" val="1071293343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3A2A986-4257-4BD0-9F33-8D5ACFFDB9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00050"/>
            <a:ext cx="762000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>
                <a:solidFill>
                  <a:srgbClr val="111111"/>
                </a:solidFill>
                <a:latin typeface="Malgun Gothic"/>
                <a:ea typeface="Malgun Gothic"/>
                <a:cs typeface="Malgun Gothic"/>
              </a:defRPr>
            </a:pPr>
            <a:r>
              <a:t>최종 권고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5163DBB-8F7E-4C46-B6B7-25A5D5F98C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562100"/>
            <a:ext cx="10858500" cy="1676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425">
                <a:solidFill>
                  <a:srgbClr val="111111"/>
                </a:solidFill>
                <a:latin typeface="Malgun Gothic"/>
                <a:ea typeface="Malgun Gothic"/>
                <a:cs typeface="Malgun Gothic"/>
              </a:defRPr>
            </a:pPr>
            <a:r>
              <a:t>Community를 기반으로 구현하고,
필요한 상위 기능은 TechFlow에서 만든다.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976C677-4100-47D9-8FC8-D33A43D406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762375"/>
            <a:ext cx="11391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DDF3FF"/>
          </a:solidFill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DBBE370-8BD6-41D5-B1AB-6ED4E8E69E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38600"/>
            <a:ext cx="16192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>
                <a:solidFill>
                  <a:srgbClr val="3D8DFF"/>
                </a:solidFill>
                <a:latin typeface="Malgun Gothic"/>
                <a:ea typeface="Malgun Gothic"/>
                <a:cs typeface="Malgun Gothic"/>
              </a:defRPr>
            </a:pPr>
            <a:r>
              <a:t>승인 요청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FA9894D-13FA-447B-9FDD-23632E1D69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48175"/>
            <a:ext cx="10725150" cy="2952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>
                <a:solidFill>
                  <a:srgbClr val="111111"/>
                </a:solidFill>
                <a:latin typeface="Malgun Gothic"/>
                <a:ea typeface="Malgun Gothic"/>
                <a:cs typeface="Malgun Gothic"/>
              </a:defRPr>
            </a:pPr>
            <a:r>
              <a:t>자체 구현 범위 제한 없음 · 고객 공개·판매·배포 결정은 제품 책임자에게 분리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CF000B4-AE2D-4E6C-93AC-F998C28814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743575"/>
            <a:ext cx="113919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1011F15-05A5-4CFC-B018-A813A365C8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981700"/>
            <a:ext cx="47625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>
                <a:solidFill>
                  <a:srgbClr val="858585"/>
                </a:solidFill>
                <a:latin typeface="Malgun Gothic"/>
                <a:ea typeface="Malgun Gothic"/>
                <a:cs typeface="Malgun Gothic"/>
              </a:defRPr>
            </a:pPr>
            <a:r>
              <a:t>ABLESTACK TechFlow · Issue #11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EC2E9F4-EEC3-4CD4-A1FE-A2B3BF3EBB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96375" y="5981700"/>
            <a:ext cx="2695575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200">
                <a:solidFill>
                  <a:srgbClr val="858585"/>
                </a:solidFill>
                <a:latin typeface="Malgun Gothic"/>
                <a:ea typeface="Malgun Gothic"/>
                <a:cs typeface="Malgun Gothic"/>
              </a:defRPr>
            </a:pPr>
            <a:r>
              <a:t>0.86.3 · 2026-07-30</a:t>
            </a:r>
          </a:p>
        </p:txBody>
      </p:sp>
    </p:spTree>
    <p:extLst>
      <p:ext uri="{BB962C8B-B14F-4D97-AF65-F5344CB8AC3E}">
        <p14:creationId xmlns:p14="http://schemas.microsoft.com/office/powerpoint/2010/main" val="1763466800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2026-07-30T07:06:47.5490000Z</dcterms:created>
  <dcterms:modified xsi:type="dcterms:W3CDTF">2026-07-30T07:06:47.5490000Z</dcterms:modified>
</coreProperties>
</file>