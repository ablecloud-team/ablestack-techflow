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72a4decfbd4636" /><Relationship Type="http://schemas.openxmlformats.org/officeDocument/2006/relationships/extended-properties" Target="/docProps/app.xml" Id="R778f037da6db4c25" /><Relationship Type="http://schemas.openxmlformats.org/officeDocument/2006/relationships/officeDocument" Target="/ppt/presentation.xml" Id="R7385c37898fa42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94152568374c29"/>
  </p:sldMasterIdLst>
  <p:notesMasterIdLst>
    <p:notesMasterId xmlns:r="http://schemas.openxmlformats.org/officeDocument/2006/relationships" r:id="Rc93ae9929e7645e3"/>
  </p:notesMasterIdLst>
  <p:sldIdLst>
    <p:sldId xmlns:r="http://schemas.openxmlformats.org/officeDocument/2006/relationships" id="256" r:id="Re694a40dae6542c2"/>
    <p:sldId xmlns:r="http://schemas.openxmlformats.org/officeDocument/2006/relationships" id="257" r:id="R4ede8be361194de3"/>
    <p:sldId xmlns:r="http://schemas.openxmlformats.org/officeDocument/2006/relationships" id="258" r:id="Rd887829023e94876"/>
    <p:sldId xmlns:r="http://schemas.openxmlformats.org/officeDocument/2006/relationships" id="259" r:id="R1599b56e02e2457f"/>
    <p:sldId xmlns:r="http://schemas.openxmlformats.org/officeDocument/2006/relationships" id="260" r:id="Rcd0d351e44354e7c"/>
    <p:sldId xmlns:r="http://schemas.openxmlformats.org/officeDocument/2006/relationships" id="261" r:id="R218107849a754045"/>
    <p:sldId xmlns:r="http://schemas.openxmlformats.org/officeDocument/2006/relationships" id="262" r:id="Rff7757446532456f"/>
    <p:sldId xmlns:r="http://schemas.openxmlformats.org/officeDocument/2006/relationships" id="263" r:id="R9866e6176f474fd5"/>
    <p:sldId xmlns:r="http://schemas.openxmlformats.org/officeDocument/2006/relationships" id="264" r:id="R6833cffee5b245fc"/>
    <p:sldId xmlns:r="http://schemas.openxmlformats.org/officeDocument/2006/relationships" id="265" r:id="Rd70efbdd1cb040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e7d3240dc94eb8" /><Relationship Type="http://schemas.openxmlformats.org/officeDocument/2006/relationships/slideMaster" Target="/ppt/slideMasters/slideMaster1.xml" Id="R2c94152568374c29" /><Relationship Type="http://schemas.openxmlformats.org/officeDocument/2006/relationships/notesMaster" Target="/ppt/notesMasters/notesMaster1.xml" Id="Rc93ae9929e7645e3" /><Relationship Type="http://schemas.openxmlformats.org/officeDocument/2006/relationships/presProps" Target="/ppt/presProps.xml" Id="R41e87ba55c414bbb" /><Relationship Type="http://schemas.openxmlformats.org/officeDocument/2006/relationships/tableStyles" Target="/ppt/tableStyles.xml" Id="R0aba659f3fa14d3b" /><Relationship Type="http://schemas.openxmlformats.org/officeDocument/2006/relationships/slide" Target="/ppt/slides/slide1.xml" Id="Re694a40dae6542c2" /><Relationship Type="http://schemas.openxmlformats.org/officeDocument/2006/relationships/slide" Target="/ppt/slides/slide2.xml" Id="R4ede8be361194de3" /><Relationship Type="http://schemas.openxmlformats.org/officeDocument/2006/relationships/slide" Target="/ppt/slides/slide3.xml" Id="Rd887829023e94876" /><Relationship Type="http://schemas.openxmlformats.org/officeDocument/2006/relationships/slide" Target="/ppt/slides/slide4.xml" Id="R1599b56e02e2457f" /><Relationship Type="http://schemas.openxmlformats.org/officeDocument/2006/relationships/slide" Target="/ppt/slides/slide5.xml" Id="Rcd0d351e44354e7c" /><Relationship Type="http://schemas.openxmlformats.org/officeDocument/2006/relationships/slide" Target="/ppt/slides/slide6.xml" Id="R218107849a754045" /><Relationship Type="http://schemas.openxmlformats.org/officeDocument/2006/relationships/slide" Target="/ppt/slides/slide7.xml" Id="Rff7757446532456f" /><Relationship Type="http://schemas.openxmlformats.org/officeDocument/2006/relationships/slide" Target="/ppt/slides/slide8.xml" Id="R9866e6176f474fd5" /><Relationship Type="http://schemas.openxmlformats.org/officeDocument/2006/relationships/slide" Target="/ppt/slides/slide9.xml" Id="R6833cffee5b245fc" /><Relationship Type="http://schemas.openxmlformats.org/officeDocument/2006/relationships/slide" Target="/ppt/slides/slide10.xml" Id="Rd70efbdd1cb040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948ffb795043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e2539ac7304dc4" /><Relationship Type="http://schemas.openxmlformats.org/officeDocument/2006/relationships/notesMaster" Target="/ppt/notesMasters/notesMaster1.xml" Id="R8a3f8eba439343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17dfd13b6c4ef5" /><Relationship Type="http://schemas.openxmlformats.org/officeDocument/2006/relationships/notesMaster" Target="/ppt/notesMasters/notesMaster1.xml" Id="Re89a6a787d5d4b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8bf1d4b8f6428d" /><Relationship Type="http://schemas.openxmlformats.org/officeDocument/2006/relationships/notesMaster" Target="/ppt/notesMasters/notesMaster1.xml" Id="R865da2cd9b5c41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06ad53a25e46cd" /><Relationship Type="http://schemas.openxmlformats.org/officeDocument/2006/relationships/notesMaster" Target="/ppt/notesMasters/notesMaster1.xml" Id="R8145e14f323041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55b1542b554269" /><Relationship Type="http://schemas.openxmlformats.org/officeDocument/2006/relationships/notesMaster" Target="/ppt/notesMasters/notesMaster1.xml" Id="R4df93e92f87f47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129eb7f5f04c35" /><Relationship Type="http://schemas.openxmlformats.org/officeDocument/2006/relationships/notesMaster" Target="/ppt/notesMasters/notesMaster1.xml" Id="R3cb2e637f15b48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0c361044e54a31" /><Relationship Type="http://schemas.openxmlformats.org/officeDocument/2006/relationships/notesMaster" Target="/ppt/notesMasters/notesMaster1.xml" Id="R6a258e3393fa41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7b38ec9d534baf" /><Relationship Type="http://schemas.openxmlformats.org/officeDocument/2006/relationships/notesMaster" Target="/ppt/notesMasters/notesMaster1.xml" Id="R44467aaebac242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baf9997382443f" /><Relationship Type="http://schemas.openxmlformats.org/officeDocument/2006/relationships/notesMaster" Target="/ppt/notesMasters/notesMaster1.xml" Id="R58e7249964e94e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a6c32e09f1413d" /><Relationship Type="http://schemas.openxmlformats.org/officeDocument/2006/relationships/notesMaster" Target="/ppt/notesMasters/notesMaster1.xml" Id="Re5de8999e6d54b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#20 RAG PoC 상세 설계 발표자료 1쪽입니다.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docs/adr/0008-techflow-rag-poc-architecture.md</a:t>
            </a:r>
          </a:p>
          <a:p xmlns:a="http://schemas.openxmlformats.org/drawingml/2006/main">
            <a:r>
              <a:t>- docs/plans/issue-20-rag-poc-design.md</a:t>
            </a:r>
          </a:p>
          <a:p xmlns:a="http://schemas.openxmlformats.org/drawingml/2006/main">
            <a:r>
              <a:t>- docs/decisions/techflow-rag-poc-contract.json</a:t>
            </a:r>
          </a:p>
          <a:p xmlns:a="http://schemas.openxmlformats.org/drawingml/2006/main">
            <a:r>
              <a:t>- docs/reports/issue-20-rag-poc-design-review.md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https://docs.github.com/en/rest/repos/contents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#20 RAG PoC 상세 설계 발표자료 2쪽입니다.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docs/adr/0008-techflow-rag-poc-architecture.md</a:t>
            </a:r>
          </a:p>
          <a:p xmlns:a="http://schemas.openxmlformats.org/drawingml/2006/main">
            <a:r>
              <a:t>- docs/plans/issue-20-rag-poc-design.md</a:t>
            </a:r>
          </a:p>
          <a:p xmlns:a="http://schemas.openxmlformats.org/drawingml/2006/main">
            <a:r>
              <a:t>- docs/decisions/techflow-rag-poc-contract.json</a:t>
            </a:r>
          </a:p>
          <a:p xmlns:a="http://schemas.openxmlformats.org/drawingml/2006/main">
            <a:r>
              <a:t>- docs/reports/issue-20-rag-poc-design-review.md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https://docs.github.com/en/rest/repos/contents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#20 RAG PoC 상세 설계 발표자료 3쪽입니다.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docs/adr/0008-techflow-rag-poc-architecture.md</a:t>
            </a:r>
          </a:p>
          <a:p xmlns:a="http://schemas.openxmlformats.org/drawingml/2006/main">
            <a:r>
              <a:t>- docs/plans/issue-20-rag-poc-design.md</a:t>
            </a:r>
          </a:p>
          <a:p xmlns:a="http://schemas.openxmlformats.org/drawingml/2006/main">
            <a:r>
              <a:t>- docs/decisions/techflow-rag-poc-contract.json</a:t>
            </a:r>
          </a:p>
          <a:p xmlns:a="http://schemas.openxmlformats.org/drawingml/2006/main">
            <a:r>
              <a:t>- docs/reports/issue-20-rag-poc-design-review.md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https://docs.github.com/en/rest/repos/contents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#20 RAG PoC 상세 설계 발표자료 4쪽입니다.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docs/adr/0008-techflow-rag-poc-architecture.md</a:t>
            </a:r>
          </a:p>
          <a:p xmlns:a="http://schemas.openxmlformats.org/drawingml/2006/main">
            <a:r>
              <a:t>- docs/plans/issue-20-rag-poc-design.md</a:t>
            </a:r>
          </a:p>
          <a:p xmlns:a="http://schemas.openxmlformats.org/drawingml/2006/main">
            <a:r>
              <a:t>- docs/decisions/techflow-rag-poc-contract.json</a:t>
            </a:r>
          </a:p>
          <a:p xmlns:a="http://schemas.openxmlformats.org/drawingml/2006/main">
            <a:r>
              <a:t>- docs/reports/issue-20-rag-poc-design-review.md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https://docs.github.com/en/rest/repos/contents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#20 RAG PoC 상세 설계 발표자료 5쪽입니다.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docs/adr/0008-techflow-rag-poc-architecture.md</a:t>
            </a:r>
          </a:p>
          <a:p xmlns:a="http://schemas.openxmlformats.org/drawingml/2006/main">
            <a:r>
              <a:t>- docs/plans/issue-20-rag-poc-design.md</a:t>
            </a:r>
          </a:p>
          <a:p xmlns:a="http://schemas.openxmlformats.org/drawingml/2006/main">
            <a:r>
              <a:t>- docs/decisions/techflow-rag-poc-contract.json</a:t>
            </a:r>
          </a:p>
          <a:p xmlns:a="http://schemas.openxmlformats.org/drawingml/2006/main">
            <a:r>
              <a:t>- docs/reports/issue-20-rag-poc-design-review.md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https://docs.github.com/en/rest/repos/contents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#20 RAG PoC 상세 설계 발표자료 6쪽입니다.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docs/adr/0008-techflow-rag-poc-architecture.md</a:t>
            </a:r>
          </a:p>
          <a:p xmlns:a="http://schemas.openxmlformats.org/drawingml/2006/main">
            <a:r>
              <a:t>- docs/plans/issue-20-rag-poc-design.md</a:t>
            </a:r>
          </a:p>
          <a:p xmlns:a="http://schemas.openxmlformats.org/drawingml/2006/main">
            <a:r>
              <a:t>- docs/decisions/techflow-rag-poc-contract.json</a:t>
            </a:r>
          </a:p>
          <a:p xmlns:a="http://schemas.openxmlformats.org/drawingml/2006/main">
            <a:r>
              <a:t>- docs/reports/issue-20-rag-poc-design-review.md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https://docs.github.com/en/rest/repos/contents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#20 RAG PoC 상세 설계 발표자료 7쪽입니다.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docs/adr/0008-techflow-rag-poc-architecture.md</a:t>
            </a:r>
          </a:p>
          <a:p xmlns:a="http://schemas.openxmlformats.org/drawingml/2006/main">
            <a:r>
              <a:t>- docs/plans/issue-20-rag-poc-design.md</a:t>
            </a:r>
          </a:p>
          <a:p xmlns:a="http://schemas.openxmlformats.org/drawingml/2006/main">
            <a:r>
              <a:t>- docs/decisions/techflow-rag-poc-contract.json</a:t>
            </a:r>
          </a:p>
          <a:p xmlns:a="http://schemas.openxmlformats.org/drawingml/2006/main">
            <a:r>
              <a:t>- docs/reports/issue-20-rag-poc-design-review.md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https://docs.github.com/en/rest/repos/contents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#20 RAG PoC 상세 설계 발표자료 8쪽입니다.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docs/adr/0008-techflow-rag-poc-architecture.md</a:t>
            </a:r>
          </a:p>
          <a:p xmlns:a="http://schemas.openxmlformats.org/drawingml/2006/main">
            <a:r>
              <a:t>- docs/plans/issue-20-rag-poc-design.md</a:t>
            </a:r>
          </a:p>
          <a:p xmlns:a="http://schemas.openxmlformats.org/drawingml/2006/main">
            <a:r>
              <a:t>- docs/decisions/techflow-rag-poc-contract.json</a:t>
            </a:r>
          </a:p>
          <a:p xmlns:a="http://schemas.openxmlformats.org/drawingml/2006/main">
            <a:r>
              <a:t>- docs/reports/issue-20-rag-poc-design-review.md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https://docs.github.com/en/rest/repos/contents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#20 RAG PoC 상세 설계 발표자료 9쪽입니다.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docs/adr/0008-techflow-rag-poc-architecture.md</a:t>
            </a:r>
          </a:p>
          <a:p xmlns:a="http://schemas.openxmlformats.org/drawingml/2006/main">
            <a:r>
              <a:t>- docs/plans/issue-20-rag-poc-design.md</a:t>
            </a:r>
          </a:p>
          <a:p xmlns:a="http://schemas.openxmlformats.org/drawingml/2006/main">
            <a:r>
              <a:t>- docs/decisions/techflow-rag-poc-contract.json</a:t>
            </a:r>
          </a:p>
          <a:p xmlns:a="http://schemas.openxmlformats.org/drawingml/2006/main">
            <a:r>
              <a:t>- docs/reports/issue-20-rag-poc-design-review.md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https://docs.github.com/en/rest/repos/contents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#20 RAG PoC 상세 설계 발표자료 10쪽입니다.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docs/adr/0008-techflow-rag-poc-architecture.md</a:t>
            </a:r>
          </a:p>
          <a:p xmlns:a="http://schemas.openxmlformats.org/drawingml/2006/main">
            <a:r>
              <a:t>- docs/plans/issue-20-rag-poc-design.md</a:t>
            </a:r>
          </a:p>
          <a:p xmlns:a="http://schemas.openxmlformats.org/drawingml/2006/main">
            <a:r>
              <a:t>- docs/decisions/techflow-rag-poc-contract.json</a:t>
            </a:r>
          </a:p>
          <a:p xmlns:a="http://schemas.openxmlformats.org/drawingml/2006/main">
            <a:r>
              <a:t>- docs/reports/issue-20-rag-poc-design-review.md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https://docs.github.com/en/rest/repos/contents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dafb3b91348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862b619c0d4893" /><Relationship Type="http://schemas.openxmlformats.org/officeDocument/2006/relationships/slideLayout" Target="/ppt/slideLayouts/slideLayout1.xml" Id="R0a004b0feb8f41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004b0feb8f41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29cf67ba84ddf" /><Relationship Type="http://schemas.openxmlformats.org/officeDocument/2006/relationships/notesSlide" Target="/ppt/notesSlides/notesSlide1.xml" Id="Rc3092e6a305d47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61b7957d7415e" /><Relationship Type="http://schemas.openxmlformats.org/officeDocument/2006/relationships/notesSlide" Target="/ppt/notesSlides/notesSlide2.xml" Id="R254aa7b38ccd48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16ac802ec4442" /><Relationship Type="http://schemas.openxmlformats.org/officeDocument/2006/relationships/notesSlide" Target="/ppt/notesSlides/notesSlide3.xml" Id="Ra499b6d7e5794e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e7c7ae47a4812" /><Relationship Type="http://schemas.openxmlformats.org/officeDocument/2006/relationships/notesSlide" Target="/ppt/notesSlides/notesSlide4.xml" Id="Rce1f7a77aa6a4e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6f7330b554bd6" /><Relationship Type="http://schemas.openxmlformats.org/officeDocument/2006/relationships/notesSlide" Target="/ppt/notesSlides/notesSlide5.xml" Id="R4e533bfae55a43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53041ad9d471c" /><Relationship Type="http://schemas.openxmlformats.org/officeDocument/2006/relationships/notesSlide" Target="/ppt/notesSlides/notesSlide6.xml" Id="R38b18f1fba3047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20a189393417a" /><Relationship Type="http://schemas.openxmlformats.org/officeDocument/2006/relationships/notesSlide" Target="/ppt/notesSlides/notesSlide7.xml" Id="R5bfb256615904f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aa1bf4ac0437d" /><Relationship Type="http://schemas.openxmlformats.org/officeDocument/2006/relationships/notesSlide" Target="/ppt/notesSlides/notesSlide8.xml" Id="Rae40cdeea5f448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e4643632c4425" /><Relationship Type="http://schemas.openxmlformats.org/officeDocument/2006/relationships/notesSlide" Target="/ppt/notesSlides/notesSlide9.xml" Id="Rb89adf7e30ec42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46983ffe54e8e" /><Relationship Type="http://schemas.openxmlformats.org/officeDocument/2006/relationships/notesSlide" Target="/ppt/notesSlides/notesSlide10.xml" Id="Ra522577320e24b3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EE9FD-B18E-4ED0-B668-360621E5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ISSUE #20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944CD-7DA2-491C-A6BF-B83C8FF9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906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D0 공개 문서 RAG PoC</a:t>
            </a:r>
          </a:p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상세 설계와 작업 분해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BFD25-2D6B-457D-B7B8-680BFD6C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819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Source 승인 → Hybrid Retrieval → 근거 답변 → 삭제 검증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C5CC3-4548-4957-A10A-8A1E025F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CBF99-3C39-44A2-9B41-95CE9174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TechFlow · Activepieces CE · 2026-08-03</a:t>
            </a:r>
          </a:p>
        </p:txBody>
      </p:sp>
    </p:spTree>
    <p:extLst>
      <p:ext uri="{BB962C8B-B14F-4D97-AF65-F5344CB8AC3E}">
        <p14:creationId xmlns:p14="http://schemas.microsoft.com/office/powerpoint/2010/main" val="6543076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26C80-8258-4D6A-82CF-63E00669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842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결과: 구현 가능한 RAG 경계와 여섯 개 작업 단위를 확정했습니다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CBBAD-755E-4BED-88B4-8D1C8638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6698B-69EF-4F89-8B93-5BD14942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144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공개 ABLESTACK 문서만 수집하고 근거 없는 답변과 직접 실행을 차단합니다.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58E16-608A-48ED-AA88-BFED3412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4483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A4724-CF48-4AB9-8D24-F541919E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857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초기 지식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05CF1-33BC-448D-A972-4B67554B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276 Markdown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 Public Repo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D0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BB472-D9B1-44A3-90D9-9B270D9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5543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17DCE-2760-41ED-BF57-EED6E714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47925"/>
            <a:ext cx="4953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제품 계약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2CAA6-CDCD-4107-8E72-AA26C6A3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62275"/>
            <a:ext cx="4857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10 APIs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10 Tables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3 Answer States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6B94D-D42E-45E0-B300-E7C9F40A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11391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A8170-C91A-4450-9DEF-D6D05BC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작업 분해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8A07A-45E4-4C8B-A23B-70FF6612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725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6 Issues  |  #41 → #46  |  Design Approval Pending</a:t>
            </a:r>
          </a:p>
        </p:txBody>
      </p:sp>
    </p:spTree>
    <p:extLst>
      <p:ext uri="{BB962C8B-B14F-4D97-AF65-F5344CB8AC3E}">
        <p14:creationId xmlns:p14="http://schemas.microsoft.com/office/powerpoint/2010/main" val="1232201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BC855-FE48-4C34-8587-52A8E0F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실행·정책·저장을 세 계층으로 분리했습니다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664BC-95C4-4AB7-BBCC-AD1E3DFA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602DC-081D-40AE-B4AC-58723F83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Activepieces는 오케스트레이션하고 AI Gateway가 RAG 정책과 상태를 소유합니다.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1D7C6-C014-4F27-954B-3996BF5C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7A265-89AE-490A-B266-99E6C75E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E9AD0-110D-416A-85B0-D4433B64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A83EF-7A21-4345-86D8-C27B2C0A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Change Detection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Approval Flow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Evaluation Schedule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26769-5142-496B-8B93-996B1968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FA64C-AEC6-4716-8638-407E6760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12F2A-6379-4C2C-9C66-3A746CE6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AI Gateway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C59BF-A641-421B-BA00-818D3CC6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Source Registry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Retrieval · Answer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Deletion 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CF8CC-A0D1-497B-B167-65A37778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7852E-5627-43FE-9C74-E70CFC82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E73ED-3AB1-4358-94F8-0B27A955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C6B0D-C121-4580-9D53-3FD2BAC5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Dedicated DB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FTS + pgvector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Lineage Ledger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2DCD6-27F9-488B-9D11-2F581B7E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876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제품 Gate  |  Flow 실행 성공 ≠ RAG 품질 성공</a:t>
            </a:r>
          </a:p>
        </p:txBody>
      </p:sp>
    </p:spTree>
    <p:extLst>
      <p:ext uri="{BB962C8B-B14F-4D97-AF65-F5344CB8AC3E}">
        <p14:creationId xmlns:p14="http://schemas.microsoft.com/office/powerpoint/2010/main" val="63913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BA5AF-24B4-4EE4-8654-5B8C2D7B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Source·검색·답변·삭제 계약을 기계 검증 가능하게 고정했습니다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4AA26-8423-42C4-BC3C-16269DD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13D8B-234D-4223-A8D6-C9186B48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144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D0만 허용하고 ANSWERED에는 Commit·Path·Chunk 근거를 필수로 포함합니다.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401425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095500"/>
                <a:gridCol w="2095500"/>
                <a:gridCol w="4162425"/>
              </a:tblGrid>
              <a:tr h="449792">
                <a:tc>
                  <a:txBody>
                    <a:bodyPr/>
                    <a:lstStyle/>
                    <a:p>
                      <a:r>
                        <a:t>계약 영역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결정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초기값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 Gate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공개 공식 문서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276 Markdown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D0 승인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Chunk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토큰 기반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700 / overlap 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Lineage 보존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Lexical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PostgreSQL FTS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candidate 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제품 필터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Vector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exact cosine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candidate 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dimension 일치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Fusion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RRF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k=60 / top 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source당 최대 3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Answer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근거 필수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 states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Citation 검증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Deletion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즉시 검색 제외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SLO ≤ 7d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Lineage 0건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Agency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직접 실행 금지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Tool 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정책 테스트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64AA2-FF16-42A9-BD86-FD450E49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628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초기 HNSW는 사용하지 않고 exact cosine과 PostgreSQL FTS를 RRF로 결합합니다.</a:t>
            </a:r>
          </a:p>
        </p:txBody>
      </p:sp>
    </p:spTree>
    <p:extLst>
      <p:ext uri="{BB962C8B-B14F-4D97-AF65-F5344CB8AC3E}">
        <p14:creationId xmlns:p14="http://schemas.microsoft.com/office/powerpoint/2010/main" val="2112501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5721FF-CBD3-4FB9-8A80-F18837A1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지식은 등록부터 삭제까지 여섯 Gate를 통과합니다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B0C49-F38A-4701-B999-C71EC515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5118E-F8F7-4005-ACD4-7B9BFB3E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각 단계는 Source Version·Hash·상태와 증적을 남깁니다.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D74B3-6D4E-4D93-9054-CD4BB628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6E615-FC1C-45CF-BBA7-53C895FC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E9480-24BD-4E6D-A42C-144C2CBB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Register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8A11F-4691-4309-8866-E7D42C0A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Source 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D9D53-B09F-49A8-BEA8-FF308564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D0 Allowlist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22FF2-130D-41DF-92AE-CFBB8D54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60C40-1268-4A79-B569-92A671F6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C27C5-52E4-469A-9214-4722D8F3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Quarantine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00EE8-077A-416E-A45A-57170A7B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AI Gateway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02B2C-B9D7-43A7-962A-089E5B55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Secret · PII Scan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FD58A-4EBC-4882-BF43-63AA0381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8087B-0CDF-41D7-A2A8-81BA2DC2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807BD-D4CE-480C-88C9-E8DC6C70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Approve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996CB-AF8C-4ED5-8D4B-D500B902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Reviewer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5FBCB-7087-44F0-90DA-7B8096E9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Version + Hash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26FF0-631A-4632-9B98-9EF52ACF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9721A-2506-49B0-9ECF-7FFAC4AF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71A61-A324-4E03-B4E6-3E65FE98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Index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263D7-2E15-4E36-9D67-3BBB3E1F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Worker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3BD74-3239-4178-BE7E-65C3FC3E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Chunk + Embed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0B9494-4048-41F4-BD88-733168E3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50F23-693D-49D4-AC62-07D2BE0A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BEED3-5EB1-4A82-89ED-46F266C8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Answer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73802-9A68-40D9-AC88-9DF3EBA2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AI Gateway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84701E-DDC2-4FA9-88BE-B4F02663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Citation Required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E5CE8-458E-43EF-9496-8BBEFA15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CF8EB-742B-4543-9133-C7A746A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1245E4-F803-4DEF-9F07-509E1184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Delete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C30563-09C0-48AA-8B63-2A539C37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Lineage Job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9512A-0BA0-4AD7-80F1-0C115547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Exclude Now · ≤ 7d</a:t>
            </a:r>
          </a:p>
        </p:txBody>
      </p:sp>
    </p:spTree>
    <p:extLst>
      <p:ext uri="{BB962C8B-B14F-4D97-AF65-F5344CB8AC3E}">
        <p14:creationId xmlns:p14="http://schemas.microsoft.com/office/powerpoint/2010/main" val="13665578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D67D5-DF5D-4C54-A9DB-DB36EC76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질문부터 답변까지 신뢰 경계를 명시했습니다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6BC46-26B6-46EB-900E-B07A8578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8F9CA-F2A9-4C4B-8C43-E307E88A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외부 문서는 지시가 아니라 데이터이며 AI 출력은 어떤 Tool도 직접 실행하지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12F46-6B83-4CA2-B65A-C42B676D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92168-0D3E-4A4A-81C6-50F01DEE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7AFE3-78E6-4F1B-909C-60B967DB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03CC4-EB2E-4AD5-84F6-5B0BD7C8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624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8513D-1A21-4D46-AC8A-E06DF140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009775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19D05-A8AE-41A2-BA6B-24EF7267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62225"/>
            <a:ext cx="15240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Channel /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40DCE-952F-4D36-9539-9A4CFDCC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71800"/>
            <a:ext cx="1524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Question Event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Correlation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3FE3F-964B-47BF-BAF0-BD919A1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33600"/>
            <a:ext cx="24860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32925-205D-4C6B-B9F4-C056E9FD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19716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31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TechFlow AI Gateway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C72E7-69D4-4461-BB9C-F3F73121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43225"/>
            <a:ext cx="19716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Policy · Retrieval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Answer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A758D-F54E-4582-B39B-C63D8A19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2457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3FAF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CE148-F724-41B0-B2C8-13F09CFB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62225"/>
            <a:ext cx="19431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PostgreSQL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19741-F93E-4D62-96B5-5E2622AC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Registry · FTS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Vector · Lineage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2E193-A908-4283-979F-BE84CCE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24100"/>
            <a:ext cx="1638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3DF87-4D18-4EED-8126-34A160E3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62225"/>
            <a:ext cx="1200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7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Model Provider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B645D-6E3D-4960-AD8F-0FA3ABBF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0"/>
            <a:ext cx="120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Minimal Context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No Training / Retention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C9691-B7B3-41CD-93B5-D1F19F42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2838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CBC8D-4988-4E14-91B7-D00BA37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76800"/>
            <a:ext cx="23050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D0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F2154-C9C2-4C9D-B6C4-E3C593E0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9700"/>
            <a:ext cx="2305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Citations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A97FF-BCB4-4EBE-8899-AE06B3A1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외부 경계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55353-EEE1-4B7C-AD47-E7D1FA61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제품 경계</a:t>
            </a:r>
          </a:p>
        </p:txBody>
      </p:sp>
    </p:spTree>
    <p:extLst>
      <p:ext uri="{BB962C8B-B14F-4D97-AF65-F5344CB8AC3E}">
        <p14:creationId xmlns:p14="http://schemas.microsoft.com/office/powerpoint/2010/main" val="11649119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5577D-4871-4696-B5A7-EDECB634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품질·보안·운영 Gate를 하나의 검증 단계로 묶었습니다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F56C6-093F-49C2-B564-6EE7CF04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4C9D8-F2AC-4C28-A23A-0700C123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79AE6-143F-4E8F-9710-3340A55B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6927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CFC18-BB73-49B4-A082-9AEB8AA4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Retrieval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644BA-0268-4463-9DBD-29BFC2EA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Recall@8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MRR@8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Citation Precision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61F2B-80F5-4EE2-B0BC-A308A247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D5A24-C4AA-4C57-9FB2-89D09753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7801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C7E9A-A295-46DB-9B32-3004DB3D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Policy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AB8F9-B2B3-43C0-8FE6-9F026BBC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D1–D3 Denied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Prompt Injection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No Tool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AA18A-00E2-4B4B-B8CF-B8BFC18E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58CA2-9B0F-427E-B5FD-682A6BE5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E2E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474BB-B8C7-4D6A-8BE0-B7230279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Release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B629F-7E6E-4A4D-B61F-398D9C3F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12 Contract Tests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Deletion Drill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ANSWERED / ABSTAINED / FAILED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59655-61D1-4EA3-8B81-5F40AFF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Source Docs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C028D-9995-416D-B962-6C8EA26F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245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98CF5-BCA8-43A9-A419-ECF79BF0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APIs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1A584-C93B-495C-8D4C-8B065E4C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EEB15-B349-49DC-A48D-500CC11C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Work Items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667F1-9C29-4871-9EE5-85A3BABC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</p:spPr>
      </p:sp>
    </p:spTree>
    <p:extLst>
      <p:ext uri="{BB962C8B-B14F-4D97-AF65-F5344CB8AC3E}">
        <p14:creationId xmlns:p14="http://schemas.microsoft.com/office/powerpoint/2010/main" val="5639540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D6A2B-2E40-40C0-A97B-AC9A82C1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설계·운영·검증을 하나의 제품 자산으로 묶었습니다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92829-1390-4AD6-9B9E-3C9A6EFF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D6764-3020-460E-8152-052DB952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하위 이슈는 동일 계약과 완료 기준을 공유합니다.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EA417-5A56-47F7-B679-B7F32882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5ED3E-0E61-47F3-8AFE-C9EC0E9A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33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설계 자산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275DB-FC12-4A36-908F-B17C25B3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ADR-0008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Detailed Plan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Contract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6BF9A-2C09-491B-A934-19433B4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A266B-CCD9-4ABE-B8C9-F991D9A0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운영 자산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82E5F-F3A3-4EF7-AB15-52EF6B06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Development Runbook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Deploy · Rollback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Deletion Procedure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A9AC7-F1EA-4DB1-AF56-E20935B1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C37A2-7A58-482F-BD14-70CBEF49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검증 증적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C7345-AFB0-4EC3-ACFB-CF2E643D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Contract Validator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12 Unit Tests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Report · Deck · Manifest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CD722-0D4C-414C-BE50-0C617598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9B91D-EE98-4D8B-96FF-8F140E19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Issue #20 기준  |  D0 only · Citation required · No agency · Deletion ≤ 7d</a:t>
            </a:r>
          </a:p>
        </p:txBody>
      </p:sp>
    </p:spTree>
    <p:extLst>
      <p:ext uri="{BB962C8B-B14F-4D97-AF65-F5344CB8AC3E}">
        <p14:creationId xmlns:p14="http://schemas.microsoft.com/office/powerpoint/2010/main" val="13141845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76455-FC13-451C-B4CD-A5FBD1A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#41부터 #46까지 의존 순서대로 구현합니다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E9953-46AD-4C7D-93EC-2E35741B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47D9E-796E-498A-883B-CBCF969B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각 작업은 독립 완료 기준과 다음 단계 입력을 가집니다.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5FCFD-C208-4E9F-AC87-FF599FC7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C98E5-2E0D-4E60-BC95-44841FE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76299-3531-463A-BF89-96F88C8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EEF62-8034-4A55-AE5D-21ADFBA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6D5B9-066A-4407-A86A-7AEE3E4F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C0F53-882B-471E-8FE6-58F9DE56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CDC30-06F7-4E6B-9432-EB3E08B0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ACE41-28AA-49B1-AD35-F128E2C9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992AC-E2ED-4201-8D57-FC393733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EA6C8-4F82-4990-8F97-E985BBF8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#41 Foundation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4CB69-C727-4F50-ACAF-DCF10D09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Gateway Skeleton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API + 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BB84A-CE40-4B87-B6BD-CF6BED6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#42 Intake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4D941-FB4D-431A-B759-3777E25F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Registry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Quarantine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49A0F-4A98-4689-808E-E169CC40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#43 Retrieval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8E3CC-DE56-424F-ABE0-8CFD0393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Chunk · Embed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Hybrid 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BDBAE-D211-487C-9FB5-868A89ED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#44 Answer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297C2-4ABB-491B-A666-17E18819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Citation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Provider Adapter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18BB9-616B-4AD5-9A2B-2E0630BE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59DDF-1419-471F-8C30-A314E89C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후속 = #45 Activepieces 연동 → #46 Golden Set·보안·E2E 검증</a:t>
            </a:r>
          </a:p>
        </p:txBody>
      </p:sp>
    </p:spTree>
    <p:extLst>
      <p:ext uri="{BB962C8B-B14F-4D97-AF65-F5344CB8AC3E}">
        <p14:creationId xmlns:p14="http://schemas.microsoft.com/office/powerpoint/2010/main" val="10712933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2A986-4257-4BD0-9F33-8D5ACFFD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승인 요청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63DBB-8F7E-4C46-B6B7-25A5D5F9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858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Issue #20 설계를 승인하면</a:t>
            </a:r>
          </a:p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#41 구현부터 시작합니다.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6C677-4100-47D9-8FC8-D33A43D4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11391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BE370-8BD6-41D5-B1AB-6ED4E8E6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ISSUE #20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9894D-13FA-447B-9FDD-23632E1D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725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D0 ONLY · 276 DOCS · 10 APIs · 10 TABLES · 6 WORK ITEMS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000B4-AE2D-4E6C-93AC-F998C288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11F15-05A5-4CFC-B018-A813A365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RAG PoC Design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2E9F4-EEC3-4CD4-A1FE-A2B3BF3E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981700"/>
            <a:ext cx="26955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Issue #20 · 2026-08-03</a:t>
            </a:r>
          </a:p>
        </p:txBody>
      </p:sp>
    </p:spTree>
    <p:extLst>
      <p:ext uri="{BB962C8B-B14F-4D97-AF65-F5344CB8AC3E}">
        <p14:creationId xmlns:p14="http://schemas.microsoft.com/office/powerpoint/2010/main" val="1763466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2026-08-02T23:50:52.0690000Z</dcterms:created>
  <dcterms:modified xsi:type="dcterms:W3CDTF">2026-08-02T23:50:52.0690000Z</dcterms:modified>
</coreProperties>
</file>